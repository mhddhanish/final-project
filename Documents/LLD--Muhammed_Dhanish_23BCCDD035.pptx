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68" r:id="rId14"/>
    <p:sldId id="267" r:id="rId15"/>
    <p:sldId id="270" r:id="rId16"/>
    <p:sldId id="271" r:id="rId17"/>
  </p:sldIdLst>
  <p:sldSz cx="6858000" cy="12192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9EC2C2-1C95-42E0-AE82-10B3F04D188E}" v="17" dt="2026-04-15T04:12:03.985"/>
    <p1510:client id="{E35AAA39-C4D2-4CDD-A1E3-5C476ED301B0}" v="64" dt="2026-04-15T02:31:05.3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6" d="100"/>
          <a:sy n="46" d="100"/>
        </p:scale>
        <p:origin x="1958" y="38"/>
      </p:cViewPr>
      <p:guideLst/>
    </p:cSldViewPr>
  </p:slideViewPr>
  <p:notesTextViewPr>
    <p:cViewPr>
      <p:scale>
        <a:sx n="1" d="1"/>
        <a:sy n="1" d="1"/>
      </p:scale>
      <p:origin x="0" y="0"/>
    </p:cViewPr>
  </p:notesTextViewPr>
  <p:notesViewPr>
    <p:cSldViewPr snapToGrid="0">
      <p:cViewPr varScale="1">
        <p:scale>
          <a:sx n="65" d="100"/>
          <a:sy n="65" d="100"/>
        </p:scale>
        <p:origin x="2102" y="3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1A4EF2-12F9-4923-8B0E-42EF4DEBCB1F}" type="datetimeFigureOut">
              <a:rPr lang="en-IN" smtClean="0"/>
              <a:t>15-04-2026</a:t>
            </a:fld>
            <a:endParaRPr lang="en-IN"/>
          </a:p>
        </p:txBody>
      </p:sp>
      <p:sp>
        <p:nvSpPr>
          <p:cNvPr id="4" name="Slide Image Placeholder 3"/>
          <p:cNvSpPr>
            <a:spLocks noGrp="1" noRot="1" noChangeAspect="1"/>
          </p:cNvSpPr>
          <p:nvPr>
            <p:ph type="sldImg" idx="2"/>
          </p:nvPr>
        </p:nvSpPr>
        <p:spPr>
          <a:xfrm>
            <a:off x="2560638" y="1143000"/>
            <a:ext cx="1736725"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B4CDD7-DF13-469E-8DDE-5EE15A6A9AF5}" type="slidenum">
              <a:rPr lang="en-IN" smtClean="0"/>
              <a:t>‹#›</a:t>
            </a:fld>
            <a:endParaRPr lang="en-IN"/>
          </a:p>
        </p:txBody>
      </p:sp>
    </p:spTree>
    <p:extLst>
      <p:ext uri="{BB962C8B-B14F-4D97-AF65-F5344CB8AC3E}">
        <p14:creationId xmlns:p14="http://schemas.microsoft.com/office/powerpoint/2010/main" val="2587445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05B4CDD7-DF13-469E-8DDE-5EE15A6A9AF5}" type="slidenum">
              <a:rPr lang="en-IN" smtClean="0"/>
              <a:t>1</a:t>
            </a:fld>
            <a:endParaRPr lang="en-IN"/>
          </a:p>
        </p:txBody>
      </p:sp>
    </p:spTree>
    <p:extLst>
      <p:ext uri="{BB962C8B-B14F-4D97-AF65-F5344CB8AC3E}">
        <p14:creationId xmlns:p14="http://schemas.microsoft.com/office/powerpoint/2010/main" val="1524466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4DB9B-D6FA-E63B-6CE9-79E28CD399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DFDB5A-8B36-BE71-9AAA-2032A49FB0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DC2D2E-94F6-E396-41D8-535D0A1A748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95FE6A8-A957-CA02-99AC-040DD112BE3C}"/>
              </a:ext>
            </a:extLst>
          </p:cNvPr>
          <p:cNvSpPr>
            <a:spLocks noGrp="1"/>
          </p:cNvSpPr>
          <p:nvPr>
            <p:ph type="sldNum" sz="quarter" idx="5"/>
          </p:nvPr>
        </p:nvSpPr>
        <p:spPr/>
        <p:txBody>
          <a:bodyPr/>
          <a:lstStyle/>
          <a:p>
            <a:fld id="{05B4CDD7-DF13-469E-8DDE-5EE15A6A9AF5}" type="slidenum">
              <a:rPr lang="en-IN" smtClean="0"/>
              <a:t>2</a:t>
            </a:fld>
            <a:endParaRPr lang="en-IN"/>
          </a:p>
        </p:txBody>
      </p:sp>
    </p:spTree>
    <p:extLst>
      <p:ext uri="{BB962C8B-B14F-4D97-AF65-F5344CB8AC3E}">
        <p14:creationId xmlns:p14="http://schemas.microsoft.com/office/powerpoint/2010/main" val="9162829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CD76E-D9E6-2FEB-9DC4-98D824CD1E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B93E69-769C-796E-4013-B13AE68F6D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B606D9-8152-99D2-9A18-A8BFA90986A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114978D1-57E0-D531-6DFA-31578F4BD22C}"/>
              </a:ext>
            </a:extLst>
          </p:cNvPr>
          <p:cNvSpPr>
            <a:spLocks noGrp="1"/>
          </p:cNvSpPr>
          <p:nvPr>
            <p:ph type="sldNum" sz="quarter" idx="5"/>
          </p:nvPr>
        </p:nvSpPr>
        <p:spPr/>
        <p:txBody>
          <a:bodyPr/>
          <a:lstStyle/>
          <a:p>
            <a:fld id="{05B4CDD7-DF13-469E-8DDE-5EE15A6A9AF5}" type="slidenum">
              <a:rPr lang="en-IN" smtClean="0"/>
              <a:t>3</a:t>
            </a:fld>
            <a:endParaRPr lang="en-IN"/>
          </a:p>
        </p:txBody>
      </p:sp>
    </p:spTree>
    <p:extLst>
      <p:ext uri="{BB962C8B-B14F-4D97-AF65-F5344CB8AC3E}">
        <p14:creationId xmlns:p14="http://schemas.microsoft.com/office/powerpoint/2010/main" val="18653650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BF9E0-A1A0-C78E-16C5-6BB7B9DD99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485C1F-BA79-0A34-9C25-E4A337E42A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E38C96-E6D1-BDF0-E091-777A785738A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5FF9DAD-D731-378B-0B24-D67C9ACC52E0}"/>
              </a:ext>
            </a:extLst>
          </p:cNvPr>
          <p:cNvSpPr>
            <a:spLocks noGrp="1"/>
          </p:cNvSpPr>
          <p:nvPr>
            <p:ph type="sldNum" sz="quarter" idx="5"/>
          </p:nvPr>
        </p:nvSpPr>
        <p:spPr/>
        <p:txBody>
          <a:bodyPr/>
          <a:lstStyle/>
          <a:p>
            <a:fld id="{05B4CDD7-DF13-469E-8DDE-5EE15A6A9AF5}" type="slidenum">
              <a:rPr lang="en-IN" smtClean="0"/>
              <a:t>4</a:t>
            </a:fld>
            <a:endParaRPr lang="en-IN"/>
          </a:p>
        </p:txBody>
      </p:sp>
    </p:spTree>
    <p:extLst>
      <p:ext uri="{BB962C8B-B14F-4D97-AF65-F5344CB8AC3E}">
        <p14:creationId xmlns:p14="http://schemas.microsoft.com/office/powerpoint/2010/main" val="13796592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EB38B-D3A3-DF7F-DD66-10BD897D8B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D704A3-93B7-F893-C5C4-1F71C4DA69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5FA770-135A-A36B-1515-18D5189D3B2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EBBBDA0-6F64-45EE-91FB-5012B21EFFA4}"/>
              </a:ext>
            </a:extLst>
          </p:cNvPr>
          <p:cNvSpPr>
            <a:spLocks noGrp="1"/>
          </p:cNvSpPr>
          <p:nvPr>
            <p:ph type="sldNum" sz="quarter" idx="5"/>
          </p:nvPr>
        </p:nvSpPr>
        <p:spPr/>
        <p:txBody>
          <a:bodyPr/>
          <a:lstStyle/>
          <a:p>
            <a:fld id="{05B4CDD7-DF13-469E-8DDE-5EE15A6A9AF5}" type="slidenum">
              <a:rPr lang="en-IN" smtClean="0"/>
              <a:t>5</a:t>
            </a:fld>
            <a:endParaRPr lang="en-IN"/>
          </a:p>
        </p:txBody>
      </p:sp>
    </p:spTree>
    <p:extLst>
      <p:ext uri="{BB962C8B-B14F-4D97-AF65-F5344CB8AC3E}">
        <p14:creationId xmlns:p14="http://schemas.microsoft.com/office/powerpoint/2010/main" val="14310647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4655F-A9AE-56F6-705E-C4A6C9023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FC0586-1442-1A7A-40DE-BAC1DF1A6F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3A4FC3-2EF2-F35F-267B-0884080C9D4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F736660-0C55-E361-7007-4D69BFE4B2C4}"/>
              </a:ext>
            </a:extLst>
          </p:cNvPr>
          <p:cNvSpPr>
            <a:spLocks noGrp="1"/>
          </p:cNvSpPr>
          <p:nvPr>
            <p:ph type="sldNum" sz="quarter" idx="5"/>
          </p:nvPr>
        </p:nvSpPr>
        <p:spPr/>
        <p:txBody>
          <a:bodyPr/>
          <a:lstStyle/>
          <a:p>
            <a:fld id="{05B4CDD7-DF13-469E-8DDE-5EE15A6A9AF5}" type="slidenum">
              <a:rPr lang="en-IN" smtClean="0"/>
              <a:t>6</a:t>
            </a:fld>
            <a:endParaRPr lang="en-IN"/>
          </a:p>
        </p:txBody>
      </p:sp>
    </p:spTree>
    <p:extLst>
      <p:ext uri="{BB962C8B-B14F-4D97-AF65-F5344CB8AC3E}">
        <p14:creationId xmlns:p14="http://schemas.microsoft.com/office/powerpoint/2010/main" val="27688814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6C747-73E4-61AF-DF3C-E8B24A180C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51B18C-263A-C0A4-F41E-88073D5A3C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D8323C-AF94-8A12-1407-48776431E09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E8411F-8283-F845-7E59-C6865688C9FA}"/>
              </a:ext>
            </a:extLst>
          </p:cNvPr>
          <p:cNvSpPr>
            <a:spLocks noGrp="1"/>
          </p:cNvSpPr>
          <p:nvPr>
            <p:ph type="sldNum" sz="quarter" idx="5"/>
          </p:nvPr>
        </p:nvSpPr>
        <p:spPr/>
        <p:txBody>
          <a:bodyPr/>
          <a:lstStyle/>
          <a:p>
            <a:fld id="{05B4CDD7-DF13-469E-8DDE-5EE15A6A9AF5}" type="slidenum">
              <a:rPr lang="en-IN" smtClean="0"/>
              <a:t>7</a:t>
            </a:fld>
            <a:endParaRPr lang="en-IN"/>
          </a:p>
        </p:txBody>
      </p:sp>
    </p:spTree>
    <p:extLst>
      <p:ext uri="{BB962C8B-B14F-4D97-AF65-F5344CB8AC3E}">
        <p14:creationId xmlns:p14="http://schemas.microsoft.com/office/powerpoint/2010/main" val="9179589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C1E26-4CFD-CDCB-F373-03927B1A68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76EA0E-7C5E-4C45-2542-E386B60F76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F81A5E-DDF4-1AD6-67FA-B508EA57AA3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16461342-E88D-9005-C4F0-65CD0B5D59DC}"/>
              </a:ext>
            </a:extLst>
          </p:cNvPr>
          <p:cNvSpPr>
            <a:spLocks noGrp="1"/>
          </p:cNvSpPr>
          <p:nvPr>
            <p:ph type="sldNum" sz="quarter" idx="5"/>
          </p:nvPr>
        </p:nvSpPr>
        <p:spPr/>
        <p:txBody>
          <a:bodyPr/>
          <a:lstStyle/>
          <a:p>
            <a:fld id="{05B4CDD7-DF13-469E-8DDE-5EE15A6A9AF5}" type="slidenum">
              <a:rPr lang="en-IN" smtClean="0"/>
              <a:t>8</a:t>
            </a:fld>
            <a:endParaRPr lang="en-IN"/>
          </a:p>
        </p:txBody>
      </p:sp>
    </p:spTree>
    <p:extLst>
      <p:ext uri="{BB962C8B-B14F-4D97-AF65-F5344CB8AC3E}">
        <p14:creationId xmlns:p14="http://schemas.microsoft.com/office/powerpoint/2010/main" val="2396972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430C9-0C69-E9D3-3AC4-F533B82515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6998A5-C7EB-26A6-3849-A277B0E65A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3874F7-084F-B7D3-4292-C21E98FB889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F98330D-48C3-D6A3-7D86-B91235FAF18E}"/>
              </a:ext>
            </a:extLst>
          </p:cNvPr>
          <p:cNvSpPr>
            <a:spLocks noGrp="1"/>
          </p:cNvSpPr>
          <p:nvPr>
            <p:ph type="sldNum" sz="quarter" idx="5"/>
          </p:nvPr>
        </p:nvSpPr>
        <p:spPr/>
        <p:txBody>
          <a:bodyPr/>
          <a:lstStyle/>
          <a:p>
            <a:fld id="{05B4CDD7-DF13-469E-8DDE-5EE15A6A9AF5}" type="slidenum">
              <a:rPr lang="en-IN" smtClean="0"/>
              <a:t>9</a:t>
            </a:fld>
            <a:endParaRPr lang="en-IN"/>
          </a:p>
        </p:txBody>
      </p:sp>
    </p:spTree>
    <p:extLst>
      <p:ext uri="{BB962C8B-B14F-4D97-AF65-F5344CB8AC3E}">
        <p14:creationId xmlns:p14="http://schemas.microsoft.com/office/powerpoint/2010/main" val="18710014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4139A-4CA0-A534-D432-6536FDAB4C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34573E-988A-DBB3-73AC-F9FB42FFC0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086E76-4D90-5CF4-8915-98812807248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6FFF853A-4F07-E1B6-82E0-B7EBB46D853D}"/>
              </a:ext>
            </a:extLst>
          </p:cNvPr>
          <p:cNvSpPr>
            <a:spLocks noGrp="1"/>
          </p:cNvSpPr>
          <p:nvPr>
            <p:ph type="sldNum" sz="quarter" idx="5"/>
          </p:nvPr>
        </p:nvSpPr>
        <p:spPr/>
        <p:txBody>
          <a:bodyPr/>
          <a:lstStyle/>
          <a:p>
            <a:fld id="{05B4CDD7-DF13-469E-8DDE-5EE15A6A9AF5}" type="slidenum">
              <a:rPr lang="en-IN" smtClean="0"/>
              <a:t>10</a:t>
            </a:fld>
            <a:endParaRPr lang="en-IN"/>
          </a:p>
        </p:txBody>
      </p:sp>
    </p:spTree>
    <p:extLst>
      <p:ext uri="{BB962C8B-B14F-4D97-AF65-F5344CB8AC3E}">
        <p14:creationId xmlns:p14="http://schemas.microsoft.com/office/powerpoint/2010/main" val="35020820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69F51-FDD0-1138-41B0-711B6F240D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B13345-34F4-97ED-DF14-8CBA7C456C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AF4802-163F-CC7E-13AC-3AC724D3715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6A068C9-E6D5-14D2-9677-7802F53E7488}"/>
              </a:ext>
            </a:extLst>
          </p:cNvPr>
          <p:cNvSpPr>
            <a:spLocks noGrp="1"/>
          </p:cNvSpPr>
          <p:nvPr>
            <p:ph type="sldNum" sz="quarter" idx="5"/>
          </p:nvPr>
        </p:nvSpPr>
        <p:spPr/>
        <p:txBody>
          <a:bodyPr/>
          <a:lstStyle/>
          <a:p>
            <a:fld id="{05B4CDD7-DF13-469E-8DDE-5EE15A6A9AF5}" type="slidenum">
              <a:rPr lang="en-IN" smtClean="0"/>
              <a:t>11</a:t>
            </a:fld>
            <a:endParaRPr lang="en-IN"/>
          </a:p>
        </p:txBody>
      </p:sp>
    </p:spTree>
    <p:extLst>
      <p:ext uri="{BB962C8B-B14F-4D97-AF65-F5344CB8AC3E}">
        <p14:creationId xmlns:p14="http://schemas.microsoft.com/office/powerpoint/2010/main" val="34414860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5702A-7379-950B-B0BB-D31FB5BFE4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DFEB04-B583-9A37-11A6-31FF6FA344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AE8B1E-6FB9-A5D6-1A13-C49B4734EC8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765F51B9-07BD-1239-AA08-632720626DBC}"/>
              </a:ext>
            </a:extLst>
          </p:cNvPr>
          <p:cNvSpPr>
            <a:spLocks noGrp="1"/>
          </p:cNvSpPr>
          <p:nvPr>
            <p:ph type="sldNum" sz="quarter" idx="5"/>
          </p:nvPr>
        </p:nvSpPr>
        <p:spPr/>
        <p:txBody>
          <a:bodyPr/>
          <a:lstStyle/>
          <a:p>
            <a:fld id="{05B4CDD7-DF13-469E-8DDE-5EE15A6A9AF5}" type="slidenum">
              <a:rPr lang="en-IN" smtClean="0"/>
              <a:t>12</a:t>
            </a:fld>
            <a:endParaRPr lang="en-IN"/>
          </a:p>
        </p:txBody>
      </p:sp>
    </p:spTree>
    <p:extLst>
      <p:ext uri="{BB962C8B-B14F-4D97-AF65-F5344CB8AC3E}">
        <p14:creationId xmlns:p14="http://schemas.microsoft.com/office/powerpoint/2010/main" val="11745023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63573-51D3-08E1-1F27-BCC9A6D787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84641-9300-9F9A-7AAB-47E4E5081D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ED2712-3C7C-E4F6-89CC-0E3E47E1976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61AB371-AA48-0CD3-7A6F-0588897EF17B}"/>
              </a:ext>
            </a:extLst>
          </p:cNvPr>
          <p:cNvSpPr>
            <a:spLocks noGrp="1"/>
          </p:cNvSpPr>
          <p:nvPr>
            <p:ph type="sldNum" sz="quarter" idx="5"/>
          </p:nvPr>
        </p:nvSpPr>
        <p:spPr/>
        <p:txBody>
          <a:bodyPr/>
          <a:lstStyle/>
          <a:p>
            <a:fld id="{05B4CDD7-DF13-469E-8DDE-5EE15A6A9AF5}" type="slidenum">
              <a:rPr lang="en-IN" smtClean="0"/>
              <a:t>13</a:t>
            </a:fld>
            <a:endParaRPr lang="en-IN"/>
          </a:p>
        </p:txBody>
      </p:sp>
    </p:spTree>
    <p:extLst>
      <p:ext uri="{BB962C8B-B14F-4D97-AF65-F5344CB8AC3E}">
        <p14:creationId xmlns:p14="http://schemas.microsoft.com/office/powerpoint/2010/main" val="8450591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B5352-5BB9-57F6-E7C4-93FB74D5B4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7D8F7B-99A7-08B0-DE91-72FCAB10CC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E2C3C-7602-4B4D-8935-D18D4A2985E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62CB0DB-B058-1908-5D24-FCCC2A016094}"/>
              </a:ext>
            </a:extLst>
          </p:cNvPr>
          <p:cNvSpPr>
            <a:spLocks noGrp="1"/>
          </p:cNvSpPr>
          <p:nvPr>
            <p:ph type="sldNum" sz="quarter" idx="5"/>
          </p:nvPr>
        </p:nvSpPr>
        <p:spPr/>
        <p:txBody>
          <a:bodyPr/>
          <a:lstStyle/>
          <a:p>
            <a:fld id="{05B4CDD7-DF13-469E-8DDE-5EE15A6A9AF5}" type="slidenum">
              <a:rPr lang="en-IN" smtClean="0"/>
              <a:t>14</a:t>
            </a:fld>
            <a:endParaRPr lang="en-IN"/>
          </a:p>
        </p:txBody>
      </p:sp>
    </p:spTree>
    <p:extLst>
      <p:ext uri="{BB962C8B-B14F-4D97-AF65-F5344CB8AC3E}">
        <p14:creationId xmlns:p14="http://schemas.microsoft.com/office/powerpoint/2010/main" val="18693659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7D163-E3CB-BAA1-C2DC-97CBCF5F55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ADD210-046C-4250-76A2-743009039A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47B255-679E-F352-7905-9F26EF5F9EF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E243C53-97F6-36E3-496A-8EE00293323E}"/>
              </a:ext>
            </a:extLst>
          </p:cNvPr>
          <p:cNvSpPr>
            <a:spLocks noGrp="1"/>
          </p:cNvSpPr>
          <p:nvPr>
            <p:ph type="sldNum" sz="quarter" idx="5"/>
          </p:nvPr>
        </p:nvSpPr>
        <p:spPr/>
        <p:txBody>
          <a:bodyPr/>
          <a:lstStyle/>
          <a:p>
            <a:fld id="{05B4CDD7-DF13-469E-8DDE-5EE15A6A9AF5}" type="slidenum">
              <a:rPr lang="en-IN" smtClean="0"/>
              <a:t>15</a:t>
            </a:fld>
            <a:endParaRPr lang="en-IN"/>
          </a:p>
        </p:txBody>
      </p:sp>
    </p:spTree>
    <p:extLst>
      <p:ext uri="{BB962C8B-B14F-4D97-AF65-F5344CB8AC3E}">
        <p14:creationId xmlns:p14="http://schemas.microsoft.com/office/powerpoint/2010/main" val="3073890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42466-D685-3214-8CEF-8B02CC67CC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55A49-4580-092F-31C9-F1A727A513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078F50-A41E-75B8-3A39-F767336E3229}"/>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0489502-A759-372F-8DB3-1429BB2B47F6}"/>
              </a:ext>
            </a:extLst>
          </p:cNvPr>
          <p:cNvSpPr>
            <a:spLocks noGrp="1"/>
          </p:cNvSpPr>
          <p:nvPr>
            <p:ph type="sldNum" sz="quarter" idx="5"/>
          </p:nvPr>
        </p:nvSpPr>
        <p:spPr/>
        <p:txBody>
          <a:bodyPr/>
          <a:lstStyle/>
          <a:p>
            <a:fld id="{05B4CDD7-DF13-469E-8DDE-5EE15A6A9AF5}" type="slidenum">
              <a:rPr lang="en-IN" smtClean="0"/>
              <a:t>16</a:t>
            </a:fld>
            <a:endParaRPr lang="en-IN"/>
          </a:p>
        </p:txBody>
      </p:sp>
    </p:spTree>
    <p:extLst>
      <p:ext uri="{BB962C8B-B14F-4D97-AF65-F5344CB8AC3E}">
        <p14:creationId xmlns:p14="http://schemas.microsoft.com/office/powerpoint/2010/main" val="5761088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995312"/>
            <a:ext cx="5829300" cy="4244622"/>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6403623"/>
            <a:ext cx="5143500" cy="2943577"/>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95C56A4-0C86-457D-A116-F75C26DC01C6}" type="datetimeFigureOut">
              <a:rPr lang="en-IN" smtClean="0"/>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EBED60-C533-4253-8319-C94FD87FFCAF}" type="slidenum">
              <a:rPr lang="en-IN" smtClean="0"/>
              <a:t>‹#›</a:t>
            </a:fld>
            <a:endParaRPr lang="en-IN"/>
          </a:p>
        </p:txBody>
      </p:sp>
    </p:spTree>
    <p:extLst>
      <p:ext uri="{BB962C8B-B14F-4D97-AF65-F5344CB8AC3E}">
        <p14:creationId xmlns:p14="http://schemas.microsoft.com/office/powerpoint/2010/main" val="1737584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5C56A4-0C86-457D-A116-F75C26DC01C6}" type="datetimeFigureOut">
              <a:rPr lang="en-IN" smtClean="0"/>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EBED60-C533-4253-8319-C94FD87FFCAF}" type="slidenum">
              <a:rPr lang="en-IN" smtClean="0"/>
              <a:t>‹#›</a:t>
            </a:fld>
            <a:endParaRPr lang="en-IN"/>
          </a:p>
        </p:txBody>
      </p:sp>
    </p:spTree>
    <p:extLst>
      <p:ext uri="{BB962C8B-B14F-4D97-AF65-F5344CB8AC3E}">
        <p14:creationId xmlns:p14="http://schemas.microsoft.com/office/powerpoint/2010/main" val="2153719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3039537"/>
            <a:ext cx="5915025" cy="5071532"/>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8159048"/>
            <a:ext cx="5915025" cy="266699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5C56A4-0C86-457D-A116-F75C26DC01C6}" type="datetimeFigureOut">
              <a:rPr lang="en-IN" smtClean="0"/>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EBED60-C533-4253-8319-C94FD87FFCAF}" type="slidenum">
              <a:rPr lang="en-IN" smtClean="0"/>
              <a:t>‹#›</a:t>
            </a:fld>
            <a:endParaRPr lang="en-IN"/>
          </a:p>
        </p:txBody>
      </p:sp>
    </p:spTree>
    <p:extLst>
      <p:ext uri="{BB962C8B-B14F-4D97-AF65-F5344CB8AC3E}">
        <p14:creationId xmlns:p14="http://schemas.microsoft.com/office/powerpoint/2010/main" val="42333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3245556"/>
            <a:ext cx="2914650" cy="7735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3245556"/>
            <a:ext cx="2914650" cy="7735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95C56A4-0C86-457D-A116-F75C26DC01C6}" type="datetimeFigureOut">
              <a:rPr lang="en-IN" smtClean="0"/>
              <a:t>15-04-2026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EBED60-C533-4253-8319-C94FD87FFCAF}" type="slidenum">
              <a:rPr lang="en-IN" smtClean="0"/>
              <a:t>‹#›</a:t>
            </a:fld>
            <a:endParaRPr lang="en-IN"/>
          </a:p>
        </p:txBody>
      </p:sp>
    </p:spTree>
    <p:extLst>
      <p:ext uri="{BB962C8B-B14F-4D97-AF65-F5344CB8AC3E}">
        <p14:creationId xmlns:p14="http://schemas.microsoft.com/office/powerpoint/2010/main" val="39338356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649114"/>
            <a:ext cx="5915025" cy="2356556"/>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988734"/>
            <a:ext cx="2901255" cy="146473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4453467"/>
            <a:ext cx="2901255" cy="65503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988734"/>
            <a:ext cx="2915543" cy="146473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4453467"/>
            <a:ext cx="2915543" cy="65503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95C56A4-0C86-457D-A116-F75C26DC01C6}" type="datetimeFigureOut">
              <a:rPr lang="en-IN" smtClean="0"/>
              <a:t>15-04-2026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FEBED60-C533-4253-8319-C94FD87FFCAF}" type="slidenum">
              <a:rPr lang="en-IN" smtClean="0"/>
              <a:t>‹#›</a:t>
            </a:fld>
            <a:endParaRPr lang="en-IN"/>
          </a:p>
        </p:txBody>
      </p:sp>
    </p:spTree>
    <p:extLst>
      <p:ext uri="{BB962C8B-B14F-4D97-AF65-F5344CB8AC3E}">
        <p14:creationId xmlns:p14="http://schemas.microsoft.com/office/powerpoint/2010/main" val="1901985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95C56A4-0C86-457D-A116-F75C26DC01C6}" type="datetimeFigureOut">
              <a:rPr lang="en-IN" smtClean="0"/>
              <a:t>15-04-2026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FEBED60-C533-4253-8319-C94FD87FFCAF}" type="slidenum">
              <a:rPr lang="en-IN" smtClean="0"/>
              <a:t>‹#›</a:t>
            </a:fld>
            <a:endParaRPr lang="en-IN"/>
          </a:p>
        </p:txBody>
      </p:sp>
    </p:spTree>
    <p:extLst>
      <p:ext uri="{BB962C8B-B14F-4D97-AF65-F5344CB8AC3E}">
        <p14:creationId xmlns:p14="http://schemas.microsoft.com/office/powerpoint/2010/main" val="2849069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5C56A4-0C86-457D-A116-F75C26DC01C6}" type="datetimeFigureOut">
              <a:rPr lang="en-IN" smtClean="0"/>
              <a:t>15-04-2026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FEBED60-C533-4253-8319-C94FD87FFCAF}" type="slidenum">
              <a:rPr lang="en-IN" smtClean="0"/>
              <a:t>‹#›</a:t>
            </a:fld>
            <a:endParaRPr lang="en-IN"/>
          </a:p>
        </p:txBody>
      </p:sp>
    </p:spTree>
    <p:extLst>
      <p:ext uri="{BB962C8B-B14F-4D97-AF65-F5344CB8AC3E}">
        <p14:creationId xmlns:p14="http://schemas.microsoft.com/office/powerpoint/2010/main" val="28754754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812800"/>
            <a:ext cx="2211884" cy="28448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755425"/>
            <a:ext cx="3471863" cy="8664222"/>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3657600"/>
            <a:ext cx="2211884" cy="677615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295C56A4-0C86-457D-A116-F75C26DC01C6}" type="datetimeFigureOut">
              <a:rPr lang="en-IN" smtClean="0"/>
              <a:t>15-04-2026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EBED60-C533-4253-8319-C94FD87FFCAF}" type="slidenum">
              <a:rPr lang="en-IN" smtClean="0"/>
              <a:t>‹#›</a:t>
            </a:fld>
            <a:endParaRPr lang="en-IN"/>
          </a:p>
        </p:txBody>
      </p:sp>
    </p:spTree>
    <p:extLst>
      <p:ext uri="{BB962C8B-B14F-4D97-AF65-F5344CB8AC3E}">
        <p14:creationId xmlns:p14="http://schemas.microsoft.com/office/powerpoint/2010/main" val="4028144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812800"/>
            <a:ext cx="2211884" cy="28448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755425"/>
            <a:ext cx="3471863" cy="8664222"/>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3657600"/>
            <a:ext cx="2211884" cy="677615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295C56A4-0C86-457D-A116-F75C26DC01C6}" type="datetimeFigureOut">
              <a:rPr lang="en-IN" smtClean="0"/>
              <a:t>15-04-2026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EBED60-C533-4253-8319-C94FD87FFCAF}" type="slidenum">
              <a:rPr lang="en-IN" smtClean="0"/>
              <a:t>‹#›</a:t>
            </a:fld>
            <a:endParaRPr lang="en-IN"/>
          </a:p>
        </p:txBody>
      </p:sp>
    </p:spTree>
    <p:extLst>
      <p:ext uri="{BB962C8B-B14F-4D97-AF65-F5344CB8AC3E}">
        <p14:creationId xmlns:p14="http://schemas.microsoft.com/office/powerpoint/2010/main" val="26443185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5C56A4-0C86-457D-A116-F75C26DC01C6}" type="datetimeFigureOut">
              <a:rPr lang="en-IN" smtClean="0"/>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EBED60-C533-4253-8319-C94FD87FFCAF}" type="slidenum">
              <a:rPr lang="en-IN" smtClean="0"/>
              <a:t>‹#›</a:t>
            </a:fld>
            <a:endParaRPr lang="en-IN"/>
          </a:p>
        </p:txBody>
      </p:sp>
    </p:spTree>
    <p:extLst>
      <p:ext uri="{BB962C8B-B14F-4D97-AF65-F5344CB8AC3E}">
        <p14:creationId xmlns:p14="http://schemas.microsoft.com/office/powerpoint/2010/main" val="2780414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649111"/>
            <a:ext cx="1478756" cy="1033215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649111"/>
            <a:ext cx="4350544" cy="103321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5C56A4-0C86-457D-A116-F75C26DC01C6}" type="datetimeFigureOut">
              <a:rPr lang="en-IN" smtClean="0"/>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EBED60-C533-4253-8319-C94FD87FFCAF}" type="slidenum">
              <a:rPr lang="en-IN" smtClean="0"/>
              <a:t>‹#›</a:t>
            </a:fld>
            <a:endParaRPr lang="en-IN"/>
          </a:p>
        </p:txBody>
      </p:sp>
    </p:spTree>
    <p:extLst>
      <p:ext uri="{BB962C8B-B14F-4D97-AF65-F5344CB8AC3E}">
        <p14:creationId xmlns:p14="http://schemas.microsoft.com/office/powerpoint/2010/main" val="2212693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649114"/>
            <a:ext cx="5915025" cy="235655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3245556"/>
            <a:ext cx="5915025" cy="77357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11300181"/>
            <a:ext cx="1543050" cy="649111"/>
          </a:xfrm>
          <a:prstGeom prst="rect">
            <a:avLst/>
          </a:prstGeom>
        </p:spPr>
        <p:txBody>
          <a:bodyPr vert="horz" lIns="91440" tIns="45720" rIns="91440" bIns="45720" rtlCol="0" anchor="ctr"/>
          <a:lstStyle>
            <a:lvl1pPr algn="l">
              <a:defRPr sz="900">
                <a:solidFill>
                  <a:schemeClr val="tx1">
                    <a:tint val="82000"/>
                  </a:schemeClr>
                </a:solidFill>
              </a:defRPr>
            </a:lvl1pPr>
          </a:lstStyle>
          <a:p>
            <a:fld id="{295C56A4-0C86-457D-A116-F75C26DC01C6}" type="datetimeFigureOut">
              <a:rPr lang="en-IN" smtClean="0"/>
              <a:t>15-04-2026</a:t>
            </a:fld>
            <a:endParaRPr lang="en-IN"/>
          </a:p>
        </p:txBody>
      </p:sp>
      <p:sp>
        <p:nvSpPr>
          <p:cNvPr id="5" name="Footer Placeholder 4"/>
          <p:cNvSpPr>
            <a:spLocks noGrp="1"/>
          </p:cNvSpPr>
          <p:nvPr>
            <p:ph type="ftr" sz="quarter" idx="3"/>
          </p:nvPr>
        </p:nvSpPr>
        <p:spPr>
          <a:xfrm>
            <a:off x="2271713" y="11300181"/>
            <a:ext cx="2314575" cy="649111"/>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4843463" y="11300181"/>
            <a:ext cx="1543050" cy="649111"/>
          </a:xfrm>
          <a:prstGeom prst="rect">
            <a:avLst/>
          </a:prstGeom>
        </p:spPr>
        <p:txBody>
          <a:bodyPr vert="horz" lIns="91440" tIns="45720" rIns="91440" bIns="45720" rtlCol="0" anchor="ctr"/>
          <a:lstStyle>
            <a:lvl1pPr algn="r">
              <a:defRPr sz="900">
                <a:solidFill>
                  <a:schemeClr val="tx1">
                    <a:tint val="82000"/>
                  </a:schemeClr>
                </a:solidFill>
              </a:defRPr>
            </a:lvl1pPr>
          </a:lstStyle>
          <a:p>
            <a:fld id="{EFEBED60-C533-4253-8319-C94FD87FFCAF}" type="slidenum">
              <a:rPr lang="en-IN" smtClean="0"/>
              <a:t>‹#›</a:t>
            </a:fld>
            <a:endParaRPr lang="en-IN"/>
          </a:p>
        </p:txBody>
      </p:sp>
    </p:spTree>
    <p:extLst>
      <p:ext uri="{BB962C8B-B14F-4D97-AF65-F5344CB8AC3E}">
        <p14:creationId xmlns:p14="http://schemas.microsoft.com/office/powerpoint/2010/main" val="6650838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5F242DA-860C-BD0F-FB2A-3217C16643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BE8BFE56-1900-BB8A-2E79-FF8C40A537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50D04FAA-93D0-EA77-D5A8-17F4E4655A5B}"/>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050190A5-E6E7-AF1D-6545-67517F2D6D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4769E086-5FF2-56A8-C93A-AF826D9551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pic>
        <p:nvPicPr>
          <p:cNvPr id="19" name="Picture 18">
            <a:extLst>
              <a:ext uri="{FF2B5EF4-FFF2-40B4-BE49-F238E27FC236}">
                <a16:creationId xmlns:a16="http://schemas.microsoft.com/office/drawing/2014/main" id="{5708D6A8-1AD7-C2CF-C9EA-A297EAEB4DF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57436" y="1314549"/>
            <a:ext cx="2143125" cy="2143125"/>
          </a:xfrm>
          <a:prstGeom prst="rect">
            <a:avLst/>
          </a:prstGeom>
        </p:spPr>
      </p:pic>
      <p:sp>
        <p:nvSpPr>
          <p:cNvPr id="21" name="TextBox 20">
            <a:extLst>
              <a:ext uri="{FF2B5EF4-FFF2-40B4-BE49-F238E27FC236}">
                <a16:creationId xmlns:a16="http://schemas.microsoft.com/office/drawing/2014/main" id="{E9CCDD73-1954-8CF5-73F9-10D13FD25F9E}"/>
              </a:ext>
            </a:extLst>
          </p:cNvPr>
          <p:cNvSpPr txBox="1"/>
          <p:nvPr/>
        </p:nvSpPr>
        <p:spPr>
          <a:xfrm>
            <a:off x="804254" y="3534672"/>
            <a:ext cx="5249488" cy="646331"/>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YENEPOYA INSTITUTE OF ARTS, SCIENCE, COMMERCE AND MANAGEMENT</a:t>
            </a:r>
            <a:endParaRPr lang="en-IN" b="1"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E42764D3-126E-2638-E2FD-CD792417F251}"/>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23" name="TextBox 22">
            <a:extLst>
              <a:ext uri="{FF2B5EF4-FFF2-40B4-BE49-F238E27FC236}">
                <a16:creationId xmlns:a16="http://schemas.microsoft.com/office/drawing/2014/main" id="{07F0023C-80C3-ED40-A94B-25C693B423ED}"/>
              </a:ext>
            </a:extLst>
          </p:cNvPr>
          <p:cNvSpPr txBox="1"/>
          <p:nvPr/>
        </p:nvSpPr>
        <p:spPr>
          <a:xfrm>
            <a:off x="627609" y="4669793"/>
            <a:ext cx="5602778" cy="1207831"/>
          </a:xfrm>
          <a:prstGeom prst="rect">
            <a:avLst/>
          </a:prstGeom>
          <a:noFill/>
        </p:spPr>
        <p:txBody>
          <a:bodyPr wrap="square" rtlCol="0">
            <a:spAutoFit/>
          </a:bodyPr>
          <a:lstStyle/>
          <a:p>
            <a:pPr algn="ctr">
              <a:lnSpc>
                <a:spcPct val="150000"/>
              </a:lnSpc>
            </a:pPr>
            <a:r>
              <a:rPr lang="en-US" dirty="0">
                <a:latin typeface="Times New Roman" panose="02020603050405020304" pitchFamily="18" charset="0"/>
                <a:cs typeface="Times New Roman" panose="02020603050405020304" pitchFamily="18" charset="0"/>
              </a:rPr>
              <a:t>Project – Low Level Design </a:t>
            </a:r>
          </a:p>
          <a:p>
            <a:pPr algn="ctr">
              <a:lnSpc>
                <a:spcPct val="150000"/>
              </a:lnSpc>
            </a:pPr>
            <a:r>
              <a:rPr lang="en-US" dirty="0">
                <a:latin typeface="Times New Roman" panose="02020603050405020304" pitchFamily="18" charset="0"/>
                <a:cs typeface="Times New Roman" panose="02020603050405020304" pitchFamily="18" charset="0"/>
              </a:rPr>
              <a:t>On</a:t>
            </a:r>
          </a:p>
          <a:p>
            <a:pPr algn="ctr">
              <a:lnSpc>
                <a:spcPct val="150000"/>
              </a:lnSpc>
            </a:pPr>
            <a:r>
              <a:rPr lang="en-US" sz="1400" dirty="0">
                <a:latin typeface="Times New Roman" panose="02020603050405020304" pitchFamily="18" charset="0"/>
                <a:cs typeface="Times New Roman" panose="02020603050405020304" pitchFamily="18" charset="0"/>
              </a:rPr>
              <a:t>VISUAL THREAT HUNTING FOR E-COMMERCE NETWORKS</a:t>
            </a:r>
            <a:endParaRPr lang="en-IN" sz="140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0BACFD08-F1ED-A33C-F0C6-354A6F5F6158}"/>
              </a:ext>
            </a:extLst>
          </p:cNvPr>
          <p:cNvSpPr txBox="1"/>
          <p:nvPr/>
        </p:nvSpPr>
        <p:spPr>
          <a:xfrm>
            <a:off x="500840" y="6180202"/>
            <a:ext cx="5856316" cy="1289071"/>
          </a:xfrm>
          <a:prstGeom prst="rect">
            <a:avLst/>
          </a:prstGeom>
          <a:noFill/>
        </p:spPr>
        <p:txBody>
          <a:bodyPr wrap="square" rtlCol="0">
            <a:spAutoFit/>
          </a:bodyPr>
          <a:lstStyle/>
          <a:p>
            <a:pPr algn="ctr">
              <a:lnSpc>
                <a:spcPct val="150000"/>
              </a:lnSpc>
            </a:pPr>
            <a:r>
              <a:rPr lang="en-US" b="1" dirty="0">
                <a:latin typeface="Times New Roman" panose="02020603050405020304" pitchFamily="18" charset="0"/>
                <a:cs typeface="Times New Roman" panose="02020603050405020304" pitchFamily="18" charset="0"/>
              </a:rPr>
              <a:t>SUBMITTED BY</a:t>
            </a:r>
          </a:p>
          <a:p>
            <a:pPr algn="ctr">
              <a:lnSpc>
                <a:spcPct val="150000"/>
              </a:lnSpc>
            </a:pPr>
            <a:r>
              <a:rPr lang="en-US" dirty="0">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Muhammed Dhanish </a:t>
            </a:r>
            <a:r>
              <a:rPr lang="en-US" dirty="0">
                <a:latin typeface="Times New Roman" panose="02020603050405020304" pitchFamily="18" charset="0"/>
                <a:cs typeface="Times New Roman" panose="02020603050405020304" pitchFamily="18" charset="0"/>
              </a:rPr>
              <a:t>- 23BCCDD035</a:t>
            </a:r>
          </a:p>
          <a:p>
            <a:pPr algn="ctr">
              <a:lnSpc>
                <a:spcPct val="150000"/>
              </a:lnSpc>
            </a:pPr>
            <a:r>
              <a:rPr lang="en-US" dirty="0">
                <a:latin typeface="Times New Roman" panose="02020603050405020304" pitchFamily="18" charset="0"/>
                <a:cs typeface="Times New Roman" panose="02020603050405020304" pitchFamily="18" charset="0"/>
              </a:rPr>
              <a:t>BCA(Cybersecurity, Digital Forensic and Data Science)</a:t>
            </a:r>
            <a:endParaRPr lang="en-IN"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882AB837-47C4-08FC-4F93-44F5223BD099}"/>
              </a:ext>
            </a:extLst>
          </p:cNvPr>
          <p:cNvSpPr txBox="1"/>
          <p:nvPr/>
        </p:nvSpPr>
        <p:spPr>
          <a:xfrm>
            <a:off x="1631071" y="7881580"/>
            <a:ext cx="3595856" cy="1704569"/>
          </a:xfrm>
          <a:prstGeom prst="rect">
            <a:avLst/>
          </a:prstGeom>
          <a:noFill/>
        </p:spPr>
        <p:txBody>
          <a:bodyPr wrap="none" rtlCol="0">
            <a:spAutoFit/>
          </a:bodyPr>
          <a:lstStyle/>
          <a:p>
            <a:pPr algn="ctr">
              <a:lnSpc>
                <a:spcPct val="150000"/>
              </a:lnSpc>
            </a:pPr>
            <a:r>
              <a:rPr lang="en-IN" dirty="0">
                <a:latin typeface="Times New Roman" panose="02020603050405020304" pitchFamily="18" charset="0"/>
                <a:cs typeface="Times New Roman" panose="02020603050405020304" pitchFamily="18" charset="0"/>
              </a:rPr>
              <a:t>UNDER THE GUIDANCE OF</a:t>
            </a:r>
          </a:p>
          <a:p>
            <a:pPr algn="ctr">
              <a:lnSpc>
                <a:spcPct val="150000"/>
              </a:lnSpc>
            </a:pPr>
            <a:r>
              <a:rPr lang="en-US" dirty="0">
                <a:latin typeface="Times New Roman" panose="02020603050405020304" pitchFamily="18" charset="0"/>
                <a:cs typeface="Times New Roman" panose="02020603050405020304" pitchFamily="18" charset="0"/>
              </a:rPr>
              <a:t>Industry Mentor: Shashank </a:t>
            </a:r>
            <a:r>
              <a:rPr lang="en-US" dirty="0" err="1">
                <a:latin typeface="Times New Roman" panose="02020603050405020304" pitchFamily="18" charset="0"/>
                <a:cs typeface="Times New Roman" panose="02020603050405020304" pitchFamily="18" charset="0"/>
              </a:rPr>
              <a:t>Korrram</a:t>
            </a:r>
            <a:endParaRPr lang="en-US" dirty="0">
              <a:latin typeface="Times New Roman" panose="02020603050405020304" pitchFamily="18" charset="0"/>
              <a:cs typeface="Times New Roman" panose="02020603050405020304" pitchFamily="18" charset="0"/>
            </a:endParaRPr>
          </a:p>
          <a:p>
            <a:pPr algn="ctr">
              <a:lnSpc>
                <a:spcPct val="150000"/>
              </a:lnSpc>
            </a:pPr>
            <a:r>
              <a:rPr lang="en-US" dirty="0">
                <a:latin typeface="Times New Roman" panose="02020603050405020304" pitchFamily="18" charset="0"/>
                <a:cs typeface="Times New Roman" panose="02020603050405020304" pitchFamily="18" charset="0"/>
              </a:rPr>
              <a:t>Guided by: Suzana Sharol Prabhakar</a:t>
            </a:r>
            <a:endParaRPr lang="en-US" b="1" dirty="0"/>
          </a:p>
          <a:p>
            <a:pPr algn="ct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54057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0184E-284E-F169-C5E8-8B82082FE6B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C0210CC-93F7-CF63-F5AE-36D77E67AE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952D9808-C333-FB3A-B4A4-1450BCE8C2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68DA86E1-3BAD-3621-99F4-2A274B9ACBE2}"/>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06982E39-6E59-97F8-F04D-A1D3516D4A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5E48ED41-3F71-2F5D-9EB7-4066058656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728F75C8-1661-A3A1-61B6-5E1ACCBDF6D8}"/>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2" name="TextBox 1">
            <a:extLst>
              <a:ext uri="{FF2B5EF4-FFF2-40B4-BE49-F238E27FC236}">
                <a16:creationId xmlns:a16="http://schemas.microsoft.com/office/drawing/2014/main" id="{23FE1D0F-4E74-1449-9C94-20973D02D1F3}"/>
              </a:ext>
            </a:extLst>
          </p:cNvPr>
          <p:cNvSpPr txBox="1"/>
          <p:nvPr/>
        </p:nvSpPr>
        <p:spPr>
          <a:xfrm>
            <a:off x="2166089" y="1519121"/>
            <a:ext cx="2525820" cy="369332"/>
          </a:xfrm>
          <a:prstGeom prst="rect">
            <a:avLst/>
          </a:prstGeom>
          <a:noFill/>
        </p:spPr>
        <p:txBody>
          <a:bodyPr wrap="none" rtlCol="0">
            <a:spAutoFit/>
          </a:bodyPr>
          <a:lstStyle/>
          <a:p>
            <a:pPr algn="ctr"/>
            <a:r>
              <a:rPr lang="en-US" dirty="0">
                <a:latin typeface="Times New Roman" panose="02020603050405020304" pitchFamily="18" charset="0"/>
                <a:cs typeface="Times New Roman" panose="02020603050405020304" pitchFamily="18" charset="0"/>
              </a:rPr>
              <a:t>TABLE OF CONTENTS</a:t>
            </a:r>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37A0AA6-90AE-8E7C-5DD1-5707C5445914}"/>
              </a:ext>
            </a:extLst>
          </p:cNvPr>
          <p:cNvSpPr txBox="1"/>
          <p:nvPr/>
        </p:nvSpPr>
        <p:spPr>
          <a:xfrm>
            <a:off x="798024" y="2382015"/>
            <a:ext cx="5644338" cy="7763920"/>
          </a:xfrm>
          <a:prstGeom prst="rect">
            <a:avLst/>
          </a:prstGeom>
          <a:noFill/>
        </p:spPr>
        <p:txBody>
          <a:bodyPr wrap="square" rtlCol="0">
            <a:spAutoFit/>
          </a:bodyPr>
          <a:lstStyle/>
          <a:p>
            <a:pPr marL="342900" lvl="0" indent="-342900">
              <a:lnSpc>
                <a:spcPct val="200000"/>
              </a:lnSpc>
              <a:buFont typeface="+mj-lt"/>
              <a:buAutoNum type="arabicPeriod"/>
            </a:pPr>
            <a:r>
              <a:rPr lang="en-US" dirty="0">
                <a:latin typeface="Times New Roman" panose="02020603050405020304" pitchFamily="18" charset="0"/>
                <a:cs typeface="Times New Roman" panose="02020603050405020304" pitchFamily="18" charset="0"/>
              </a:rPr>
              <a:t>Introduction.........................................................02</a:t>
            </a:r>
            <a:endParaRPr lang="en-IN" dirty="0">
              <a:latin typeface="Times New Roman" panose="02020603050405020304" pitchFamily="18" charset="0"/>
              <a:cs typeface="Times New Roman" panose="02020603050405020304" pitchFamily="18" charset="0"/>
            </a:endParaRPr>
          </a:p>
          <a:p>
            <a:pPr marL="342900" lvl="0" indent="-342900">
              <a:lnSpc>
                <a:spcPct val="200000"/>
              </a:lnSpc>
              <a:buFont typeface="+mj-lt"/>
              <a:buAutoNum type="arabicPeriod"/>
            </a:pPr>
            <a:r>
              <a:rPr lang="en-US" dirty="0">
                <a:latin typeface="Times New Roman" panose="02020603050405020304" pitchFamily="18" charset="0"/>
                <a:cs typeface="Times New Roman" panose="02020603050405020304" pitchFamily="18" charset="0"/>
              </a:rPr>
              <a:t>Scope of the Document.......................................02</a:t>
            </a:r>
            <a:endParaRPr lang="en-IN" dirty="0">
              <a:latin typeface="Times New Roman" panose="02020603050405020304" pitchFamily="18" charset="0"/>
              <a:cs typeface="Times New Roman" panose="02020603050405020304" pitchFamily="18" charset="0"/>
            </a:endParaRPr>
          </a:p>
          <a:p>
            <a:pPr marL="342900" lvl="0" indent="-342900">
              <a:lnSpc>
                <a:spcPct val="200000"/>
              </a:lnSpc>
              <a:buFont typeface="+mj-lt"/>
              <a:buAutoNum type="arabicPeriod"/>
            </a:pPr>
            <a:r>
              <a:rPr lang="en-US" dirty="0">
                <a:latin typeface="Times New Roman" panose="02020603050405020304" pitchFamily="18" charset="0"/>
                <a:cs typeface="Times New Roman" panose="02020603050405020304" pitchFamily="18" charset="0"/>
              </a:rPr>
              <a:t>Intended Audience...............................................03</a:t>
            </a:r>
            <a:endParaRPr lang="en-IN" dirty="0">
              <a:latin typeface="Times New Roman" panose="02020603050405020304" pitchFamily="18" charset="0"/>
              <a:cs typeface="Times New Roman" panose="02020603050405020304" pitchFamily="18" charset="0"/>
            </a:endParaRPr>
          </a:p>
          <a:p>
            <a:pPr marL="342900" lvl="0" indent="-342900">
              <a:lnSpc>
                <a:spcPct val="200000"/>
              </a:lnSpc>
              <a:buFont typeface="+mj-lt"/>
              <a:buAutoNum type="arabicPeriod"/>
            </a:pPr>
            <a:r>
              <a:rPr lang="en-US" dirty="0">
                <a:latin typeface="Times New Roman" panose="02020603050405020304" pitchFamily="18" charset="0"/>
                <a:cs typeface="Times New Roman" panose="02020603050405020304" pitchFamily="18" charset="0"/>
              </a:rPr>
              <a:t>Module Overview...............................................03</a:t>
            </a:r>
            <a:endParaRPr lang="en-IN" dirty="0">
              <a:latin typeface="Times New Roman" panose="02020603050405020304" pitchFamily="18" charset="0"/>
              <a:cs typeface="Times New Roman" panose="02020603050405020304" pitchFamily="18" charset="0"/>
            </a:endParaRPr>
          </a:p>
          <a:p>
            <a:pPr marL="342900" lvl="0" indent="-342900">
              <a:lnSpc>
                <a:spcPct val="200000"/>
              </a:lnSpc>
              <a:buFont typeface="+mj-lt"/>
              <a:buAutoNum type="arabicPeriod"/>
            </a:pPr>
            <a:r>
              <a:rPr lang="en-US" dirty="0">
                <a:latin typeface="Times New Roman" panose="02020603050405020304" pitchFamily="18" charset="0"/>
                <a:cs typeface="Times New Roman" panose="02020603050405020304" pitchFamily="18" charset="0"/>
              </a:rPr>
              <a:t>Low-Level Process Flow (Flowchart)................04</a:t>
            </a:r>
            <a:endParaRPr lang="en-IN" dirty="0">
              <a:latin typeface="Times New Roman" panose="02020603050405020304" pitchFamily="18" charset="0"/>
              <a:cs typeface="Times New Roman" panose="02020603050405020304" pitchFamily="18" charset="0"/>
            </a:endParaRPr>
          </a:p>
          <a:p>
            <a:pPr marL="342900" lvl="0" indent="-342900">
              <a:lnSpc>
                <a:spcPct val="200000"/>
              </a:lnSpc>
              <a:buFont typeface="+mj-lt"/>
              <a:buAutoNum type="arabicPeriod"/>
            </a:pPr>
            <a:r>
              <a:rPr lang="en-US" dirty="0">
                <a:latin typeface="Times New Roman" panose="02020603050405020304" pitchFamily="18" charset="0"/>
                <a:cs typeface="Times New Roman" panose="02020603050405020304" pitchFamily="18" charset="0"/>
              </a:rPr>
              <a:t>Module 1 — Data Ingestion................................04</a:t>
            </a:r>
            <a:endParaRPr lang="en-IN" dirty="0">
              <a:latin typeface="Times New Roman" panose="02020603050405020304" pitchFamily="18" charset="0"/>
              <a:cs typeface="Times New Roman" panose="02020603050405020304" pitchFamily="18" charset="0"/>
            </a:endParaRPr>
          </a:p>
          <a:p>
            <a:pPr marL="342900" lvl="0" indent="-342900">
              <a:lnSpc>
                <a:spcPct val="200000"/>
              </a:lnSpc>
              <a:buFont typeface="+mj-lt"/>
              <a:buAutoNum type="arabicPeriod"/>
            </a:pPr>
            <a:r>
              <a:rPr lang="en-US" dirty="0">
                <a:latin typeface="Times New Roman" panose="02020603050405020304" pitchFamily="18" charset="0"/>
                <a:cs typeface="Times New Roman" panose="02020603050405020304" pitchFamily="18" charset="0"/>
              </a:rPr>
              <a:t>Module 2 — Log Parsing....................................06</a:t>
            </a:r>
            <a:endParaRPr lang="en-IN" dirty="0">
              <a:latin typeface="Times New Roman" panose="02020603050405020304" pitchFamily="18" charset="0"/>
              <a:cs typeface="Times New Roman" panose="02020603050405020304" pitchFamily="18" charset="0"/>
            </a:endParaRPr>
          </a:p>
          <a:p>
            <a:pPr marL="342900" lvl="0" indent="-342900">
              <a:lnSpc>
                <a:spcPct val="200000"/>
              </a:lnSpc>
              <a:buFont typeface="+mj-lt"/>
              <a:buAutoNum type="arabicPeriod"/>
            </a:pPr>
            <a:r>
              <a:rPr lang="en-US" dirty="0">
                <a:latin typeface="Times New Roman" panose="02020603050405020304" pitchFamily="18" charset="0"/>
                <a:cs typeface="Times New Roman" panose="02020603050405020304" pitchFamily="18" charset="0"/>
              </a:rPr>
              <a:t>Module 3 — Data Cleaning................................08</a:t>
            </a:r>
            <a:endParaRPr lang="en-IN" dirty="0">
              <a:latin typeface="Times New Roman" panose="02020603050405020304" pitchFamily="18" charset="0"/>
              <a:cs typeface="Times New Roman" panose="02020603050405020304" pitchFamily="18" charset="0"/>
            </a:endParaRPr>
          </a:p>
          <a:p>
            <a:pPr marL="342900" lvl="0" indent="-342900">
              <a:lnSpc>
                <a:spcPct val="200000"/>
              </a:lnSpc>
              <a:buFont typeface="+mj-lt"/>
              <a:buAutoNum type="arabicPeriod"/>
            </a:pPr>
            <a:r>
              <a:rPr lang="en-US" dirty="0">
                <a:latin typeface="Times New Roman" panose="02020603050405020304" pitchFamily="18" charset="0"/>
                <a:cs typeface="Times New Roman" panose="02020603050405020304" pitchFamily="18" charset="0"/>
              </a:rPr>
              <a:t>Module 4 — Data Quality Assurance (EDA).....10</a:t>
            </a:r>
            <a:endParaRPr lang="en-IN" dirty="0">
              <a:latin typeface="Times New Roman" panose="02020603050405020304" pitchFamily="18" charset="0"/>
              <a:cs typeface="Times New Roman" panose="02020603050405020304" pitchFamily="18" charset="0"/>
            </a:endParaRPr>
          </a:p>
          <a:p>
            <a:pPr marL="342900" lvl="0" indent="-342900">
              <a:lnSpc>
                <a:spcPct val="200000"/>
              </a:lnSpc>
              <a:buFont typeface="+mj-lt"/>
              <a:buAutoNum type="arabicPeriod"/>
            </a:pPr>
            <a:r>
              <a:rPr lang="en-US" dirty="0">
                <a:latin typeface="Times New Roman" panose="02020603050405020304" pitchFamily="18" charset="0"/>
                <a:cs typeface="Times New Roman" panose="02020603050405020304" pitchFamily="18" charset="0"/>
              </a:rPr>
              <a:t>Data Models and Schemas..................................12</a:t>
            </a:r>
            <a:endParaRPr lang="en-IN" dirty="0">
              <a:latin typeface="Times New Roman" panose="02020603050405020304" pitchFamily="18" charset="0"/>
              <a:cs typeface="Times New Roman" panose="02020603050405020304" pitchFamily="18" charset="0"/>
            </a:endParaRPr>
          </a:p>
          <a:p>
            <a:pPr marL="342900" lvl="0" indent="-342900">
              <a:lnSpc>
                <a:spcPct val="200000"/>
              </a:lnSpc>
              <a:buFont typeface="+mj-lt"/>
              <a:buAutoNum type="arabicPeriod"/>
            </a:pPr>
            <a:r>
              <a:rPr lang="en-US" dirty="0">
                <a:latin typeface="Times New Roman" panose="02020603050405020304" pitchFamily="18" charset="0"/>
                <a:cs typeface="Times New Roman" panose="02020603050405020304" pitchFamily="18" charset="0"/>
              </a:rPr>
              <a:t>Error Handling.....................................................13</a:t>
            </a:r>
            <a:endParaRPr lang="en-IN" dirty="0">
              <a:latin typeface="Times New Roman" panose="02020603050405020304" pitchFamily="18" charset="0"/>
              <a:cs typeface="Times New Roman" panose="02020603050405020304" pitchFamily="18" charset="0"/>
            </a:endParaRPr>
          </a:p>
          <a:p>
            <a:pPr marL="342900" lvl="0" indent="-342900">
              <a:lnSpc>
                <a:spcPct val="200000"/>
              </a:lnSpc>
              <a:buFont typeface="+mj-lt"/>
              <a:buAutoNum type="arabicPeriod"/>
            </a:pPr>
            <a:r>
              <a:rPr lang="en-US" dirty="0">
                <a:latin typeface="Times New Roman" panose="02020603050405020304" pitchFamily="18" charset="0"/>
                <a:cs typeface="Times New Roman" panose="02020603050405020304" pitchFamily="18" charset="0"/>
              </a:rPr>
              <a:t>Non-Functional Requirements.............................13</a:t>
            </a:r>
            <a:endParaRPr lang="en-IN" dirty="0">
              <a:latin typeface="Times New Roman" panose="02020603050405020304" pitchFamily="18" charset="0"/>
              <a:cs typeface="Times New Roman" panose="02020603050405020304" pitchFamily="18" charset="0"/>
            </a:endParaRPr>
          </a:p>
          <a:p>
            <a:pPr marL="342900" lvl="0" indent="-342900">
              <a:lnSpc>
                <a:spcPct val="200000"/>
              </a:lnSpc>
              <a:buFont typeface="+mj-lt"/>
              <a:buAutoNum type="arabicPeriod"/>
            </a:pPr>
            <a:r>
              <a:rPr lang="en-US" dirty="0">
                <a:latin typeface="Times New Roman" panose="02020603050405020304" pitchFamily="18" charset="0"/>
                <a:cs typeface="Times New Roman" panose="02020603050405020304" pitchFamily="18" charset="0"/>
              </a:rPr>
              <a:t>Assumptions and Constraints..............................14</a:t>
            </a:r>
            <a:endParaRPr lang="en-IN" dirty="0">
              <a:latin typeface="Times New Roman" panose="02020603050405020304" pitchFamily="18" charset="0"/>
              <a:cs typeface="Times New Roman" panose="02020603050405020304" pitchFamily="18" charset="0"/>
            </a:endParaRPr>
          </a:p>
          <a:p>
            <a:pPr marL="342900" indent="-342900">
              <a:lnSpc>
                <a:spcPct val="200000"/>
              </a:lnSpc>
              <a:buFont typeface="+mj-lt"/>
              <a:buAutoNum type="arabicPeriod"/>
            </a:pPr>
            <a:r>
              <a:rPr lang="en-US" dirty="0">
                <a:latin typeface="Times New Roman" panose="02020603050405020304" pitchFamily="18" charset="0"/>
                <a:cs typeface="Times New Roman" panose="02020603050405020304" pitchFamily="18" charset="0"/>
              </a:rPr>
              <a:t>References...........................................................15</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20BF47B-1A0E-46BE-25F0-E9D52AAED489}"/>
              </a:ext>
            </a:extLst>
          </p:cNvPr>
          <p:cNvSpPr txBox="1"/>
          <p:nvPr/>
        </p:nvSpPr>
        <p:spPr>
          <a:xfrm>
            <a:off x="6338451" y="11597697"/>
            <a:ext cx="295106" cy="369332"/>
          </a:xfrm>
          <a:prstGeom prst="rect">
            <a:avLst/>
          </a:prstGeom>
          <a:noFill/>
        </p:spPr>
        <p:txBody>
          <a:bodyPr wrap="square" rtlCol="0">
            <a:spAutoFit/>
          </a:bodyPr>
          <a:lstStyle/>
          <a:p>
            <a:r>
              <a:rPr lang="en-US" dirty="0"/>
              <a:t>1</a:t>
            </a:r>
            <a:endParaRPr lang="en-IN" dirty="0"/>
          </a:p>
        </p:txBody>
      </p:sp>
    </p:spTree>
    <p:extLst>
      <p:ext uri="{BB962C8B-B14F-4D97-AF65-F5344CB8AC3E}">
        <p14:creationId xmlns:p14="http://schemas.microsoft.com/office/powerpoint/2010/main" val="92675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7E549-036C-338C-880F-43825BC3C6D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1441A62-D4B2-452B-E2A6-A588F6F22C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237CDADB-72B7-9D09-85EC-6BEA9879E9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A210BB34-4930-1FBC-0F95-EC86F3F2AB6F}"/>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D83C1790-D0C6-C232-BFFE-ABD80EA553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CADA506D-1774-5C7C-9B8C-1F921F4A39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2ED79733-8C03-28E9-867B-D15E3EA5DFC5}"/>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2" name="TextBox 1">
            <a:extLst>
              <a:ext uri="{FF2B5EF4-FFF2-40B4-BE49-F238E27FC236}">
                <a16:creationId xmlns:a16="http://schemas.microsoft.com/office/drawing/2014/main" id="{AE74D0D4-13B9-6507-2346-C7EBB5CDC26F}"/>
              </a:ext>
            </a:extLst>
          </p:cNvPr>
          <p:cNvSpPr txBox="1"/>
          <p:nvPr/>
        </p:nvSpPr>
        <p:spPr>
          <a:xfrm>
            <a:off x="415638" y="1093067"/>
            <a:ext cx="6026724" cy="9460539"/>
          </a:xfrm>
          <a:prstGeom prst="rect">
            <a:avLst/>
          </a:prstGeom>
          <a:noFill/>
        </p:spPr>
        <p:txBody>
          <a:bodyPr wrap="square" rtlCol="0">
            <a:spAutoFit/>
          </a:bodyPr>
          <a:lstStyle/>
          <a:p>
            <a:pPr marL="342900" indent="-342900">
              <a:lnSpc>
                <a:spcPct val="150000"/>
              </a:lnSpc>
              <a:buAutoNum type="arabicPeriod"/>
            </a:pPr>
            <a:r>
              <a:rPr lang="en-US" sz="2000" b="1" dirty="0">
                <a:latin typeface="Times New Roman" panose="02020603050405020304" pitchFamily="18" charset="0"/>
                <a:cs typeface="Times New Roman" panose="02020603050405020304" pitchFamily="18" charset="0"/>
              </a:rPr>
              <a:t>INTRODUCTION</a:t>
            </a:r>
            <a:endParaRPr lang="en-IN" sz="2000" b="1"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This Low Level Design (LLD) document describes the detailed implementation logic for the data ingestion, parsing, cleaning, and exploratory analysis stages of the </a:t>
            </a:r>
            <a:r>
              <a:rPr lang="en-US" sz="1600" b="1" dirty="0">
                <a:latin typeface="Times New Roman" panose="02020603050405020304" pitchFamily="18" charset="0"/>
                <a:cs typeface="Times New Roman" panose="02020603050405020304" pitchFamily="18" charset="0"/>
              </a:rPr>
              <a:t>Visual Threat Hunting for E-commerce Networks</a:t>
            </a:r>
            <a:r>
              <a:rPr lang="en-US" sz="1600" dirty="0">
                <a:latin typeface="Times New Roman" panose="02020603050405020304" pitchFamily="18" charset="0"/>
                <a:cs typeface="Times New Roman" panose="02020603050405020304" pitchFamily="18" charset="0"/>
              </a:rPr>
              <a:t> project. These are the foundational stages that prepare raw web server log data for downstream analysis.</a:t>
            </a:r>
            <a:r>
              <a:rPr lang="en-IN"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The source data is a real Apache web server access log from an Iranian e-commerce website (</a:t>
            </a:r>
            <a:r>
              <a:rPr lang="en-US" sz="1600" dirty="0" err="1">
                <a:latin typeface="Times New Roman" panose="02020603050405020304" pitchFamily="18" charset="0"/>
                <a:cs typeface="Times New Roman" panose="02020603050405020304" pitchFamily="18" charset="0"/>
              </a:rPr>
              <a:t>Zanbil</a:t>
            </a:r>
            <a:r>
              <a:rPr lang="en-US" sz="1600" dirty="0">
                <a:latin typeface="Times New Roman" panose="02020603050405020304" pitchFamily="18" charset="0"/>
                <a:cs typeface="Times New Roman" panose="02020603050405020304" pitchFamily="18" charset="0"/>
              </a:rPr>
              <a:t>), spanning </a:t>
            </a:r>
            <a:r>
              <a:rPr lang="en-US" sz="1600" b="1" dirty="0">
                <a:latin typeface="Times New Roman" panose="02020603050405020304" pitchFamily="18" charset="0"/>
                <a:cs typeface="Times New Roman" panose="02020603050405020304" pitchFamily="18" charset="0"/>
              </a:rPr>
              <a:t>January 22–26, 2019</a:t>
            </a:r>
            <a:r>
              <a:rPr lang="en-US" sz="1600" dirty="0">
                <a:latin typeface="Times New Roman" panose="02020603050405020304" pitchFamily="18" charset="0"/>
                <a:cs typeface="Times New Roman" panose="02020603050405020304" pitchFamily="18" charset="0"/>
              </a:rPr>
              <a:t>, with over 10 million log entries in a </a:t>
            </a:r>
            <a:r>
              <a:rPr lang="en-US" sz="1600" b="1" dirty="0">
                <a:latin typeface="Times New Roman" panose="02020603050405020304" pitchFamily="18" charset="0"/>
                <a:cs typeface="Times New Roman" panose="02020603050405020304" pitchFamily="18" charset="0"/>
              </a:rPr>
              <a:t>3.5 GB</a:t>
            </a:r>
            <a:r>
              <a:rPr lang="en-US" sz="1600" dirty="0">
                <a:latin typeface="Times New Roman" panose="02020603050405020304" pitchFamily="18" charset="0"/>
                <a:cs typeface="Times New Roman" panose="02020603050405020304" pitchFamily="18" charset="0"/>
              </a:rPr>
              <a:t> text file.</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This document focuses on the </a:t>
            </a:r>
            <a:r>
              <a:rPr lang="en-US" sz="1600" b="1" dirty="0">
                <a:latin typeface="Times New Roman" panose="02020603050405020304" pitchFamily="18" charset="0"/>
                <a:cs typeface="Times New Roman" panose="02020603050405020304" pitchFamily="18" charset="0"/>
              </a:rPr>
              <a:t>HOW</a:t>
            </a:r>
            <a:r>
              <a:rPr lang="en-US" sz="1600" dirty="0">
                <a:latin typeface="Times New Roman" panose="02020603050405020304" pitchFamily="18" charset="0"/>
                <a:cs typeface="Times New Roman" panose="02020603050405020304" pitchFamily="18" charset="0"/>
              </a:rPr>
              <a:t> of data preparation — the specific code-level logic, field extraction rules, data type decisions, validation checks, and EDA outputs that form the base of the entire project pipeline.</a:t>
            </a:r>
            <a:endParaRPr lang="en-IN" sz="1600"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2. SCOPE OF THE DOCUMENT</a:t>
            </a:r>
            <a:endParaRPr lang="en-IN" sz="2000"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2.1  In Scope:</a:t>
            </a:r>
            <a:endParaRPr lang="en-IN"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Raw log file loading and reading mechanism</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Data type conversion logic for each field</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Null / missing value handling strategy</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Duplicate record detection methodology</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Exploratory Data Analysis (EDA): counts, time ranges</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Data quality validation checks</a:t>
            </a:r>
            <a:endParaRPr lang="en-IN" sz="16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78AACC2-DB63-282F-F6E9-3DC0952D392C}"/>
              </a:ext>
            </a:extLst>
          </p:cNvPr>
          <p:cNvSpPr txBox="1"/>
          <p:nvPr/>
        </p:nvSpPr>
        <p:spPr>
          <a:xfrm>
            <a:off x="6284566" y="11593439"/>
            <a:ext cx="349134" cy="369332"/>
          </a:xfrm>
          <a:prstGeom prst="rect">
            <a:avLst/>
          </a:prstGeom>
          <a:noFill/>
        </p:spPr>
        <p:txBody>
          <a:bodyPr wrap="square" rtlCol="0">
            <a:spAutoFit/>
          </a:bodyPr>
          <a:lstStyle/>
          <a:p>
            <a:r>
              <a:rPr lang="en-US" dirty="0"/>
              <a:t>2</a:t>
            </a:r>
            <a:endParaRPr lang="en-IN" dirty="0"/>
          </a:p>
        </p:txBody>
      </p:sp>
    </p:spTree>
    <p:extLst>
      <p:ext uri="{BB962C8B-B14F-4D97-AF65-F5344CB8AC3E}">
        <p14:creationId xmlns:p14="http://schemas.microsoft.com/office/powerpoint/2010/main" val="2366321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37602-DA6D-0888-B9BF-66AA8D6AC0C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240FC50-31AD-810C-7DA9-B259464362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B8290399-3AEC-1E4D-7791-49C0682ED7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BBADBE7C-849B-87F3-B678-D176E8D9B75D}"/>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BDD2127C-1365-6DCA-4063-901FB6FD63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7F2C7909-106E-B65D-E35A-90448A51FA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A3EBC562-41CC-2F07-F6A8-F9BC1263B270}"/>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2" name="TextBox 1">
            <a:extLst>
              <a:ext uri="{FF2B5EF4-FFF2-40B4-BE49-F238E27FC236}">
                <a16:creationId xmlns:a16="http://schemas.microsoft.com/office/drawing/2014/main" id="{3A4E0AA7-D7F3-1A25-FA57-AA1352E7AE71}"/>
              </a:ext>
            </a:extLst>
          </p:cNvPr>
          <p:cNvSpPr txBox="1"/>
          <p:nvPr/>
        </p:nvSpPr>
        <p:spPr>
          <a:xfrm>
            <a:off x="415638" y="1149154"/>
            <a:ext cx="6026724" cy="4797724"/>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2.2  Out of Scope (Covered in HLD):</a:t>
            </a:r>
            <a:endParaRPr lang="en-IN"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Feature engineering (rolling mean, Z-score, dynamic thresholds)</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Anomaly detection algorithm design</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Power BI dashboard layout and design</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Alert generation and risk scoring</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System architecture and deployment</a:t>
            </a:r>
          </a:p>
          <a:p>
            <a:pPr lvl="0">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3. INTENDED AUDIENCE</a:t>
            </a:r>
          </a:p>
          <a:p>
            <a:pPr>
              <a:lnSpc>
                <a:spcPct val="150000"/>
              </a:lnSpc>
            </a:pPr>
            <a:endParaRPr lang="en-IN" dirty="0">
              <a:latin typeface="Times New Roman" panose="02020603050405020304" pitchFamily="18" charset="0"/>
              <a:cs typeface="Times New Roman" panose="02020603050405020304" pitchFamily="18" charset="0"/>
            </a:endParaRPr>
          </a:p>
          <a:p>
            <a:pPr lvl="0">
              <a:lnSpc>
                <a:spcPct val="150000"/>
              </a:lnSpc>
            </a:pPr>
            <a:endParaRPr lang="en-IN" dirty="0">
              <a:latin typeface="Times New Roman" panose="02020603050405020304" pitchFamily="18" charset="0"/>
              <a:cs typeface="Times New Roman" panose="02020603050405020304" pitchFamily="18" charset="0"/>
            </a:endParaRPr>
          </a:p>
          <a:p>
            <a:pPr lvl="0">
              <a:lnSpc>
                <a:spcPct val="150000"/>
              </a:lnSpc>
            </a:pPr>
            <a:endParaRPr lang="en-IN" dirty="0">
              <a:latin typeface="Times New Roman" panose="02020603050405020304" pitchFamily="18" charset="0"/>
              <a:cs typeface="Times New Roman" panose="02020603050405020304" pitchFamily="18" charset="0"/>
            </a:endParaRPr>
          </a:p>
          <a:p>
            <a:pPr lvl="0">
              <a:lnSpc>
                <a:spcPct val="150000"/>
              </a:lnSpc>
            </a:pPr>
            <a:endParaRPr lang="en-IN"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8EAD03A2-6E38-E014-695C-FBF2DA480154}"/>
              </a:ext>
            </a:extLst>
          </p:cNvPr>
          <p:cNvGraphicFramePr>
            <a:graphicFrameLocks noGrp="1"/>
          </p:cNvGraphicFramePr>
          <p:nvPr>
            <p:extLst>
              <p:ext uri="{D42A27DB-BD31-4B8C-83A1-F6EECF244321}">
                <p14:modId xmlns:p14="http://schemas.microsoft.com/office/powerpoint/2010/main" val="3837016422"/>
              </p:ext>
            </p:extLst>
          </p:nvPr>
        </p:nvGraphicFramePr>
        <p:xfrm>
          <a:off x="415636" y="4398532"/>
          <a:ext cx="5792470" cy="2068769"/>
        </p:xfrm>
        <a:graphic>
          <a:graphicData uri="http://schemas.openxmlformats.org/drawingml/2006/table">
            <a:tbl>
              <a:tblPr firstRow="1" firstCol="1" bandRow="1">
                <a:tableStyleId>{3B4B98B0-60AC-42C2-AFA5-B58CD77FA1E5}</a:tableStyleId>
              </a:tblPr>
              <a:tblGrid>
                <a:gridCol w="2896235">
                  <a:extLst>
                    <a:ext uri="{9D8B030D-6E8A-4147-A177-3AD203B41FA5}">
                      <a16:colId xmlns:a16="http://schemas.microsoft.com/office/drawing/2014/main" val="2865018230"/>
                    </a:ext>
                  </a:extLst>
                </a:gridCol>
                <a:gridCol w="2896235">
                  <a:extLst>
                    <a:ext uri="{9D8B030D-6E8A-4147-A177-3AD203B41FA5}">
                      <a16:colId xmlns:a16="http://schemas.microsoft.com/office/drawing/2014/main" val="847540429"/>
                    </a:ext>
                  </a:extLst>
                </a:gridCol>
              </a:tblGrid>
              <a:tr h="248074">
                <a:tc>
                  <a:txBody>
                    <a:bodyPr/>
                    <a:lstStyle/>
                    <a:p>
                      <a:pPr algn="ctr">
                        <a:lnSpc>
                          <a:spcPct val="150000"/>
                        </a:lnSpc>
                        <a:spcAft>
                          <a:spcPts val="1000"/>
                        </a:spcAft>
                        <a:buNone/>
                      </a:pPr>
                      <a:r>
                        <a:rPr lang="en-US" sz="1200">
                          <a:effectLst/>
                          <a:latin typeface="Times New Roman" panose="02020603050405020304" pitchFamily="18" charset="0"/>
                          <a:cs typeface="Times New Roman" panose="02020603050405020304" pitchFamily="18" charset="0"/>
                        </a:rPr>
                        <a:t>Audience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a:effectLst/>
                          <a:latin typeface="Times New Roman" panose="02020603050405020304" pitchFamily="18" charset="0"/>
                          <a:cs typeface="Times New Roman" panose="02020603050405020304" pitchFamily="18" charset="0"/>
                        </a:rPr>
                        <a:t>Purpose of Reading</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057664027"/>
                  </a:ext>
                </a:extLst>
              </a:tr>
              <a:tr h="524207">
                <a:tc>
                  <a:txBody>
                    <a:bodyPr/>
                    <a:lstStyle/>
                    <a:p>
                      <a:pPr>
                        <a:lnSpc>
                          <a:spcPct val="150000"/>
                        </a:lnSpc>
                        <a:spcAft>
                          <a:spcPts val="1000"/>
                        </a:spcAft>
                        <a:buNone/>
                      </a:pPr>
                      <a:r>
                        <a:rPr lang="en-US" sz="1200">
                          <a:effectLst/>
                          <a:latin typeface="Times New Roman" panose="02020603050405020304" pitchFamily="18" charset="0"/>
                          <a:cs typeface="Times New Roman" panose="02020603050405020304" pitchFamily="18" charset="0"/>
                        </a:rPr>
                        <a:t>Academic Evaluators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latin typeface="Times New Roman" panose="02020603050405020304" pitchFamily="18" charset="0"/>
                          <a:cs typeface="Times New Roman" panose="02020603050405020304" pitchFamily="18" charset="0"/>
                        </a:rPr>
                        <a:t>Assess implementation depth and technical correctness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388763902"/>
                  </a:ext>
                </a:extLst>
              </a:tr>
              <a:tr h="248074">
                <a:tc>
                  <a:txBody>
                    <a:bodyPr/>
                    <a:lstStyle/>
                    <a:p>
                      <a:pPr>
                        <a:lnSpc>
                          <a:spcPct val="150000"/>
                        </a:lnSpc>
                        <a:spcAft>
                          <a:spcPts val="1000"/>
                        </a:spcAft>
                        <a:buNone/>
                      </a:pPr>
                      <a:r>
                        <a:rPr lang="en-US" sz="1200">
                          <a:effectLst/>
                          <a:latin typeface="Times New Roman" panose="02020603050405020304" pitchFamily="18" charset="0"/>
                          <a:cs typeface="Times New Roman" panose="02020603050405020304" pitchFamily="18" charset="0"/>
                        </a:rPr>
                        <a:t>Project Supervisors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latin typeface="Times New Roman" panose="02020603050405020304" pitchFamily="18" charset="0"/>
                          <a:cs typeface="Times New Roman" panose="02020603050405020304" pitchFamily="18" charset="0"/>
                        </a:rPr>
                        <a:t>Verify alignment with project objectives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35423272"/>
                  </a:ext>
                </a:extLst>
              </a:tr>
              <a:tr h="524207">
                <a:tc>
                  <a:txBody>
                    <a:bodyPr/>
                    <a:lstStyle/>
                    <a:p>
                      <a:pPr>
                        <a:lnSpc>
                          <a:spcPct val="150000"/>
                        </a:lnSpc>
                        <a:spcAft>
                          <a:spcPts val="1000"/>
                        </a:spcAft>
                        <a:buNone/>
                      </a:pPr>
                      <a:r>
                        <a:rPr lang="en-US" sz="1200" dirty="0">
                          <a:effectLst/>
                          <a:latin typeface="Times New Roman" panose="02020603050405020304" pitchFamily="18" charset="0"/>
                          <a:cs typeface="Times New Roman" panose="02020603050405020304" pitchFamily="18" charset="0"/>
                        </a:rPr>
                        <a:t>Developers / Future Maintainers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latin typeface="Times New Roman" panose="02020603050405020304" pitchFamily="18" charset="0"/>
                          <a:cs typeface="Times New Roman" panose="02020603050405020304" pitchFamily="18" charset="0"/>
                        </a:rPr>
                        <a:t>Understand code-level logic for replication or extension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208715943"/>
                  </a:ext>
                </a:extLst>
              </a:tr>
              <a:tr h="524207">
                <a:tc>
                  <a:txBody>
                    <a:bodyPr/>
                    <a:lstStyle/>
                    <a:p>
                      <a:pPr>
                        <a:lnSpc>
                          <a:spcPct val="150000"/>
                        </a:lnSpc>
                        <a:spcAft>
                          <a:spcPts val="1000"/>
                        </a:spcAft>
                        <a:buNone/>
                      </a:pPr>
                      <a:r>
                        <a:rPr lang="en-US" sz="1200" dirty="0">
                          <a:effectLst/>
                          <a:latin typeface="Times New Roman" panose="02020603050405020304" pitchFamily="18" charset="0"/>
                          <a:cs typeface="Times New Roman" panose="02020603050405020304" pitchFamily="18" charset="0"/>
                        </a:rPr>
                        <a:t>Data Engineers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latin typeface="Times New Roman" panose="02020603050405020304" pitchFamily="18" charset="0"/>
                          <a:cs typeface="Times New Roman" panose="02020603050405020304" pitchFamily="18" charset="0"/>
                        </a:rPr>
                        <a:t>Understand the data pipeline input/output contracts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22630891"/>
                  </a:ext>
                </a:extLst>
              </a:tr>
            </a:tbl>
          </a:graphicData>
        </a:graphic>
      </p:graphicFrame>
      <p:graphicFrame>
        <p:nvGraphicFramePr>
          <p:cNvPr id="4" name="Table 3">
            <a:extLst>
              <a:ext uri="{FF2B5EF4-FFF2-40B4-BE49-F238E27FC236}">
                <a16:creationId xmlns:a16="http://schemas.microsoft.com/office/drawing/2014/main" id="{5437306E-3362-28B8-C223-C4FD33337DD9}"/>
              </a:ext>
            </a:extLst>
          </p:cNvPr>
          <p:cNvGraphicFramePr>
            <a:graphicFrameLocks noGrp="1"/>
          </p:cNvGraphicFramePr>
          <p:nvPr>
            <p:extLst>
              <p:ext uri="{D42A27DB-BD31-4B8C-83A1-F6EECF244321}">
                <p14:modId xmlns:p14="http://schemas.microsoft.com/office/powerpoint/2010/main" val="1065566145"/>
              </p:ext>
            </p:extLst>
          </p:nvPr>
        </p:nvGraphicFramePr>
        <p:xfrm>
          <a:off x="415636" y="7612288"/>
          <a:ext cx="5792470" cy="3859276"/>
        </p:xfrm>
        <a:graphic>
          <a:graphicData uri="http://schemas.openxmlformats.org/drawingml/2006/table">
            <a:tbl>
              <a:tblPr firstRow="1" firstCol="1" bandRow="1">
                <a:tableStyleId>{3B4B98B0-60AC-42C2-AFA5-B58CD77FA1E5}</a:tableStyleId>
              </a:tblPr>
              <a:tblGrid>
                <a:gridCol w="1062040">
                  <a:extLst>
                    <a:ext uri="{9D8B030D-6E8A-4147-A177-3AD203B41FA5}">
                      <a16:colId xmlns:a16="http://schemas.microsoft.com/office/drawing/2014/main" val="887236017"/>
                    </a:ext>
                  </a:extLst>
                </a:gridCol>
                <a:gridCol w="1576810">
                  <a:extLst>
                    <a:ext uri="{9D8B030D-6E8A-4147-A177-3AD203B41FA5}">
                      <a16:colId xmlns:a16="http://schemas.microsoft.com/office/drawing/2014/main" val="614313426"/>
                    </a:ext>
                  </a:extLst>
                </a:gridCol>
                <a:gridCol w="1576810">
                  <a:extLst>
                    <a:ext uri="{9D8B030D-6E8A-4147-A177-3AD203B41FA5}">
                      <a16:colId xmlns:a16="http://schemas.microsoft.com/office/drawing/2014/main" val="2127872885"/>
                    </a:ext>
                  </a:extLst>
                </a:gridCol>
                <a:gridCol w="1576810">
                  <a:extLst>
                    <a:ext uri="{9D8B030D-6E8A-4147-A177-3AD203B41FA5}">
                      <a16:colId xmlns:a16="http://schemas.microsoft.com/office/drawing/2014/main" val="830983717"/>
                    </a:ext>
                  </a:extLst>
                </a:gridCol>
              </a:tblGrid>
              <a:tr h="253463">
                <a:tc>
                  <a:txBody>
                    <a:bodyPr/>
                    <a:lstStyle/>
                    <a:p>
                      <a:pPr algn="l">
                        <a:lnSpc>
                          <a:spcPct val="150000"/>
                        </a:lnSpc>
                        <a:spcAft>
                          <a:spcPts val="1000"/>
                        </a:spcAft>
                        <a:buNone/>
                      </a:pPr>
                      <a:r>
                        <a:rPr lang="en-US" sz="1200">
                          <a:effectLst/>
                          <a:latin typeface="Times New Roman" panose="02020603050405020304" pitchFamily="18" charset="0"/>
                          <a:cs typeface="Times New Roman" panose="02020603050405020304" pitchFamily="18" charset="0"/>
                        </a:rPr>
                        <a:t>Module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1000"/>
                        </a:spcAft>
                        <a:buNone/>
                      </a:pPr>
                      <a:r>
                        <a:rPr lang="en-US" sz="1200">
                          <a:effectLst/>
                          <a:latin typeface="Times New Roman" panose="02020603050405020304" pitchFamily="18" charset="0"/>
                          <a:cs typeface="Times New Roman" panose="02020603050405020304" pitchFamily="18" charset="0"/>
                        </a:rPr>
                        <a:t>Name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1000"/>
                        </a:spcAft>
                        <a:buNone/>
                      </a:pPr>
                      <a:r>
                        <a:rPr lang="en-US" sz="1200">
                          <a:effectLst/>
                          <a:latin typeface="Times New Roman" panose="02020603050405020304" pitchFamily="18" charset="0"/>
                          <a:cs typeface="Times New Roman" panose="02020603050405020304" pitchFamily="18" charset="0"/>
                        </a:rPr>
                        <a:t>Key Operations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1000"/>
                        </a:spcAft>
                        <a:buNone/>
                      </a:pPr>
                      <a:r>
                        <a:rPr lang="en-US" sz="1200" dirty="0">
                          <a:effectLst/>
                          <a:latin typeface="Times New Roman" panose="02020603050405020304" pitchFamily="18" charset="0"/>
                          <a:cs typeface="Times New Roman" panose="02020603050405020304" pitchFamily="18" charset="0"/>
                        </a:rPr>
                        <a:t>Output</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30875698"/>
                  </a:ext>
                </a:extLst>
              </a:tr>
              <a:tr h="541459">
                <a:tc>
                  <a:txBody>
                    <a:bodyPr/>
                    <a:lstStyle/>
                    <a:p>
                      <a:pPr algn="l">
                        <a:lnSpc>
                          <a:spcPct val="150000"/>
                        </a:lnSpc>
                        <a:spcAft>
                          <a:spcPts val="1000"/>
                        </a:spcAft>
                        <a:buNone/>
                      </a:pPr>
                      <a:r>
                        <a:rPr lang="en-US" sz="1200" dirty="0">
                          <a:effectLst/>
                          <a:latin typeface="Times New Roman" panose="02020603050405020304" pitchFamily="18" charset="0"/>
                          <a:cs typeface="Times New Roman" panose="02020603050405020304" pitchFamily="18" charset="0"/>
                        </a:rPr>
                        <a:t>MODULE 1</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1000"/>
                        </a:spcAft>
                        <a:buNone/>
                      </a:pPr>
                      <a:r>
                        <a:rPr lang="en-US" sz="1200">
                          <a:effectLst/>
                          <a:latin typeface="Times New Roman" panose="02020603050405020304" pitchFamily="18" charset="0"/>
                          <a:cs typeface="Times New Roman" panose="02020603050405020304" pitchFamily="18" charset="0"/>
                        </a:rPr>
                        <a:t>Data Ingestion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1000"/>
                        </a:spcAft>
                        <a:buNone/>
                      </a:pPr>
                      <a:r>
                        <a:rPr lang="en-US" sz="1200">
                          <a:effectLst/>
                          <a:latin typeface="Times New Roman" panose="02020603050405020304" pitchFamily="18" charset="0"/>
                          <a:cs typeface="Times New Roman" panose="02020603050405020304" pitchFamily="18" charset="0"/>
                        </a:rPr>
                        <a:t>Read log file, load to memory, count lines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1000"/>
                        </a:spcAft>
                        <a:buNone/>
                      </a:pPr>
                      <a:r>
                        <a:rPr lang="en-US" sz="1200" dirty="0">
                          <a:effectLst/>
                          <a:latin typeface="Times New Roman" panose="02020603050405020304" pitchFamily="18" charset="0"/>
                          <a:cs typeface="Times New Roman" panose="02020603050405020304" pitchFamily="18" charset="0"/>
                        </a:rPr>
                        <a:t>list[str] — 10,365,152 raw lines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168673897"/>
                  </a:ext>
                </a:extLst>
              </a:tr>
              <a:tr h="1117450">
                <a:tc>
                  <a:txBody>
                    <a:bodyPr/>
                    <a:lstStyle/>
                    <a:p>
                      <a:pPr algn="l">
                        <a:lnSpc>
                          <a:spcPct val="150000"/>
                        </a:lnSpc>
                        <a:spcAft>
                          <a:spcPts val="1000"/>
                        </a:spcAft>
                        <a:buNone/>
                      </a:pPr>
                      <a:r>
                        <a:rPr lang="en-US" sz="1200" dirty="0">
                          <a:effectLst/>
                          <a:latin typeface="Times New Roman" panose="02020603050405020304" pitchFamily="18" charset="0"/>
                          <a:cs typeface="Times New Roman" panose="02020603050405020304" pitchFamily="18" charset="0"/>
                        </a:rPr>
                        <a:t>MODULE 2</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1000"/>
                        </a:spcAft>
                        <a:buNone/>
                      </a:pPr>
                      <a:r>
                        <a:rPr lang="en-US" sz="1200" dirty="0">
                          <a:effectLst/>
                          <a:latin typeface="Times New Roman" panose="02020603050405020304" pitchFamily="18" charset="0"/>
                          <a:cs typeface="Times New Roman" panose="02020603050405020304" pitchFamily="18" charset="0"/>
                        </a:rPr>
                        <a:t>Log Parsing</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1000"/>
                        </a:spcAft>
                        <a:buNone/>
                      </a:pPr>
                      <a:r>
                        <a:rPr lang="en-US" sz="1200" dirty="0">
                          <a:effectLst/>
                          <a:latin typeface="Times New Roman" panose="02020603050405020304" pitchFamily="18" charset="0"/>
                          <a:cs typeface="Times New Roman" panose="02020603050405020304" pitchFamily="18" charset="0"/>
                        </a:rPr>
                        <a:t>Apply Regex, extract fields, build </a:t>
                      </a:r>
                      <a:r>
                        <a:rPr lang="en-US" sz="1200" dirty="0" err="1">
                          <a:effectLst/>
                          <a:latin typeface="Times New Roman" panose="02020603050405020304" pitchFamily="18" charset="0"/>
                          <a:cs typeface="Times New Roman" panose="02020603050405020304" pitchFamily="18" charset="0"/>
                        </a:rPr>
                        <a:t>DataFrame</a:t>
                      </a:r>
                      <a:r>
                        <a:rPr lang="en-US" sz="1200" dirty="0">
                          <a:effectLst/>
                          <a:latin typeface="Times New Roman" panose="02020603050405020304" pitchFamily="18" charset="0"/>
                          <a:cs typeface="Times New Roman" panose="02020603050405020304" pitchFamily="18" charset="0"/>
                        </a:rPr>
                        <a:t>, log failures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1000"/>
                        </a:spcAft>
                        <a:buNone/>
                      </a:pPr>
                      <a:r>
                        <a:rPr lang="en-US" sz="1200">
                          <a:effectLst/>
                          <a:latin typeface="Times New Roman" panose="02020603050405020304" pitchFamily="18" charset="0"/>
                          <a:cs typeface="Times New Roman" panose="02020603050405020304" pitchFamily="18" charset="0"/>
                        </a:rPr>
                        <a:t>DataFrame (raw) — 10,363,637 rows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056202594"/>
                  </a:ext>
                </a:extLst>
              </a:tr>
              <a:tr h="829454">
                <a:tc>
                  <a:txBody>
                    <a:bodyPr/>
                    <a:lstStyle/>
                    <a:p>
                      <a:pPr algn="l">
                        <a:lnSpc>
                          <a:spcPct val="150000"/>
                        </a:lnSpc>
                        <a:spcAft>
                          <a:spcPts val="1000"/>
                        </a:spcAft>
                        <a:buNone/>
                      </a:pPr>
                      <a:r>
                        <a:rPr lang="en-US" sz="1200">
                          <a:effectLst/>
                          <a:latin typeface="Times New Roman" panose="02020603050405020304" pitchFamily="18" charset="0"/>
                          <a:cs typeface="Times New Roman" panose="02020603050405020304" pitchFamily="18" charset="0"/>
                        </a:rPr>
                        <a:t>MODULE 3</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1000"/>
                        </a:spcAft>
                        <a:buNone/>
                      </a:pPr>
                      <a:r>
                        <a:rPr lang="en-US" sz="1200" dirty="0">
                          <a:effectLst/>
                          <a:latin typeface="Times New Roman" panose="02020603050405020304" pitchFamily="18" charset="0"/>
                          <a:cs typeface="Times New Roman" panose="02020603050405020304" pitchFamily="18" charset="0"/>
                        </a:rPr>
                        <a:t>Data Cleaning</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1000"/>
                        </a:spcAft>
                        <a:buNone/>
                      </a:pPr>
                      <a:r>
                        <a:rPr lang="en-US" sz="1200">
                          <a:effectLst/>
                          <a:latin typeface="Times New Roman" panose="02020603050405020304" pitchFamily="18" charset="0"/>
                          <a:cs typeface="Times New Roman" panose="02020603050405020304" pitchFamily="18" charset="0"/>
                        </a:rPr>
                        <a:t>Type convert, handle nulls, sort by time, reset index</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1000"/>
                        </a:spcAft>
                        <a:buNone/>
                      </a:pPr>
                      <a:r>
                        <a:rPr lang="en-US" sz="1200">
                          <a:effectLst/>
                          <a:latin typeface="Times New Roman" panose="02020603050405020304" pitchFamily="18" charset="0"/>
                          <a:cs typeface="Times New Roman" panose="02020603050405020304" pitchFamily="18" charset="0"/>
                        </a:rPr>
                        <a:t>DataFrame (typed, sorted, clean)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354129675"/>
                  </a:ext>
                </a:extLst>
              </a:tr>
              <a:tr h="1117450">
                <a:tc>
                  <a:txBody>
                    <a:bodyPr/>
                    <a:lstStyle/>
                    <a:p>
                      <a:pPr algn="l">
                        <a:lnSpc>
                          <a:spcPct val="150000"/>
                        </a:lnSpc>
                        <a:spcAft>
                          <a:spcPts val="1000"/>
                        </a:spcAft>
                        <a:buNone/>
                      </a:pPr>
                      <a:r>
                        <a:rPr lang="en-US" sz="1200">
                          <a:effectLst/>
                          <a:latin typeface="Times New Roman" panose="02020603050405020304" pitchFamily="18" charset="0"/>
                          <a:cs typeface="Times New Roman" panose="02020603050405020304" pitchFamily="18" charset="0"/>
                        </a:rPr>
                        <a:t>MODULE 4</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1000"/>
                        </a:spcAft>
                        <a:buNone/>
                      </a:pPr>
                      <a:r>
                        <a:rPr lang="en-US" sz="1200" dirty="0">
                          <a:effectLst/>
                          <a:latin typeface="Times New Roman" panose="02020603050405020304" pitchFamily="18" charset="0"/>
                          <a:cs typeface="Times New Roman" panose="02020603050405020304" pitchFamily="18" charset="0"/>
                        </a:rPr>
                        <a:t>EDA &amp; QA</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1000"/>
                        </a:spcAft>
                        <a:buNone/>
                      </a:pPr>
                      <a:r>
                        <a:rPr lang="en-US" sz="1200" dirty="0">
                          <a:effectLst/>
                          <a:latin typeface="Times New Roman" panose="02020603050405020304" pitchFamily="18" charset="0"/>
                          <a:cs typeface="Times New Roman" panose="02020603050405020304" pitchFamily="18" charset="0"/>
                        </a:rPr>
                        <a:t>Check nulls, find duplicates, distributions, basic stats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l">
                        <a:lnSpc>
                          <a:spcPct val="150000"/>
                        </a:lnSpc>
                        <a:spcAft>
                          <a:spcPts val="1000"/>
                        </a:spcAft>
                        <a:buNone/>
                      </a:pPr>
                      <a:r>
                        <a:rPr lang="en-US" sz="1200" dirty="0">
                          <a:effectLst/>
                          <a:latin typeface="Times New Roman" panose="02020603050405020304" pitchFamily="18" charset="0"/>
                          <a:cs typeface="Times New Roman" panose="02020603050405020304" pitchFamily="18" charset="0"/>
                        </a:rPr>
                        <a:t>QA Report + Clean </a:t>
                      </a:r>
                      <a:r>
                        <a:rPr lang="en-US" sz="1200" dirty="0" err="1">
                          <a:effectLst/>
                          <a:latin typeface="Times New Roman" panose="02020603050405020304" pitchFamily="18" charset="0"/>
                          <a:cs typeface="Times New Roman" panose="02020603050405020304" pitchFamily="18" charset="0"/>
                        </a:rPr>
                        <a:t>DataFrame</a:t>
                      </a:r>
                      <a:r>
                        <a:rPr lang="en-US" sz="1200" dirty="0">
                          <a:effectLst/>
                          <a:latin typeface="Times New Roman" panose="02020603050405020304" pitchFamily="18" charset="0"/>
                          <a:cs typeface="Times New Roman" panose="02020603050405020304" pitchFamily="18" charset="0"/>
                        </a:rPr>
                        <a:t> ready</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68399622"/>
                  </a:ext>
                </a:extLst>
              </a:tr>
            </a:tbl>
          </a:graphicData>
        </a:graphic>
      </p:graphicFrame>
      <p:sp>
        <p:nvSpPr>
          <p:cNvPr id="9" name="TextBox 8">
            <a:extLst>
              <a:ext uri="{FF2B5EF4-FFF2-40B4-BE49-F238E27FC236}">
                <a16:creationId xmlns:a16="http://schemas.microsoft.com/office/drawing/2014/main" id="{0D4E8415-5451-DD30-8D73-851AADE46AA3}"/>
              </a:ext>
            </a:extLst>
          </p:cNvPr>
          <p:cNvSpPr txBox="1"/>
          <p:nvPr/>
        </p:nvSpPr>
        <p:spPr>
          <a:xfrm>
            <a:off x="415637" y="6594162"/>
            <a:ext cx="6026725" cy="962828"/>
          </a:xfrm>
          <a:prstGeom prst="rect">
            <a:avLst/>
          </a:prstGeom>
          <a:noFill/>
        </p:spPr>
        <p:txBody>
          <a:bodyPr wrap="square">
            <a:spAutoFit/>
          </a:bodyPr>
          <a:lstStyle/>
          <a:p>
            <a:pPr>
              <a:lnSpc>
                <a:spcPct val="150000"/>
              </a:lnSpc>
              <a:spcBef>
                <a:spcPts val="1400"/>
              </a:spcBef>
              <a:spcAft>
                <a:spcPts val="400"/>
              </a:spcAft>
              <a:buNone/>
            </a:pPr>
            <a:r>
              <a:rPr lang="en-US" sz="2000" b="1" dirty="0">
                <a:latin typeface="Times New Roman" panose="02020603050405020304" pitchFamily="18" charset="0"/>
                <a:cs typeface="Times New Roman" panose="02020603050405020304" pitchFamily="18" charset="0"/>
              </a:rPr>
              <a:t>4. MODULE OVERVIEW</a:t>
            </a:r>
            <a:endParaRPr lang="en-IN" sz="2000" dirty="0">
              <a:effectLst/>
              <a:latin typeface="Times New Roman" panose="02020603050405020304" pitchFamily="18" charset="0"/>
              <a:ea typeface="MS Mincho" panose="02020609040205080304" pitchFamily="49" charset="-128"/>
              <a:cs typeface="Times New Roman" panose="02020603050405020304" pitchFamily="18" charset="0"/>
            </a:endParaRPr>
          </a:p>
          <a:p>
            <a:pPr>
              <a:lnSpc>
                <a:spcPct val="150000"/>
              </a:lnSpc>
              <a:spcBef>
                <a:spcPts val="200"/>
              </a:spcBef>
              <a:spcAft>
                <a:spcPts val="400"/>
              </a:spcAft>
              <a:buNone/>
            </a:pPr>
            <a:r>
              <a:rPr lang="en-US" sz="1600" dirty="0">
                <a:effectLst/>
                <a:latin typeface="Times New Roman" panose="02020603050405020304" pitchFamily="18" charset="0"/>
                <a:ea typeface="MS Mincho" panose="02020609040205080304" pitchFamily="49" charset="-128"/>
                <a:cs typeface="Times New Roman" panose="02020603050405020304" pitchFamily="18" charset="0"/>
              </a:rPr>
              <a:t>The LLD covers the following four implementation modules:</a:t>
            </a:r>
            <a:endParaRPr lang="en-IN" sz="1600" dirty="0"/>
          </a:p>
        </p:txBody>
      </p:sp>
      <p:sp>
        <p:nvSpPr>
          <p:cNvPr id="6" name="TextBox 5">
            <a:extLst>
              <a:ext uri="{FF2B5EF4-FFF2-40B4-BE49-F238E27FC236}">
                <a16:creationId xmlns:a16="http://schemas.microsoft.com/office/drawing/2014/main" id="{81582A75-0390-AC40-C01E-E333C92D3820}"/>
              </a:ext>
            </a:extLst>
          </p:cNvPr>
          <p:cNvSpPr txBox="1"/>
          <p:nvPr/>
        </p:nvSpPr>
        <p:spPr>
          <a:xfrm>
            <a:off x="6311982" y="11594468"/>
            <a:ext cx="315884" cy="369332"/>
          </a:xfrm>
          <a:prstGeom prst="rect">
            <a:avLst/>
          </a:prstGeom>
          <a:noFill/>
        </p:spPr>
        <p:txBody>
          <a:bodyPr wrap="square" rtlCol="0">
            <a:spAutoFit/>
          </a:bodyPr>
          <a:lstStyle/>
          <a:p>
            <a:r>
              <a:rPr lang="en-US" dirty="0"/>
              <a:t>3</a:t>
            </a:r>
            <a:endParaRPr lang="en-IN" dirty="0"/>
          </a:p>
        </p:txBody>
      </p:sp>
    </p:spTree>
    <p:extLst>
      <p:ext uri="{BB962C8B-B14F-4D97-AF65-F5344CB8AC3E}">
        <p14:creationId xmlns:p14="http://schemas.microsoft.com/office/powerpoint/2010/main" val="645467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D4F87-B044-8FEC-2EBA-769D2CFA5C5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36AFC49-B973-F008-C8C2-FFD6A60029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55998646-FA5F-512E-B921-B23721F1E2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BF325493-4DFD-FF77-616B-563580CC93F5}"/>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DCBCF2D6-723B-8AA2-BC7B-29C61839AD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934DF9B3-A481-C78B-8FF1-D491945824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A264AA9B-0648-D3E4-4F88-E1EE123EC138}"/>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2" name="TextBox 1">
            <a:extLst>
              <a:ext uri="{FF2B5EF4-FFF2-40B4-BE49-F238E27FC236}">
                <a16:creationId xmlns:a16="http://schemas.microsoft.com/office/drawing/2014/main" id="{0430C7F9-1391-5E62-04A7-CD6CAC8DE2D8}"/>
              </a:ext>
            </a:extLst>
          </p:cNvPr>
          <p:cNvSpPr txBox="1"/>
          <p:nvPr/>
        </p:nvSpPr>
        <p:spPr>
          <a:xfrm>
            <a:off x="415637" y="1153660"/>
            <a:ext cx="6026724" cy="2033249"/>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5. LOW-LEVEL PROCESS FLOW</a:t>
            </a:r>
            <a:endParaRPr lang="en-IN" sz="2000" b="1"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The following flowchart describes the step-by-step process from the raw log file to a clean, analysis-ready </a:t>
            </a:r>
            <a:r>
              <a:rPr lang="en-US" sz="1600" dirty="0" err="1">
                <a:latin typeface="Times New Roman" panose="02020603050405020304" pitchFamily="18" charset="0"/>
                <a:cs typeface="Times New Roman" panose="02020603050405020304" pitchFamily="18" charset="0"/>
              </a:rPr>
              <a:t>DataFrame</a:t>
            </a:r>
            <a:r>
              <a:rPr lang="en-US" sz="1600" dirty="0">
                <a:latin typeface="Times New Roman" panose="02020603050405020304" pitchFamily="18" charset="0"/>
                <a:cs typeface="Times New Roman" panose="02020603050405020304" pitchFamily="18" charset="0"/>
              </a:rPr>
              <a:t>. Each step corresponds to a </a:t>
            </a:r>
            <a:r>
              <a:rPr lang="en-US" sz="1600" dirty="0" err="1">
                <a:latin typeface="Times New Roman" panose="02020603050405020304" pitchFamily="18" charset="0"/>
                <a:cs typeface="Times New Roman" panose="02020603050405020304" pitchFamily="18" charset="0"/>
              </a:rPr>
              <a:t>Jupyter</a:t>
            </a:r>
            <a:r>
              <a:rPr lang="en-US" sz="1600" dirty="0">
                <a:latin typeface="Times New Roman" panose="02020603050405020304" pitchFamily="18" charset="0"/>
                <a:cs typeface="Times New Roman" panose="02020603050405020304" pitchFamily="18" charset="0"/>
              </a:rPr>
              <a:t> Notebook cell in the implementation.</a:t>
            </a:r>
            <a:endParaRPr lang="en-IN" sz="16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C47789C0-213E-C189-6250-F76C6C88E24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4801" y="3481962"/>
            <a:ext cx="6088395" cy="3489032"/>
          </a:xfrm>
          <a:prstGeom prst="rect">
            <a:avLst/>
          </a:prstGeom>
        </p:spPr>
      </p:pic>
      <p:sp>
        <p:nvSpPr>
          <p:cNvPr id="10" name="TextBox 9">
            <a:extLst>
              <a:ext uri="{FF2B5EF4-FFF2-40B4-BE49-F238E27FC236}">
                <a16:creationId xmlns:a16="http://schemas.microsoft.com/office/drawing/2014/main" id="{B7BCD712-22C5-989E-F613-277393466F45}"/>
              </a:ext>
            </a:extLst>
          </p:cNvPr>
          <p:cNvSpPr txBox="1"/>
          <p:nvPr/>
        </p:nvSpPr>
        <p:spPr>
          <a:xfrm>
            <a:off x="415637" y="6604645"/>
            <a:ext cx="6026724" cy="2858731"/>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6. MODULE 1 — DATA INGESTION</a:t>
            </a: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6.1  Purpose:</a:t>
            </a:r>
            <a:endParaRPr lang="en-IN"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Load the raw Apache access log file from disk into Python memory so that it can be processed line by line. The file is in plain text format, one log entry per line.</a:t>
            </a:r>
          </a:p>
          <a:p>
            <a:pPr>
              <a:lnSpc>
                <a:spcPct val="150000"/>
              </a:lnSpc>
            </a:pPr>
            <a:r>
              <a:rPr lang="en-US" b="1" dirty="0">
                <a:latin typeface="Times New Roman" panose="02020603050405020304" pitchFamily="18" charset="0"/>
                <a:cs typeface="Times New Roman" panose="02020603050405020304" pitchFamily="18" charset="0"/>
              </a:rPr>
              <a:t>6.2  Input Specification:</a:t>
            </a:r>
            <a:endParaRPr lang="en-IN" dirty="0">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55BCDE2B-0874-2648-65C6-6E572972962C}"/>
              </a:ext>
            </a:extLst>
          </p:cNvPr>
          <p:cNvGraphicFramePr>
            <a:graphicFrameLocks noGrp="1"/>
          </p:cNvGraphicFramePr>
          <p:nvPr>
            <p:extLst>
              <p:ext uri="{D42A27DB-BD31-4B8C-83A1-F6EECF244321}">
                <p14:modId xmlns:p14="http://schemas.microsoft.com/office/powerpoint/2010/main" val="2283472902"/>
              </p:ext>
            </p:extLst>
          </p:nvPr>
        </p:nvGraphicFramePr>
        <p:xfrm>
          <a:off x="446472" y="9463376"/>
          <a:ext cx="6026724" cy="1917600"/>
        </p:xfrm>
        <a:graphic>
          <a:graphicData uri="http://schemas.openxmlformats.org/drawingml/2006/table">
            <a:tbl>
              <a:tblPr firstRow="1" firstCol="1" bandRow="1">
                <a:tableStyleId>{3B4B98B0-60AC-42C2-AFA5-B58CD77FA1E5}</a:tableStyleId>
              </a:tblPr>
              <a:tblGrid>
                <a:gridCol w="3013362">
                  <a:extLst>
                    <a:ext uri="{9D8B030D-6E8A-4147-A177-3AD203B41FA5}">
                      <a16:colId xmlns:a16="http://schemas.microsoft.com/office/drawing/2014/main" val="304111503"/>
                    </a:ext>
                  </a:extLst>
                </a:gridCol>
                <a:gridCol w="3013362">
                  <a:extLst>
                    <a:ext uri="{9D8B030D-6E8A-4147-A177-3AD203B41FA5}">
                      <a16:colId xmlns:a16="http://schemas.microsoft.com/office/drawing/2014/main" val="2672321709"/>
                    </a:ext>
                  </a:extLst>
                </a:gridCol>
              </a:tblGrid>
              <a:tr h="319600">
                <a:tc>
                  <a:txBody>
                    <a:bodyPr/>
                    <a:lstStyle/>
                    <a:p>
                      <a:pPr algn="ctr">
                        <a:lnSpc>
                          <a:spcPct val="150000"/>
                        </a:lnSpc>
                        <a:spcAft>
                          <a:spcPts val="1000"/>
                        </a:spcAft>
                        <a:buNone/>
                      </a:pPr>
                      <a:r>
                        <a:rPr lang="en-US" sz="1200">
                          <a:effectLst/>
                          <a:latin typeface="Times New Roman" panose="02020603050405020304" pitchFamily="18" charset="0"/>
                          <a:cs typeface="Times New Roman" panose="02020603050405020304" pitchFamily="18" charset="0"/>
                        </a:rPr>
                        <a:t>Property</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a:effectLst/>
                          <a:latin typeface="Times New Roman" panose="02020603050405020304" pitchFamily="18" charset="0"/>
                          <a:cs typeface="Times New Roman" panose="02020603050405020304" pitchFamily="18" charset="0"/>
                        </a:rPr>
                        <a:t>Value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689891204"/>
                  </a:ext>
                </a:extLst>
              </a:tr>
              <a:tr h="319600">
                <a:tc>
                  <a:txBody>
                    <a:bodyPr/>
                    <a:lstStyle/>
                    <a:p>
                      <a:pPr>
                        <a:lnSpc>
                          <a:spcPct val="150000"/>
                        </a:lnSpc>
                        <a:spcAft>
                          <a:spcPts val="1000"/>
                        </a:spcAft>
                        <a:buNone/>
                      </a:pPr>
                      <a:r>
                        <a:rPr lang="en-US" sz="1200">
                          <a:effectLst/>
                          <a:latin typeface="Times New Roman" panose="02020603050405020304" pitchFamily="18" charset="0"/>
                          <a:cs typeface="Times New Roman" panose="02020603050405020304" pitchFamily="18" charset="0"/>
                        </a:rPr>
                        <a:t>File Name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latin typeface="Times New Roman" panose="02020603050405020304" pitchFamily="18" charset="0"/>
                          <a:cs typeface="Times New Roman" panose="02020603050405020304" pitchFamily="18" charset="0"/>
                        </a:rPr>
                        <a:t>access.log</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026646697"/>
                  </a:ext>
                </a:extLst>
              </a:tr>
              <a:tr h="319600">
                <a:tc>
                  <a:txBody>
                    <a:bodyPr/>
                    <a:lstStyle/>
                    <a:p>
                      <a:pPr>
                        <a:lnSpc>
                          <a:spcPct val="150000"/>
                        </a:lnSpc>
                        <a:spcAft>
                          <a:spcPts val="1000"/>
                        </a:spcAft>
                        <a:buNone/>
                      </a:pPr>
                      <a:r>
                        <a:rPr lang="en-US" sz="1200">
                          <a:effectLst/>
                          <a:latin typeface="Times New Roman" panose="02020603050405020304" pitchFamily="18" charset="0"/>
                          <a:cs typeface="Times New Roman" panose="02020603050405020304" pitchFamily="18" charset="0"/>
                        </a:rPr>
                        <a:t>File Path</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latin typeface="Times New Roman" panose="02020603050405020304" pitchFamily="18" charset="0"/>
                          <a:cs typeface="Times New Roman" panose="02020603050405020304" pitchFamily="18" charset="0"/>
                        </a:rPr>
                        <a:t>../Dataset/access.log</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286685699"/>
                  </a:ext>
                </a:extLst>
              </a:tr>
              <a:tr h="319600">
                <a:tc>
                  <a:txBody>
                    <a:bodyPr/>
                    <a:lstStyle/>
                    <a:p>
                      <a:pPr>
                        <a:lnSpc>
                          <a:spcPct val="150000"/>
                        </a:lnSpc>
                        <a:spcAft>
                          <a:spcPts val="1000"/>
                        </a:spcAft>
                        <a:buNone/>
                      </a:pPr>
                      <a:r>
                        <a:rPr lang="en-US" sz="1200" dirty="0">
                          <a:effectLst/>
                          <a:latin typeface="Times New Roman" panose="02020603050405020304" pitchFamily="18" charset="0"/>
                          <a:cs typeface="Times New Roman" panose="02020603050405020304" pitchFamily="18" charset="0"/>
                        </a:rPr>
                        <a:t>File Size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latin typeface="Times New Roman" panose="02020603050405020304" pitchFamily="18" charset="0"/>
                          <a:cs typeface="Times New Roman" panose="02020603050405020304" pitchFamily="18" charset="0"/>
                        </a:rPr>
                        <a:t>3.5 GB</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828200793"/>
                  </a:ext>
                </a:extLst>
              </a:tr>
              <a:tr h="319600">
                <a:tc>
                  <a:txBody>
                    <a:bodyPr/>
                    <a:lstStyle/>
                    <a:p>
                      <a:pPr>
                        <a:lnSpc>
                          <a:spcPct val="150000"/>
                        </a:lnSpc>
                        <a:spcAft>
                          <a:spcPts val="1000"/>
                        </a:spcAft>
                        <a:buNone/>
                      </a:pPr>
                      <a:r>
                        <a:rPr lang="en-US" sz="1200" dirty="0">
                          <a:effectLst/>
                          <a:latin typeface="Times New Roman" panose="02020603050405020304" pitchFamily="18" charset="0"/>
                          <a:cs typeface="Times New Roman" panose="02020603050405020304" pitchFamily="18" charset="0"/>
                        </a:rPr>
                        <a:t>File Format</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latin typeface="Times New Roman" panose="02020603050405020304" pitchFamily="18" charset="0"/>
                          <a:cs typeface="Times New Roman" panose="02020603050405020304" pitchFamily="18" charset="0"/>
                        </a:rPr>
                        <a:t>Plain text (ASCII / UTF-8)</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393077919"/>
                  </a:ext>
                </a:extLst>
              </a:tr>
              <a:tr h="319600">
                <a:tc>
                  <a:txBody>
                    <a:bodyPr/>
                    <a:lstStyle/>
                    <a:p>
                      <a:pPr>
                        <a:lnSpc>
                          <a:spcPct val="150000"/>
                        </a:lnSpc>
                        <a:spcAft>
                          <a:spcPts val="1000"/>
                        </a:spcAft>
                        <a:buNone/>
                      </a:pPr>
                      <a:r>
                        <a:rPr lang="en-US" sz="1200">
                          <a:effectLst/>
                          <a:latin typeface="Times New Roman" panose="02020603050405020304" pitchFamily="18" charset="0"/>
                          <a:cs typeface="Times New Roman" panose="02020603050405020304" pitchFamily="18" charset="0"/>
                        </a:rPr>
                        <a:t>Log Format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latin typeface="Times New Roman" panose="02020603050405020304" pitchFamily="18" charset="0"/>
                          <a:cs typeface="Times New Roman" panose="02020603050405020304" pitchFamily="18" charset="0"/>
                        </a:rPr>
                        <a:t>Apache Combined Log Format</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143942954"/>
                  </a:ext>
                </a:extLst>
              </a:tr>
            </a:tbl>
          </a:graphicData>
        </a:graphic>
      </p:graphicFrame>
      <p:sp>
        <p:nvSpPr>
          <p:cNvPr id="3" name="TextBox 2">
            <a:extLst>
              <a:ext uri="{FF2B5EF4-FFF2-40B4-BE49-F238E27FC236}">
                <a16:creationId xmlns:a16="http://schemas.microsoft.com/office/drawing/2014/main" id="{88F63932-4DB1-01F8-74C3-39C680366BF5}"/>
              </a:ext>
            </a:extLst>
          </p:cNvPr>
          <p:cNvSpPr txBox="1"/>
          <p:nvPr/>
        </p:nvSpPr>
        <p:spPr>
          <a:xfrm>
            <a:off x="6370024" y="11602692"/>
            <a:ext cx="266008" cy="369332"/>
          </a:xfrm>
          <a:prstGeom prst="rect">
            <a:avLst/>
          </a:prstGeom>
          <a:noFill/>
        </p:spPr>
        <p:txBody>
          <a:bodyPr wrap="square" rtlCol="0">
            <a:spAutoFit/>
          </a:bodyPr>
          <a:lstStyle/>
          <a:p>
            <a:r>
              <a:rPr lang="en-US" dirty="0"/>
              <a:t>4</a:t>
            </a:r>
            <a:endParaRPr lang="en-IN" dirty="0"/>
          </a:p>
        </p:txBody>
      </p:sp>
    </p:spTree>
    <p:extLst>
      <p:ext uri="{BB962C8B-B14F-4D97-AF65-F5344CB8AC3E}">
        <p14:creationId xmlns:p14="http://schemas.microsoft.com/office/powerpoint/2010/main" val="1122881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B1320-D0E7-3C31-10DE-49F3A29EC28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9E92D38-6AAF-275B-623B-45761E03DF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0DE08839-B0A1-68D6-8702-F2C64EA771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A19A4A03-C0A9-4961-59C3-CBF5F23EF98E}"/>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45600113-5E3B-B9D4-FB7E-16802F01A4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FDCC58E0-57B9-D551-9063-8A34DD10FD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058B0757-3182-0371-8682-AC02A864B933}"/>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2" name="TextBox 1">
            <a:extLst>
              <a:ext uri="{FF2B5EF4-FFF2-40B4-BE49-F238E27FC236}">
                <a16:creationId xmlns:a16="http://schemas.microsoft.com/office/drawing/2014/main" id="{2ED7ECA4-613E-0A13-2AC6-3D35E6FC683D}"/>
              </a:ext>
            </a:extLst>
          </p:cNvPr>
          <p:cNvSpPr txBox="1"/>
          <p:nvPr/>
        </p:nvSpPr>
        <p:spPr>
          <a:xfrm>
            <a:off x="415638" y="1095683"/>
            <a:ext cx="6026724" cy="3505062"/>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6.3  Implementation:</a:t>
            </a:r>
            <a:endParaRPr lang="en-IN"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from </a:t>
            </a:r>
            <a:r>
              <a:rPr lang="en-US" sz="1600" dirty="0" err="1">
                <a:latin typeface="Times New Roman" panose="02020603050405020304" pitchFamily="18" charset="0"/>
                <a:cs typeface="Times New Roman" panose="02020603050405020304" pitchFamily="18" charset="0"/>
              </a:rPr>
              <a:t>pathlib</a:t>
            </a:r>
            <a:r>
              <a:rPr lang="en-US" sz="1600" dirty="0">
                <a:latin typeface="Times New Roman" panose="02020603050405020304" pitchFamily="18" charset="0"/>
                <a:cs typeface="Times New Roman" panose="02020603050405020304" pitchFamily="18" charset="0"/>
              </a:rPr>
              <a:t> import Path</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LOG_PATH = Path('../Dataset/access.log')</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with open(LOG_PATH, 'r', encoding='utf-8', errors='ignore') as file:</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    logs = </a:t>
            </a:r>
            <a:r>
              <a:rPr lang="en-US" sz="1600" dirty="0" err="1">
                <a:latin typeface="Times New Roman" panose="02020603050405020304" pitchFamily="18" charset="0"/>
                <a:cs typeface="Times New Roman" panose="02020603050405020304" pitchFamily="18" charset="0"/>
              </a:rPr>
              <a:t>file.readlines</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print(</a:t>
            </a:r>
            <a:r>
              <a:rPr lang="en-US" sz="1600" dirty="0" err="1">
                <a:latin typeface="Times New Roman" panose="02020603050405020304" pitchFamily="18" charset="0"/>
                <a:cs typeface="Times New Roman" panose="02020603050405020304" pitchFamily="18" charset="0"/>
              </a:rPr>
              <a:t>f'Total</a:t>
            </a:r>
            <a:r>
              <a:rPr lang="en-US" sz="1600" dirty="0">
                <a:latin typeface="Times New Roman" panose="02020603050405020304" pitchFamily="18" charset="0"/>
                <a:cs typeface="Times New Roman" panose="02020603050405020304" pitchFamily="18" charset="0"/>
              </a:rPr>
              <a:t> lines loaded: {</a:t>
            </a:r>
            <a:r>
              <a:rPr lang="en-US" sz="1600" dirty="0" err="1">
                <a:latin typeface="Times New Roman" panose="02020603050405020304" pitchFamily="18" charset="0"/>
                <a:cs typeface="Times New Roman" panose="02020603050405020304" pitchFamily="18" charset="0"/>
              </a:rPr>
              <a:t>len</a:t>
            </a:r>
            <a:r>
              <a:rPr lang="en-US" sz="1600" dirty="0">
                <a:latin typeface="Times New Roman" panose="02020603050405020304" pitchFamily="18" charset="0"/>
                <a:cs typeface="Times New Roman" panose="02020603050405020304" pitchFamily="18" charset="0"/>
              </a:rPr>
              <a:t>(logs)}')</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 Output: Total lines loaded: 10,365,152</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6.4  Design Decisions:</a:t>
            </a:r>
            <a:endParaRPr lang="en-IN"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8D54291D-6D30-02DE-A8A8-A04247D377FE}"/>
              </a:ext>
            </a:extLst>
          </p:cNvPr>
          <p:cNvGraphicFramePr>
            <a:graphicFrameLocks noGrp="1"/>
          </p:cNvGraphicFramePr>
          <p:nvPr>
            <p:extLst>
              <p:ext uri="{D42A27DB-BD31-4B8C-83A1-F6EECF244321}">
                <p14:modId xmlns:p14="http://schemas.microsoft.com/office/powerpoint/2010/main" val="902844088"/>
              </p:ext>
            </p:extLst>
          </p:nvPr>
        </p:nvGraphicFramePr>
        <p:xfrm>
          <a:off x="415637" y="4584022"/>
          <a:ext cx="6026724" cy="1808353"/>
        </p:xfrm>
        <a:graphic>
          <a:graphicData uri="http://schemas.openxmlformats.org/drawingml/2006/table">
            <a:tbl>
              <a:tblPr firstRow="1" firstCol="1" bandRow="1">
                <a:tableStyleId>{3B4B98B0-60AC-42C2-AFA5-B58CD77FA1E5}</a:tableStyleId>
              </a:tblPr>
              <a:tblGrid>
                <a:gridCol w="3013362">
                  <a:extLst>
                    <a:ext uri="{9D8B030D-6E8A-4147-A177-3AD203B41FA5}">
                      <a16:colId xmlns:a16="http://schemas.microsoft.com/office/drawing/2014/main" val="1808060552"/>
                    </a:ext>
                  </a:extLst>
                </a:gridCol>
                <a:gridCol w="3013362">
                  <a:extLst>
                    <a:ext uri="{9D8B030D-6E8A-4147-A177-3AD203B41FA5}">
                      <a16:colId xmlns:a16="http://schemas.microsoft.com/office/drawing/2014/main" val="2951425324"/>
                    </a:ext>
                  </a:extLst>
                </a:gridCol>
              </a:tblGrid>
              <a:tr h="0">
                <a:tc>
                  <a:txBody>
                    <a:bodyPr/>
                    <a:lstStyle/>
                    <a:p>
                      <a:pPr algn="ctr">
                        <a:lnSpc>
                          <a:spcPct val="115000"/>
                        </a:lnSpc>
                        <a:spcAft>
                          <a:spcPts val="1000"/>
                        </a:spcAft>
                        <a:buNone/>
                      </a:pPr>
                      <a:r>
                        <a:rPr lang="en-US" sz="1200">
                          <a:effectLst/>
                          <a:latin typeface="Times New Roman" panose="02020603050405020304" pitchFamily="18" charset="0"/>
                          <a:cs typeface="Times New Roman" panose="02020603050405020304" pitchFamily="18" charset="0"/>
                        </a:rPr>
                        <a:t>Decision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latin typeface="Times New Roman" panose="02020603050405020304" pitchFamily="18" charset="0"/>
                          <a:cs typeface="Times New Roman" panose="02020603050405020304" pitchFamily="18" charset="0"/>
                        </a:rPr>
                        <a:t>Reason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730227945"/>
                  </a:ext>
                </a:extLst>
              </a:tr>
              <a:tr h="0">
                <a:tc>
                  <a:txBody>
                    <a:bodyPr/>
                    <a:lstStyle/>
                    <a:p>
                      <a:pPr>
                        <a:lnSpc>
                          <a:spcPct val="115000"/>
                        </a:lnSpc>
                        <a:spcAft>
                          <a:spcPts val="1000"/>
                        </a:spcAft>
                        <a:buNone/>
                      </a:pPr>
                      <a:r>
                        <a:rPr lang="en-US" sz="1200">
                          <a:effectLst/>
                          <a:latin typeface="Times New Roman" panose="02020603050405020304" pitchFamily="18" charset="0"/>
                          <a:cs typeface="Times New Roman" panose="02020603050405020304" pitchFamily="18" charset="0"/>
                        </a:rPr>
                        <a:t>encoding='utf-8'</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latin typeface="Times New Roman" panose="02020603050405020304" pitchFamily="18" charset="0"/>
                          <a:cs typeface="Times New Roman" panose="02020603050405020304" pitchFamily="18" charset="0"/>
                        </a:rPr>
                        <a:t>Apache logs are UTF-8; some non-ASCII characters may appear in URLs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731218009"/>
                  </a:ext>
                </a:extLst>
              </a:tr>
              <a:tr h="0">
                <a:tc>
                  <a:txBody>
                    <a:bodyPr/>
                    <a:lstStyle/>
                    <a:p>
                      <a:pPr>
                        <a:lnSpc>
                          <a:spcPct val="115000"/>
                        </a:lnSpc>
                        <a:spcAft>
                          <a:spcPts val="1000"/>
                        </a:spcAft>
                        <a:buNone/>
                      </a:pPr>
                      <a:r>
                        <a:rPr lang="en-US" sz="1200" dirty="0">
                          <a:effectLst/>
                          <a:latin typeface="Times New Roman" panose="02020603050405020304" pitchFamily="18" charset="0"/>
                          <a:cs typeface="Times New Roman" panose="02020603050405020304" pitchFamily="18" charset="0"/>
                        </a:rPr>
                        <a:t>errors='ignore'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latin typeface="Times New Roman" panose="02020603050405020304" pitchFamily="18" charset="0"/>
                          <a:cs typeface="Times New Roman" panose="02020603050405020304" pitchFamily="18" charset="0"/>
                        </a:rPr>
                        <a:t>Silently skips any bytes that cannot be decoded as UTF-8, preventing crashes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931435125"/>
                  </a:ext>
                </a:extLst>
              </a:tr>
              <a:tr h="0">
                <a:tc>
                  <a:txBody>
                    <a:bodyPr/>
                    <a:lstStyle/>
                    <a:p>
                      <a:pPr>
                        <a:lnSpc>
                          <a:spcPct val="115000"/>
                        </a:lnSpc>
                        <a:spcAft>
                          <a:spcPts val="1000"/>
                        </a:spcAft>
                        <a:buNone/>
                      </a:pPr>
                      <a:r>
                        <a:rPr lang="en-US" sz="1200">
                          <a:effectLst/>
                          <a:latin typeface="Times New Roman" panose="02020603050405020304" pitchFamily="18" charset="0"/>
                          <a:cs typeface="Times New Roman" panose="02020603050405020304" pitchFamily="18" charset="0"/>
                        </a:rPr>
                        <a:t>readlines()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latin typeface="Times New Roman" panose="02020603050405020304" pitchFamily="18" charset="0"/>
                          <a:cs typeface="Times New Roman" panose="02020603050405020304" pitchFamily="18" charset="0"/>
                        </a:rPr>
                        <a:t>Loads entire file into a Python list; each element is one raw log line as a string</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942729370"/>
                  </a:ext>
                </a:extLst>
              </a:tr>
              <a:tr h="0">
                <a:tc>
                  <a:txBody>
                    <a:bodyPr/>
                    <a:lstStyle/>
                    <a:p>
                      <a:pPr>
                        <a:lnSpc>
                          <a:spcPct val="115000"/>
                        </a:lnSpc>
                        <a:spcAft>
                          <a:spcPts val="1000"/>
                        </a:spcAft>
                        <a:buNone/>
                      </a:pPr>
                      <a:r>
                        <a:rPr lang="en-US" sz="1200" dirty="0" err="1">
                          <a:effectLst/>
                          <a:latin typeface="Times New Roman" panose="02020603050405020304" pitchFamily="18" charset="0"/>
                          <a:cs typeface="Times New Roman" panose="02020603050405020304" pitchFamily="18" charset="0"/>
                        </a:rPr>
                        <a:t>pathlib.Path</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latin typeface="Times New Roman" panose="02020603050405020304" pitchFamily="18" charset="0"/>
                          <a:cs typeface="Times New Roman" panose="02020603050405020304" pitchFamily="18" charset="0"/>
                        </a:rPr>
                        <a:t>Cross-platform file path handling (works on Windows and Linux)</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458416136"/>
                  </a:ext>
                </a:extLst>
              </a:tr>
            </a:tbl>
          </a:graphicData>
        </a:graphic>
      </p:graphicFrame>
      <p:sp>
        <p:nvSpPr>
          <p:cNvPr id="4" name="TextBox 3">
            <a:extLst>
              <a:ext uri="{FF2B5EF4-FFF2-40B4-BE49-F238E27FC236}">
                <a16:creationId xmlns:a16="http://schemas.microsoft.com/office/drawing/2014/main" id="{E6545659-3ADB-ADD7-9F1A-5A7C5C08BF0F}"/>
              </a:ext>
            </a:extLst>
          </p:cNvPr>
          <p:cNvSpPr txBox="1"/>
          <p:nvPr/>
        </p:nvSpPr>
        <p:spPr>
          <a:xfrm>
            <a:off x="363943" y="6449353"/>
            <a:ext cx="1383712"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6.5  Output:</a:t>
            </a:r>
            <a:endParaRPr lang="en-IN"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9DEB9D2C-B9C2-0D4E-670A-044C53613097}"/>
              </a:ext>
            </a:extLst>
          </p:cNvPr>
          <p:cNvGraphicFramePr>
            <a:graphicFrameLocks noGrp="1"/>
          </p:cNvGraphicFramePr>
          <p:nvPr>
            <p:extLst>
              <p:ext uri="{D42A27DB-BD31-4B8C-83A1-F6EECF244321}">
                <p14:modId xmlns:p14="http://schemas.microsoft.com/office/powerpoint/2010/main" val="1195390955"/>
              </p:ext>
            </p:extLst>
          </p:nvPr>
        </p:nvGraphicFramePr>
        <p:xfrm>
          <a:off x="415636" y="6891377"/>
          <a:ext cx="5985932" cy="1474350"/>
        </p:xfrm>
        <a:graphic>
          <a:graphicData uri="http://schemas.openxmlformats.org/drawingml/2006/table">
            <a:tbl>
              <a:tblPr firstRow="1" firstCol="1" bandRow="1">
                <a:tableStyleId>{3B4B98B0-60AC-42C2-AFA5-B58CD77FA1E5}</a:tableStyleId>
              </a:tblPr>
              <a:tblGrid>
                <a:gridCol w="2992966">
                  <a:extLst>
                    <a:ext uri="{9D8B030D-6E8A-4147-A177-3AD203B41FA5}">
                      <a16:colId xmlns:a16="http://schemas.microsoft.com/office/drawing/2014/main" val="3415497376"/>
                    </a:ext>
                  </a:extLst>
                </a:gridCol>
                <a:gridCol w="2992966">
                  <a:extLst>
                    <a:ext uri="{9D8B030D-6E8A-4147-A177-3AD203B41FA5}">
                      <a16:colId xmlns:a16="http://schemas.microsoft.com/office/drawing/2014/main" val="2295798368"/>
                    </a:ext>
                  </a:extLst>
                </a:gridCol>
              </a:tblGrid>
              <a:tr h="294870">
                <a:tc>
                  <a:txBody>
                    <a:bodyPr/>
                    <a:lstStyle/>
                    <a:p>
                      <a:pPr algn="ctr">
                        <a:lnSpc>
                          <a:spcPct val="115000"/>
                        </a:lnSpc>
                        <a:spcAft>
                          <a:spcPts val="1000"/>
                        </a:spcAft>
                        <a:buNone/>
                      </a:pPr>
                      <a:r>
                        <a:rPr lang="en-US" sz="1200">
                          <a:effectLst/>
                          <a:latin typeface="Times New Roman" panose="02020603050405020304" pitchFamily="18" charset="0"/>
                          <a:cs typeface="Times New Roman" panose="02020603050405020304" pitchFamily="18" charset="0"/>
                        </a:rPr>
                        <a:t>Property</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dirty="0">
                          <a:effectLst/>
                          <a:latin typeface="Times New Roman" panose="02020603050405020304" pitchFamily="18" charset="0"/>
                          <a:cs typeface="Times New Roman" panose="02020603050405020304" pitchFamily="18" charset="0"/>
                        </a:rPr>
                        <a:t>Value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788762422"/>
                  </a:ext>
                </a:extLst>
              </a:tr>
              <a:tr h="294870">
                <a:tc>
                  <a:txBody>
                    <a:bodyPr/>
                    <a:lstStyle/>
                    <a:p>
                      <a:pPr>
                        <a:lnSpc>
                          <a:spcPct val="115000"/>
                        </a:lnSpc>
                        <a:spcAft>
                          <a:spcPts val="1000"/>
                        </a:spcAft>
                        <a:buNone/>
                      </a:pPr>
                      <a:r>
                        <a:rPr lang="en-US" sz="1200">
                          <a:effectLst/>
                          <a:latin typeface="Times New Roman" panose="02020603050405020304" pitchFamily="18" charset="0"/>
                          <a:cs typeface="Times New Roman" panose="02020603050405020304" pitchFamily="18" charset="0"/>
                        </a:rPr>
                        <a:t>Variable Name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latin typeface="Times New Roman" panose="02020603050405020304" pitchFamily="18" charset="0"/>
                          <a:cs typeface="Times New Roman" panose="02020603050405020304" pitchFamily="18" charset="0"/>
                        </a:rPr>
                        <a:t>Logs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211612782"/>
                  </a:ext>
                </a:extLst>
              </a:tr>
              <a:tr h="294870">
                <a:tc>
                  <a:txBody>
                    <a:bodyPr/>
                    <a:lstStyle/>
                    <a:p>
                      <a:pPr>
                        <a:lnSpc>
                          <a:spcPct val="115000"/>
                        </a:lnSpc>
                        <a:spcAft>
                          <a:spcPts val="1000"/>
                        </a:spcAft>
                        <a:buNone/>
                      </a:pPr>
                      <a:r>
                        <a:rPr lang="en-US" sz="1200" dirty="0">
                          <a:effectLst/>
                          <a:latin typeface="Times New Roman" panose="02020603050405020304" pitchFamily="18" charset="0"/>
                          <a:cs typeface="Times New Roman" panose="02020603050405020304" pitchFamily="18" charset="0"/>
                        </a:rPr>
                        <a:t>Data Type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latin typeface="Times New Roman" panose="02020603050405020304" pitchFamily="18" charset="0"/>
                          <a:cs typeface="Times New Roman" panose="02020603050405020304" pitchFamily="18" charset="0"/>
                        </a:rPr>
                        <a:t>list[str]</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135624927"/>
                  </a:ext>
                </a:extLst>
              </a:tr>
              <a:tr h="294870">
                <a:tc>
                  <a:txBody>
                    <a:bodyPr/>
                    <a:lstStyle/>
                    <a:p>
                      <a:pPr>
                        <a:lnSpc>
                          <a:spcPct val="115000"/>
                        </a:lnSpc>
                        <a:spcAft>
                          <a:spcPts val="1000"/>
                        </a:spcAft>
                        <a:buNone/>
                      </a:pPr>
                      <a:r>
                        <a:rPr lang="en-US" sz="1200" dirty="0">
                          <a:effectLst/>
                          <a:latin typeface="Times New Roman" panose="02020603050405020304" pitchFamily="18" charset="0"/>
                          <a:cs typeface="Times New Roman" panose="02020603050405020304" pitchFamily="18" charset="0"/>
                        </a:rPr>
                        <a:t>Length</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latin typeface="Times New Roman" panose="02020603050405020304" pitchFamily="18" charset="0"/>
                          <a:cs typeface="Times New Roman" panose="02020603050405020304" pitchFamily="18" charset="0"/>
                        </a:rPr>
                        <a:t>10,365,152</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678073605"/>
                  </a:ext>
                </a:extLst>
              </a:tr>
              <a:tr h="294870">
                <a:tc>
                  <a:txBody>
                    <a:bodyPr/>
                    <a:lstStyle/>
                    <a:p>
                      <a:pPr>
                        <a:lnSpc>
                          <a:spcPct val="115000"/>
                        </a:lnSpc>
                        <a:spcAft>
                          <a:spcPts val="1000"/>
                        </a:spcAft>
                        <a:buNone/>
                      </a:pPr>
                      <a:r>
                        <a:rPr lang="en-US" sz="1200" dirty="0">
                          <a:effectLst/>
                          <a:latin typeface="Times New Roman" panose="02020603050405020304" pitchFamily="18" charset="0"/>
                          <a:cs typeface="Times New Roman" panose="02020603050405020304" pitchFamily="18" charset="0"/>
                        </a:rPr>
                        <a:t>RAM Usage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latin typeface="Times New Roman" panose="02020603050405020304" pitchFamily="18" charset="0"/>
                          <a:cs typeface="Times New Roman" panose="02020603050405020304" pitchFamily="18" charset="0"/>
                        </a:rPr>
                        <a:t>Approximately 4–6 GB</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482453372"/>
                  </a:ext>
                </a:extLst>
              </a:tr>
            </a:tbl>
          </a:graphicData>
        </a:graphic>
      </p:graphicFrame>
      <p:sp>
        <p:nvSpPr>
          <p:cNvPr id="9" name="TextBox 8">
            <a:extLst>
              <a:ext uri="{FF2B5EF4-FFF2-40B4-BE49-F238E27FC236}">
                <a16:creationId xmlns:a16="http://schemas.microsoft.com/office/drawing/2014/main" id="{0957132B-0823-9053-84E9-9EF13E01EEF8}"/>
              </a:ext>
            </a:extLst>
          </p:cNvPr>
          <p:cNvSpPr txBox="1"/>
          <p:nvPr/>
        </p:nvSpPr>
        <p:spPr>
          <a:xfrm>
            <a:off x="415636" y="8441998"/>
            <a:ext cx="6026725" cy="1202252"/>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6.6  Sample Raw Log Line:</a:t>
            </a:r>
            <a:endParaRPr lang="en-IN"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54.36.149.41 - - [22/Jan/2019:03:56:14 +0330]</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  "GET /image/60844/</a:t>
            </a:r>
            <a:r>
              <a:rPr lang="en-US" sz="1600" dirty="0" err="1">
                <a:latin typeface="Times New Roman" panose="02020603050405020304" pitchFamily="18" charset="0"/>
                <a:cs typeface="Times New Roman" panose="02020603050405020304" pitchFamily="18" charset="0"/>
              </a:rPr>
              <a:t>productModel</a:t>
            </a:r>
            <a:r>
              <a:rPr lang="en-US" sz="1600" dirty="0">
                <a:latin typeface="Times New Roman" panose="02020603050405020304" pitchFamily="18" charset="0"/>
                <a:cs typeface="Times New Roman" panose="02020603050405020304" pitchFamily="18" charset="0"/>
              </a:rPr>
              <a:t>/200x200 HTTP/1.1" 200 5667</a:t>
            </a:r>
            <a:endParaRPr lang="en-IN" sz="16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434CD738-B1A3-B0EC-5925-F49C7E3790DE}"/>
              </a:ext>
            </a:extLst>
          </p:cNvPr>
          <p:cNvSpPr txBox="1"/>
          <p:nvPr/>
        </p:nvSpPr>
        <p:spPr>
          <a:xfrm>
            <a:off x="6317673" y="11621185"/>
            <a:ext cx="349135" cy="369332"/>
          </a:xfrm>
          <a:prstGeom prst="rect">
            <a:avLst/>
          </a:prstGeom>
          <a:noFill/>
        </p:spPr>
        <p:txBody>
          <a:bodyPr wrap="square" rtlCol="0">
            <a:spAutoFit/>
          </a:bodyPr>
          <a:lstStyle/>
          <a:p>
            <a:r>
              <a:rPr lang="en-US" dirty="0"/>
              <a:t>5</a:t>
            </a:r>
            <a:endParaRPr lang="en-IN" dirty="0"/>
          </a:p>
        </p:txBody>
      </p:sp>
    </p:spTree>
    <p:extLst>
      <p:ext uri="{BB962C8B-B14F-4D97-AF65-F5344CB8AC3E}">
        <p14:creationId xmlns:p14="http://schemas.microsoft.com/office/powerpoint/2010/main" val="2637150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4D455-D0AF-A192-65D5-55BB096E35E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A7B010B-A646-0247-7EF2-9F69C2BFF9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B165DB06-715B-4817-26F5-289927C328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02E9A037-22EA-F241-1F07-12B16FE1D549}"/>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8C143E4D-8B5F-8D0A-302C-BBF913D2EC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93AA8073-F0E5-CC08-5635-B1C717F59D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B3965556-264C-0724-0008-8B2CD2E9CFE9}"/>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2" name="TextBox 1">
            <a:extLst>
              <a:ext uri="{FF2B5EF4-FFF2-40B4-BE49-F238E27FC236}">
                <a16:creationId xmlns:a16="http://schemas.microsoft.com/office/drawing/2014/main" id="{9C5BE0C8-012D-936A-D62B-CCEB802B0A4F}"/>
              </a:ext>
            </a:extLst>
          </p:cNvPr>
          <p:cNvSpPr txBox="1"/>
          <p:nvPr/>
        </p:nvSpPr>
        <p:spPr>
          <a:xfrm>
            <a:off x="415637" y="1057002"/>
            <a:ext cx="6026723" cy="6875215"/>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7. MODULE 2 — LOG PARSING</a:t>
            </a: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7.1  Purpose:</a:t>
            </a:r>
            <a:endParaRPr lang="en-IN"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Extract structured data fields from each raw log line using a Regular Expression (Regex) pattern. The goal is to convert unstructured text into a structured pandas </a:t>
            </a:r>
            <a:r>
              <a:rPr lang="en-US" sz="1600" dirty="0" err="1">
                <a:latin typeface="Times New Roman" panose="02020603050405020304" pitchFamily="18" charset="0"/>
                <a:cs typeface="Times New Roman" panose="02020603050405020304" pitchFamily="18" charset="0"/>
              </a:rPr>
              <a:t>DataFrame</a:t>
            </a:r>
            <a:r>
              <a:rPr lang="en-US" sz="1600" dirty="0">
                <a:latin typeface="Times New Roman" panose="02020603050405020304" pitchFamily="18" charset="0"/>
                <a:cs typeface="Times New Roman" panose="02020603050405020304" pitchFamily="18" charset="0"/>
              </a:rPr>
              <a:t> with clearly named columns.</a:t>
            </a:r>
            <a:endParaRPr lang="en-IN" sz="1600"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7.2  Apache Combined Log Format:</a:t>
            </a:r>
            <a:endParaRPr lang="en-IN"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Apache logs follow a fixed structure:</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IP - - [timestamp] "METHOD URL HTTP/version" </a:t>
            </a:r>
            <a:r>
              <a:rPr lang="en-US" sz="1600" dirty="0" err="1">
                <a:latin typeface="Times New Roman" panose="02020603050405020304" pitchFamily="18" charset="0"/>
                <a:cs typeface="Times New Roman" panose="02020603050405020304" pitchFamily="18" charset="0"/>
              </a:rPr>
              <a:t>status_code</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bytes_sent</a:t>
            </a:r>
            <a:endParaRPr lang="en-IN" sz="1600"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7.3  Regex Pattern:</a:t>
            </a:r>
            <a:endParaRPr lang="en-IN"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import re</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err="1">
                <a:latin typeface="Times New Roman" panose="02020603050405020304" pitchFamily="18" charset="0"/>
                <a:cs typeface="Times New Roman" panose="02020603050405020304" pitchFamily="18" charset="0"/>
              </a:rPr>
              <a:t>log_pattern</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re.compile</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    r'(\S+) - - \[(.*?)\]</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     "(GET|POST|PUT|DELETE|HEAD|OPTIONS|PATCH) (.*?) HTTP.*?" (\d{3}) (\d+)’)</a:t>
            </a:r>
            <a:endParaRPr lang="en-IN" sz="1600"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7.4  Capture Group Breakdown:</a:t>
            </a:r>
          </a:p>
        </p:txBody>
      </p:sp>
      <p:graphicFrame>
        <p:nvGraphicFramePr>
          <p:cNvPr id="3" name="Table 2">
            <a:extLst>
              <a:ext uri="{FF2B5EF4-FFF2-40B4-BE49-F238E27FC236}">
                <a16:creationId xmlns:a16="http://schemas.microsoft.com/office/drawing/2014/main" id="{0AF467D3-7D20-A749-4478-06790B66219D}"/>
              </a:ext>
            </a:extLst>
          </p:cNvPr>
          <p:cNvGraphicFramePr>
            <a:graphicFrameLocks noGrp="1"/>
          </p:cNvGraphicFramePr>
          <p:nvPr>
            <p:extLst>
              <p:ext uri="{D42A27DB-BD31-4B8C-83A1-F6EECF244321}">
                <p14:modId xmlns:p14="http://schemas.microsoft.com/office/powerpoint/2010/main" val="1469719220"/>
              </p:ext>
            </p:extLst>
          </p:nvPr>
        </p:nvGraphicFramePr>
        <p:xfrm>
          <a:off x="415636" y="7774101"/>
          <a:ext cx="6026724" cy="3597712"/>
        </p:xfrm>
        <a:graphic>
          <a:graphicData uri="http://schemas.openxmlformats.org/drawingml/2006/table">
            <a:tbl>
              <a:tblPr firstRow="1" firstCol="1" bandRow="1">
                <a:tableStyleId>{3B4B98B0-60AC-42C2-AFA5-B58CD77FA1E5}</a:tableStyleId>
              </a:tblPr>
              <a:tblGrid>
                <a:gridCol w="1506681">
                  <a:extLst>
                    <a:ext uri="{9D8B030D-6E8A-4147-A177-3AD203B41FA5}">
                      <a16:colId xmlns:a16="http://schemas.microsoft.com/office/drawing/2014/main" val="3837701173"/>
                    </a:ext>
                  </a:extLst>
                </a:gridCol>
                <a:gridCol w="1506681">
                  <a:extLst>
                    <a:ext uri="{9D8B030D-6E8A-4147-A177-3AD203B41FA5}">
                      <a16:colId xmlns:a16="http://schemas.microsoft.com/office/drawing/2014/main" val="3013973111"/>
                    </a:ext>
                  </a:extLst>
                </a:gridCol>
                <a:gridCol w="1506681">
                  <a:extLst>
                    <a:ext uri="{9D8B030D-6E8A-4147-A177-3AD203B41FA5}">
                      <a16:colId xmlns:a16="http://schemas.microsoft.com/office/drawing/2014/main" val="3319488130"/>
                    </a:ext>
                  </a:extLst>
                </a:gridCol>
                <a:gridCol w="1506681">
                  <a:extLst>
                    <a:ext uri="{9D8B030D-6E8A-4147-A177-3AD203B41FA5}">
                      <a16:colId xmlns:a16="http://schemas.microsoft.com/office/drawing/2014/main" val="2923369731"/>
                    </a:ext>
                  </a:extLst>
                </a:gridCol>
              </a:tblGrid>
              <a:tr h="208814">
                <a:tc>
                  <a:txBody>
                    <a:bodyPr/>
                    <a:lstStyle/>
                    <a:p>
                      <a:pPr algn="ctr">
                        <a:lnSpc>
                          <a:spcPct val="100000"/>
                        </a:lnSpc>
                        <a:spcAft>
                          <a:spcPts val="1000"/>
                        </a:spcAft>
                        <a:buNone/>
                      </a:pPr>
                      <a:r>
                        <a:rPr lang="en-US" sz="1200">
                          <a:effectLst/>
                          <a:latin typeface="Times New Roman" panose="02020603050405020304" pitchFamily="18" charset="0"/>
                          <a:cs typeface="Times New Roman" panose="02020603050405020304" pitchFamily="18" charset="0"/>
                        </a:rPr>
                        <a:t>Group</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00000"/>
                        </a:lnSpc>
                        <a:spcAft>
                          <a:spcPts val="1000"/>
                        </a:spcAft>
                        <a:buNone/>
                      </a:pPr>
                      <a:r>
                        <a:rPr lang="en-US" sz="1200">
                          <a:effectLst/>
                          <a:latin typeface="Times New Roman" panose="02020603050405020304" pitchFamily="18" charset="0"/>
                          <a:cs typeface="Times New Roman" panose="02020603050405020304" pitchFamily="18" charset="0"/>
                        </a:rPr>
                        <a:t>Field Captured</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00000"/>
                        </a:lnSpc>
                        <a:spcAft>
                          <a:spcPts val="1000"/>
                        </a:spcAft>
                        <a:buNone/>
                      </a:pPr>
                      <a:r>
                        <a:rPr lang="en-US" sz="1200">
                          <a:effectLst/>
                          <a:latin typeface="Times New Roman" panose="02020603050405020304" pitchFamily="18" charset="0"/>
                          <a:cs typeface="Times New Roman" panose="02020603050405020304" pitchFamily="18" charset="0"/>
                        </a:rPr>
                        <a:t>Regex Component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00000"/>
                        </a:lnSpc>
                        <a:spcAft>
                          <a:spcPts val="1000"/>
                        </a:spcAft>
                        <a:buNone/>
                      </a:pPr>
                      <a:r>
                        <a:rPr lang="en-US" sz="1200">
                          <a:effectLst/>
                          <a:latin typeface="Times New Roman" panose="02020603050405020304" pitchFamily="18" charset="0"/>
                          <a:cs typeface="Times New Roman" panose="02020603050405020304" pitchFamily="18" charset="0"/>
                        </a:rPr>
                        <a:t>Explanation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29209996"/>
                  </a:ext>
                </a:extLst>
              </a:tr>
              <a:tr h="683975">
                <a:tc>
                  <a:txBody>
                    <a:bodyPr/>
                    <a:lstStyle/>
                    <a:p>
                      <a:pPr>
                        <a:lnSpc>
                          <a:spcPct val="100000"/>
                        </a:lnSpc>
                        <a:spcAft>
                          <a:spcPts val="1000"/>
                        </a:spcAft>
                        <a:buNone/>
                      </a:pPr>
                      <a:r>
                        <a:rPr lang="en-US" sz="1200">
                          <a:effectLst/>
                          <a:latin typeface="Times New Roman" panose="02020603050405020304" pitchFamily="18" charset="0"/>
                          <a:cs typeface="Times New Roman" panose="02020603050405020304" pitchFamily="18" charset="0"/>
                        </a:rPr>
                        <a:t>Group 1</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latin typeface="Times New Roman" panose="02020603050405020304" pitchFamily="18" charset="0"/>
                          <a:cs typeface="Times New Roman" panose="02020603050405020304" pitchFamily="18" charset="0"/>
                        </a:rPr>
                        <a:t>ip</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dirty="0">
                          <a:effectLst/>
                          <a:latin typeface="Times New Roman" panose="02020603050405020304" pitchFamily="18" charset="0"/>
                          <a:cs typeface="Times New Roman" panose="02020603050405020304" pitchFamily="18" charset="0"/>
                        </a:rPr>
                        <a:t>(\S+)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latin typeface="Times New Roman" panose="02020603050405020304" pitchFamily="18" charset="0"/>
                          <a:cs typeface="Times New Roman" panose="02020603050405020304" pitchFamily="18" charset="0"/>
                        </a:rPr>
                        <a:t>One or more non-whitespace characters (IP address)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825571586"/>
                  </a:ext>
                </a:extLst>
              </a:tr>
              <a:tr h="683343">
                <a:tc>
                  <a:txBody>
                    <a:bodyPr/>
                    <a:lstStyle/>
                    <a:p>
                      <a:pPr>
                        <a:lnSpc>
                          <a:spcPct val="100000"/>
                        </a:lnSpc>
                        <a:spcAft>
                          <a:spcPts val="1000"/>
                        </a:spcAft>
                        <a:buNone/>
                      </a:pPr>
                      <a:r>
                        <a:rPr lang="en-US" sz="1200">
                          <a:effectLst/>
                          <a:latin typeface="Times New Roman" panose="02020603050405020304" pitchFamily="18" charset="0"/>
                          <a:cs typeface="Times New Roman" panose="02020603050405020304" pitchFamily="18" charset="0"/>
                        </a:rPr>
                        <a:t>Group 2</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latin typeface="Times New Roman" panose="02020603050405020304" pitchFamily="18" charset="0"/>
                          <a:cs typeface="Times New Roman" panose="02020603050405020304" pitchFamily="18" charset="0"/>
                        </a:rPr>
                        <a:t>timestamp</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latin typeface="Times New Roman" panose="02020603050405020304" pitchFamily="18" charset="0"/>
                          <a:cs typeface="Times New Roman" panose="02020603050405020304" pitchFamily="18" charset="0"/>
                        </a:rPr>
                        <a: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latin typeface="Times New Roman" panose="02020603050405020304" pitchFamily="18" charset="0"/>
                          <a:cs typeface="Times New Roman" panose="02020603050405020304" pitchFamily="18" charset="0"/>
                        </a:rPr>
                        <a:t>Any characters between square brackets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638316414"/>
                  </a:ext>
                </a:extLst>
              </a:tr>
              <a:tr h="446079">
                <a:tc>
                  <a:txBody>
                    <a:bodyPr/>
                    <a:lstStyle/>
                    <a:p>
                      <a:pPr>
                        <a:lnSpc>
                          <a:spcPct val="100000"/>
                        </a:lnSpc>
                        <a:spcAft>
                          <a:spcPts val="1000"/>
                        </a:spcAft>
                        <a:buNone/>
                      </a:pPr>
                      <a:r>
                        <a:rPr lang="en-US" sz="1200">
                          <a:effectLst/>
                          <a:latin typeface="Times New Roman" panose="02020603050405020304" pitchFamily="18" charset="0"/>
                          <a:cs typeface="Times New Roman" panose="02020603050405020304" pitchFamily="18" charset="0"/>
                        </a:rPr>
                        <a:t>Group 3</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dirty="0">
                          <a:effectLst/>
                          <a:latin typeface="Times New Roman" panose="02020603050405020304" pitchFamily="18" charset="0"/>
                          <a:cs typeface="Times New Roman" panose="02020603050405020304" pitchFamily="18" charset="0"/>
                        </a:rPr>
                        <a:t>method</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dirty="0">
                          <a:effectLst/>
                          <a:latin typeface="Times New Roman" panose="02020603050405020304" pitchFamily="18" charset="0"/>
                          <a:cs typeface="Times New Roman" panose="02020603050405020304" pitchFamily="18" charset="0"/>
                        </a:rPr>
                        <a:t>(GET|POST|...)</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dirty="0">
                          <a:effectLst/>
                          <a:latin typeface="Times New Roman" panose="02020603050405020304" pitchFamily="18" charset="0"/>
                          <a:cs typeface="Times New Roman" panose="02020603050405020304" pitchFamily="18" charset="0"/>
                        </a:rPr>
                        <a:t>Literal HTTP method words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421453253"/>
                  </a:ext>
                </a:extLst>
              </a:tr>
              <a:tr h="446079">
                <a:tc>
                  <a:txBody>
                    <a:bodyPr/>
                    <a:lstStyle/>
                    <a:p>
                      <a:pPr>
                        <a:lnSpc>
                          <a:spcPct val="100000"/>
                        </a:lnSpc>
                        <a:spcAft>
                          <a:spcPts val="1000"/>
                        </a:spcAft>
                        <a:buNone/>
                      </a:pPr>
                      <a:r>
                        <a:rPr lang="en-US" sz="1200">
                          <a:effectLst/>
                          <a:latin typeface="Times New Roman" panose="02020603050405020304" pitchFamily="18" charset="0"/>
                          <a:cs typeface="Times New Roman" panose="02020603050405020304" pitchFamily="18" charset="0"/>
                        </a:rPr>
                        <a:t>Group 4</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dirty="0" err="1">
                          <a:effectLst/>
                          <a:latin typeface="Times New Roman" panose="02020603050405020304" pitchFamily="18" charset="0"/>
                          <a:cs typeface="Times New Roman" panose="02020603050405020304" pitchFamily="18" charset="0"/>
                        </a:rPr>
                        <a:t>url</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latin typeface="Times New Roman" panose="02020603050405020304" pitchFamily="18" charset="0"/>
                          <a:cs typeface="Times New Roman" panose="02020603050405020304" pitchFamily="18" charset="0"/>
                        </a:rPr>
                        <a: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dirty="0">
                          <a:effectLst/>
                          <a:latin typeface="Times New Roman" panose="02020603050405020304" pitchFamily="18" charset="0"/>
                          <a:cs typeface="Times New Roman" panose="02020603050405020304" pitchFamily="18" charset="0"/>
                        </a:rPr>
                        <a:t>Lazy match for the request URL path</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209199816"/>
                  </a:ext>
                </a:extLst>
              </a:tr>
              <a:tr h="446079">
                <a:tc>
                  <a:txBody>
                    <a:bodyPr/>
                    <a:lstStyle/>
                    <a:p>
                      <a:pPr>
                        <a:lnSpc>
                          <a:spcPct val="100000"/>
                        </a:lnSpc>
                        <a:spcAft>
                          <a:spcPts val="1000"/>
                        </a:spcAft>
                        <a:buNone/>
                      </a:pPr>
                      <a:r>
                        <a:rPr lang="en-US" sz="1200">
                          <a:effectLst/>
                          <a:latin typeface="Times New Roman" panose="02020603050405020304" pitchFamily="18" charset="0"/>
                          <a:cs typeface="Times New Roman" panose="02020603050405020304" pitchFamily="18" charset="0"/>
                        </a:rPr>
                        <a:t>Group 5</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latin typeface="Times New Roman" panose="02020603050405020304" pitchFamily="18" charset="0"/>
                          <a:cs typeface="Times New Roman" panose="02020603050405020304" pitchFamily="18" charset="0"/>
                        </a:rPr>
                        <a:t>status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latin typeface="Times New Roman" panose="02020603050405020304" pitchFamily="18" charset="0"/>
                          <a:cs typeface="Times New Roman" panose="02020603050405020304" pitchFamily="18" charset="0"/>
                        </a:rPr>
                        <a:t>(\d{3})</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dirty="0">
                          <a:effectLst/>
                          <a:latin typeface="Times New Roman" panose="02020603050405020304" pitchFamily="18" charset="0"/>
                          <a:cs typeface="Times New Roman" panose="02020603050405020304" pitchFamily="18" charset="0"/>
                        </a:rPr>
                        <a:t>Exactly 3 digits (HTTP status code)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984258769"/>
                  </a:ext>
                </a:extLst>
              </a:tr>
              <a:tr h="683343">
                <a:tc>
                  <a:txBody>
                    <a:bodyPr/>
                    <a:lstStyle/>
                    <a:p>
                      <a:pPr>
                        <a:lnSpc>
                          <a:spcPct val="100000"/>
                        </a:lnSpc>
                        <a:spcAft>
                          <a:spcPts val="1000"/>
                        </a:spcAft>
                        <a:buNone/>
                      </a:pPr>
                      <a:r>
                        <a:rPr lang="en-US" sz="1200" dirty="0">
                          <a:effectLst/>
                          <a:latin typeface="Times New Roman" panose="02020603050405020304" pitchFamily="18" charset="0"/>
                          <a:cs typeface="Times New Roman" panose="02020603050405020304" pitchFamily="18" charset="0"/>
                        </a:rPr>
                        <a:t>Group 6</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dirty="0">
                          <a:effectLst/>
                          <a:latin typeface="Times New Roman" panose="02020603050405020304" pitchFamily="18" charset="0"/>
                          <a:cs typeface="Times New Roman" panose="02020603050405020304" pitchFamily="18" charset="0"/>
                        </a:rPr>
                        <a:t>bytes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dirty="0">
                          <a:effectLst/>
                          <a:latin typeface="Times New Roman" panose="02020603050405020304" pitchFamily="18" charset="0"/>
                          <a:cs typeface="Times New Roman" panose="02020603050405020304" pitchFamily="18" charset="0"/>
                        </a:rPr>
                        <a:t>(\d+)</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dirty="0">
                          <a:effectLst/>
                          <a:latin typeface="Times New Roman" panose="02020603050405020304" pitchFamily="18" charset="0"/>
                          <a:cs typeface="Times New Roman" panose="02020603050405020304" pitchFamily="18" charset="0"/>
                        </a:rPr>
                        <a:t>One or more digits (response size in bytes)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142247157"/>
                  </a:ext>
                </a:extLst>
              </a:tr>
            </a:tbl>
          </a:graphicData>
        </a:graphic>
      </p:graphicFrame>
      <p:sp>
        <p:nvSpPr>
          <p:cNvPr id="4" name="TextBox 3">
            <a:extLst>
              <a:ext uri="{FF2B5EF4-FFF2-40B4-BE49-F238E27FC236}">
                <a16:creationId xmlns:a16="http://schemas.microsoft.com/office/drawing/2014/main" id="{B75C508D-DFC8-8CC7-6A98-420F8349D221}"/>
              </a:ext>
            </a:extLst>
          </p:cNvPr>
          <p:cNvSpPr txBox="1"/>
          <p:nvPr/>
        </p:nvSpPr>
        <p:spPr>
          <a:xfrm>
            <a:off x="6367692" y="11603883"/>
            <a:ext cx="266008" cy="369332"/>
          </a:xfrm>
          <a:prstGeom prst="rect">
            <a:avLst/>
          </a:prstGeom>
          <a:noFill/>
        </p:spPr>
        <p:txBody>
          <a:bodyPr wrap="square" rtlCol="0">
            <a:spAutoFit/>
          </a:bodyPr>
          <a:lstStyle/>
          <a:p>
            <a:r>
              <a:rPr lang="en-US" dirty="0"/>
              <a:t>6</a:t>
            </a:r>
            <a:endParaRPr lang="en-IN" dirty="0"/>
          </a:p>
        </p:txBody>
      </p:sp>
    </p:spTree>
    <p:extLst>
      <p:ext uri="{BB962C8B-B14F-4D97-AF65-F5344CB8AC3E}">
        <p14:creationId xmlns:p14="http://schemas.microsoft.com/office/powerpoint/2010/main" val="2822041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7913C-18FF-C600-DCC0-A720CFDC3A3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3365268-FBAA-EDF8-B432-C326A6FFE2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8ED3F7DB-55CF-B592-E5FD-C54009CF35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B166C3CD-604D-D431-5102-B4B6E05D7665}"/>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E53764C7-13AE-7DFA-CBF9-445A3042DA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F7C20833-C9D2-E388-292D-A610DAB97E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38654337-217D-F57A-1712-2FB4CB6E3927}"/>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2" name="TextBox 1">
            <a:extLst>
              <a:ext uri="{FF2B5EF4-FFF2-40B4-BE49-F238E27FC236}">
                <a16:creationId xmlns:a16="http://schemas.microsoft.com/office/drawing/2014/main" id="{057F0C72-0313-1469-33ED-6CC7EFCC23AE}"/>
              </a:ext>
            </a:extLst>
          </p:cNvPr>
          <p:cNvSpPr txBox="1"/>
          <p:nvPr/>
        </p:nvSpPr>
        <p:spPr>
          <a:xfrm>
            <a:off x="415637" y="1043192"/>
            <a:ext cx="6026725" cy="4566891"/>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7.5  Parsing Logic</a:t>
            </a:r>
            <a:endParaRPr lang="en-IN"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records = []</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err="1">
                <a:latin typeface="Times New Roman" panose="02020603050405020304" pitchFamily="18" charset="0"/>
                <a:cs typeface="Times New Roman" panose="02020603050405020304" pitchFamily="18" charset="0"/>
              </a:rPr>
              <a:t>failed_count</a:t>
            </a:r>
            <a:r>
              <a:rPr lang="en-US" sz="1600" dirty="0">
                <a:latin typeface="Times New Roman" panose="02020603050405020304" pitchFamily="18" charset="0"/>
                <a:cs typeface="Times New Roman" panose="02020603050405020304" pitchFamily="18" charset="0"/>
              </a:rPr>
              <a:t> = 0</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for line in logs:</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    match = </a:t>
            </a:r>
            <a:r>
              <a:rPr lang="en-US" sz="1600" dirty="0" err="1">
                <a:latin typeface="Times New Roman" panose="02020603050405020304" pitchFamily="18" charset="0"/>
                <a:cs typeface="Times New Roman" panose="02020603050405020304" pitchFamily="18" charset="0"/>
              </a:rPr>
              <a:t>log_pattern.search</a:t>
            </a:r>
            <a:r>
              <a:rPr lang="en-US" sz="1600" dirty="0">
                <a:latin typeface="Times New Roman" panose="02020603050405020304" pitchFamily="18" charset="0"/>
                <a:cs typeface="Times New Roman" panose="02020603050405020304" pitchFamily="18" charset="0"/>
              </a:rPr>
              <a:t>(line)</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    if match:</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records.append</a:t>
            </a:r>
            <a:r>
              <a:rPr lang="en-US" sz="1600" dirty="0">
                <a:latin typeface="Times New Roman" panose="02020603050405020304" pitchFamily="18" charset="0"/>
                <a:cs typeface="Times New Roman" panose="02020603050405020304" pitchFamily="18" charset="0"/>
              </a:rPr>
              <a:t>(list(</a:t>
            </a:r>
            <a:r>
              <a:rPr lang="en-US" sz="1600" dirty="0" err="1">
                <a:latin typeface="Times New Roman" panose="02020603050405020304" pitchFamily="18" charset="0"/>
                <a:cs typeface="Times New Roman" panose="02020603050405020304" pitchFamily="18" charset="0"/>
              </a:rPr>
              <a:t>match.groups</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    else:</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failed_count</a:t>
            </a:r>
            <a:r>
              <a:rPr lang="en-US" sz="1600" dirty="0">
                <a:latin typeface="Times New Roman" panose="02020603050405020304" pitchFamily="18" charset="0"/>
                <a:cs typeface="Times New Roman" panose="02020603050405020304" pitchFamily="18" charset="0"/>
              </a:rPr>
              <a:t> += 1</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print(</a:t>
            </a:r>
            <a:r>
              <a:rPr lang="en-US" sz="1600" dirty="0" err="1">
                <a:latin typeface="Times New Roman" panose="02020603050405020304" pitchFamily="18" charset="0"/>
                <a:cs typeface="Times New Roman" panose="02020603050405020304" pitchFamily="18" charset="0"/>
              </a:rPr>
              <a:t>f'Successfully</a:t>
            </a:r>
            <a:r>
              <a:rPr lang="en-US" sz="1600" dirty="0">
                <a:latin typeface="Times New Roman" panose="02020603050405020304" pitchFamily="18" charset="0"/>
                <a:cs typeface="Times New Roman" panose="02020603050405020304" pitchFamily="18" charset="0"/>
              </a:rPr>
              <a:t> parsed: {</a:t>
            </a:r>
            <a:r>
              <a:rPr lang="en-US" sz="1600" dirty="0" err="1">
                <a:latin typeface="Times New Roman" panose="02020603050405020304" pitchFamily="18" charset="0"/>
                <a:cs typeface="Times New Roman" panose="02020603050405020304" pitchFamily="18" charset="0"/>
              </a:rPr>
              <a:t>len</a:t>
            </a:r>
            <a:r>
              <a:rPr lang="en-US" sz="1600" dirty="0">
                <a:latin typeface="Times New Roman" panose="02020603050405020304" pitchFamily="18" charset="0"/>
                <a:cs typeface="Times New Roman" panose="02020603050405020304" pitchFamily="18" charset="0"/>
              </a:rPr>
              <a:t>(records)}')  # 10,363,637</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print(</a:t>
            </a:r>
            <a:r>
              <a:rPr lang="en-US" sz="1600" dirty="0" err="1">
                <a:latin typeface="Times New Roman" panose="02020603050405020304" pitchFamily="18" charset="0"/>
                <a:cs typeface="Times New Roman" panose="02020603050405020304" pitchFamily="18" charset="0"/>
              </a:rPr>
              <a:t>f'Failed</a:t>
            </a:r>
            <a:r>
              <a:rPr lang="en-US" sz="1600" dirty="0">
                <a:latin typeface="Times New Roman" panose="02020603050405020304" pitchFamily="18" charset="0"/>
                <a:cs typeface="Times New Roman" panose="02020603050405020304" pitchFamily="18" charset="0"/>
              </a:rPr>
              <a:t> to parse:     {</a:t>
            </a:r>
            <a:r>
              <a:rPr lang="en-US" sz="1600" dirty="0" err="1">
                <a:latin typeface="Times New Roman" panose="02020603050405020304" pitchFamily="18" charset="0"/>
                <a:cs typeface="Times New Roman" panose="02020603050405020304" pitchFamily="18" charset="0"/>
              </a:rPr>
              <a:t>failed_count</a:t>
            </a:r>
            <a:r>
              <a:rPr lang="en-US" sz="1600" dirty="0">
                <a:latin typeface="Times New Roman" panose="02020603050405020304" pitchFamily="18" charset="0"/>
                <a:cs typeface="Times New Roman" panose="02020603050405020304" pitchFamily="18" charset="0"/>
              </a:rPr>
              <a:t>}')   # 1,515</a:t>
            </a:r>
          </a:p>
          <a:p>
            <a:pPr>
              <a:lnSpc>
                <a:spcPct val="150000"/>
              </a:lnSpc>
            </a:pPr>
            <a:r>
              <a:rPr lang="en-US" b="1" dirty="0">
                <a:latin typeface="Times New Roman" panose="02020603050405020304" pitchFamily="18" charset="0"/>
                <a:cs typeface="Times New Roman" panose="02020603050405020304" pitchFamily="18" charset="0"/>
              </a:rPr>
              <a:t>7.6  Parse Statistics</a:t>
            </a:r>
            <a:r>
              <a:rPr lang="en-IN" b="1"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4F501A4C-3C08-D368-0434-35EB88D33250}"/>
              </a:ext>
            </a:extLst>
          </p:cNvPr>
          <p:cNvGraphicFramePr>
            <a:graphicFrameLocks noGrp="1"/>
          </p:cNvGraphicFramePr>
          <p:nvPr>
            <p:extLst>
              <p:ext uri="{D42A27DB-BD31-4B8C-83A1-F6EECF244321}">
                <p14:modId xmlns:p14="http://schemas.microsoft.com/office/powerpoint/2010/main" val="689630648"/>
              </p:ext>
            </p:extLst>
          </p:nvPr>
        </p:nvGraphicFramePr>
        <p:xfrm>
          <a:off x="415637" y="5677018"/>
          <a:ext cx="6026724" cy="1696085"/>
        </p:xfrm>
        <a:graphic>
          <a:graphicData uri="http://schemas.openxmlformats.org/drawingml/2006/table">
            <a:tbl>
              <a:tblPr firstRow="1" firstCol="1" bandRow="1">
                <a:tableStyleId>{3B4B98B0-60AC-42C2-AFA5-B58CD77FA1E5}</a:tableStyleId>
              </a:tblPr>
              <a:tblGrid>
                <a:gridCol w="3013362">
                  <a:extLst>
                    <a:ext uri="{9D8B030D-6E8A-4147-A177-3AD203B41FA5}">
                      <a16:colId xmlns:a16="http://schemas.microsoft.com/office/drawing/2014/main" val="3823730244"/>
                    </a:ext>
                  </a:extLst>
                </a:gridCol>
                <a:gridCol w="3013362">
                  <a:extLst>
                    <a:ext uri="{9D8B030D-6E8A-4147-A177-3AD203B41FA5}">
                      <a16:colId xmlns:a16="http://schemas.microsoft.com/office/drawing/2014/main" val="2364269195"/>
                    </a:ext>
                  </a:extLst>
                </a:gridCol>
              </a:tblGrid>
              <a:tr h="339217">
                <a:tc>
                  <a:txBody>
                    <a:bodyPr/>
                    <a:lstStyle/>
                    <a:p>
                      <a:pPr algn="ctr">
                        <a:lnSpc>
                          <a:spcPct val="150000"/>
                        </a:lnSpc>
                        <a:spcAft>
                          <a:spcPts val="1000"/>
                        </a:spcAft>
                        <a:buNone/>
                      </a:pPr>
                      <a:r>
                        <a:rPr lang="en-US" sz="1200">
                          <a:effectLst/>
                          <a:latin typeface="Times New Roman" panose="02020603050405020304" pitchFamily="18" charset="0"/>
                          <a:cs typeface="Times New Roman" panose="02020603050405020304" pitchFamily="18" charset="0"/>
                        </a:rPr>
                        <a:t>Metric</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dirty="0">
                          <a:effectLst/>
                          <a:latin typeface="Times New Roman" panose="02020603050405020304" pitchFamily="18" charset="0"/>
                          <a:cs typeface="Times New Roman" panose="02020603050405020304" pitchFamily="18" charset="0"/>
                        </a:rPr>
                        <a:t>Value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905578625"/>
                  </a:ext>
                </a:extLst>
              </a:tr>
              <a:tr h="339217">
                <a:tc>
                  <a:txBody>
                    <a:bodyPr/>
                    <a:lstStyle/>
                    <a:p>
                      <a:pPr>
                        <a:lnSpc>
                          <a:spcPct val="150000"/>
                        </a:lnSpc>
                        <a:spcAft>
                          <a:spcPts val="1000"/>
                        </a:spcAft>
                        <a:buNone/>
                      </a:pPr>
                      <a:r>
                        <a:rPr lang="en-US" sz="1200">
                          <a:effectLst/>
                          <a:latin typeface="Times New Roman" panose="02020603050405020304" pitchFamily="18" charset="0"/>
                          <a:cs typeface="Times New Roman" panose="02020603050405020304" pitchFamily="18" charset="0"/>
                        </a:rPr>
                        <a:t>Total lines input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latin typeface="Times New Roman" panose="02020603050405020304" pitchFamily="18" charset="0"/>
                          <a:cs typeface="Times New Roman" panose="02020603050405020304" pitchFamily="18" charset="0"/>
                        </a:rPr>
                        <a:t>10,365,152</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269240731"/>
                  </a:ext>
                </a:extLst>
              </a:tr>
              <a:tr h="339217">
                <a:tc>
                  <a:txBody>
                    <a:bodyPr/>
                    <a:lstStyle/>
                    <a:p>
                      <a:pPr>
                        <a:lnSpc>
                          <a:spcPct val="150000"/>
                        </a:lnSpc>
                        <a:spcAft>
                          <a:spcPts val="1000"/>
                        </a:spcAft>
                        <a:buNone/>
                      </a:pPr>
                      <a:r>
                        <a:rPr lang="en-US" sz="1200" dirty="0">
                          <a:effectLst/>
                          <a:latin typeface="Times New Roman" panose="02020603050405020304" pitchFamily="18" charset="0"/>
                          <a:cs typeface="Times New Roman" panose="02020603050405020304" pitchFamily="18" charset="0"/>
                        </a:rPr>
                        <a:t>Successfully parsed</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latin typeface="Times New Roman" panose="02020603050405020304" pitchFamily="18" charset="0"/>
                          <a:cs typeface="Times New Roman" panose="02020603050405020304" pitchFamily="18" charset="0"/>
                        </a:rPr>
                        <a:t>10,363,637</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799444257"/>
                  </a:ext>
                </a:extLst>
              </a:tr>
              <a:tr h="339217">
                <a:tc>
                  <a:txBody>
                    <a:bodyPr/>
                    <a:lstStyle/>
                    <a:p>
                      <a:pPr>
                        <a:lnSpc>
                          <a:spcPct val="150000"/>
                        </a:lnSpc>
                        <a:spcAft>
                          <a:spcPts val="1000"/>
                        </a:spcAft>
                        <a:buNone/>
                      </a:pPr>
                      <a:r>
                        <a:rPr lang="en-US" sz="1200" dirty="0">
                          <a:effectLst/>
                          <a:latin typeface="Times New Roman" panose="02020603050405020304" pitchFamily="18" charset="0"/>
                          <a:cs typeface="Times New Roman" panose="02020603050405020304" pitchFamily="18" charset="0"/>
                        </a:rPr>
                        <a:t>Failed / skipped</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latin typeface="Times New Roman" panose="02020603050405020304" pitchFamily="18" charset="0"/>
                          <a:cs typeface="Times New Roman" panose="02020603050405020304" pitchFamily="18" charset="0"/>
                        </a:rPr>
                        <a:t>1,515</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706869093"/>
                  </a:ext>
                </a:extLst>
              </a:tr>
              <a:tr h="339217">
                <a:tc>
                  <a:txBody>
                    <a:bodyPr/>
                    <a:lstStyle/>
                    <a:p>
                      <a:pPr>
                        <a:lnSpc>
                          <a:spcPct val="150000"/>
                        </a:lnSpc>
                        <a:spcAft>
                          <a:spcPts val="1000"/>
                        </a:spcAft>
                        <a:buNone/>
                      </a:pPr>
                      <a:r>
                        <a:rPr lang="en-US" sz="1200" dirty="0">
                          <a:effectLst/>
                          <a:latin typeface="Times New Roman" panose="02020603050405020304" pitchFamily="18" charset="0"/>
                          <a:cs typeface="Times New Roman" panose="02020603050405020304" pitchFamily="18" charset="0"/>
                        </a:rPr>
                        <a:t>Parse success rate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latin typeface="Times New Roman" panose="02020603050405020304" pitchFamily="18" charset="0"/>
                          <a:cs typeface="Times New Roman" panose="02020603050405020304" pitchFamily="18" charset="0"/>
                        </a:rPr>
                        <a:t>99.985%</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60433189"/>
                  </a:ext>
                </a:extLst>
              </a:tr>
            </a:tbl>
          </a:graphicData>
        </a:graphic>
      </p:graphicFrame>
      <p:sp>
        <p:nvSpPr>
          <p:cNvPr id="4" name="TextBox 3">
            <a:extLst>
              <a:ext uri="{FF2B5EF4-FFF2-40B4-BE49-F238E27FC236}">
                <a16:creationId xmlns:a16="http://schemas.microsoft.com/office/drawing/2014/main" id="{68187CDB-95A9-7262-9557-A26087F215B3}"/>
              </a:ext>
            </a:extLst>
          </p:cNvPr>
          <p:cNvSpPr txBox="1"/>
          <p:nvPr/>
        </p:nvSpPr>
        <p:spPr>
          <a:xfrm>
            <a:off x="415636" y="7430535"/>
            <a:ext cx="6026725" cy="2310248"/>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7.7  Reasons for Parse Failures (1,515 lines):</a:t>
            </a:r>
            <a:endParaRPr lang="en-IN"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Log lines with HTTP methods not in the pattern (e.g., PROPFIND, MKCOL — WebDAV)</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Malformed log entries missing one or more fields</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Lines containing only whitespace or system restart messages</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Truncated lines at file boundaries</a:t>
            </a:r>
            <a:endParaRPr lang="en-IN" sz="1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CEF7062-02D6-EE36-4407-8D14F05B9FFE}"/>
              </a:ext>
            </a:extLst>
          </p:cNvPr>
          <p:cNvSpPr txBox="1"/>
          <p:nvPr/>
        </p:nvSpPr>
        <p:spPr>
          <a:xfrm>
            <a:off x="6336777" y="11606538"/>
            <a:ext cx="299259" cy="369332"/>
          </a:xfrm>
          <a:prstGeom prst="rect">
            <a:avLst/>
          </a:prstGeom>
          <a:noFill/>
        </p:spPr>
        <p:txBody>
          <a:bodyPr wrap="square" rtlCol="0">
            <a:spAutoFit/>
          </a:bodyPr>
          <a:lstStyle/>
          <a:p>
            <a:r>
              <a:rPr lang="en-US" dirty="0"/>
              <a:t>7</a:t>
            </a:r>
            <a:endParaRPr lang="en-IN" dirty="0"/>
          </a:p>
        </p:txBody>
      </p:sp>
    </p:spTree>
    <p:extLst>
      <p:ext uri="{BB962C8B-B14F-4D97-AF65-F5344CB8AC3E}">
        <p14:creationId xmlns:p14="http://schemas.microsoft.com/office/powerpoint/2010/main" val="26982642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15CBA-8857-357C-FEEE-5A65A6CE0C0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426A5D8-E45A-8FB3-F8B1-475322BD45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4E3FF562-AB48-5D44-C319-7766D6E2AC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7991AB80-4C70-1DCB-9D54-5DAA0A969553}"/>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C468EEF0-E91D-75B4-4D8E-30FC666B4A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5E8C31BC-7C87-78C6-0977-794FE5E802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84A3B3B5-8D78-91CB-8EFE-3B9DF6D6AC4B}"/>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2" name="TextBox 1">
            <a:extLst>
              <a:ext uri="{FF2B5EF4-FFF2-40B4-BE49-F238E27FC236}">
                <a16:creationId xmlns:a16="http://schemas.microsoft.com/office/drawing/2014/main" id="{766E09EE-9E7E-CC15-735E-F0BA8F4B8BBE}"/>
              </a:ext>
            </a:extLst>
          </p:cNvPr>
          <p:cNvSpPr txBox="1"/>
          <p:nvPr/>
        </p:nvSpPr>
        <p:spPr>
          <a:xfrm>
            <a:off x="415638" y="1051662"/>
            <a:ext cx="6026724" cy="4982390"/>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8. MODULE 3 — DATA CLEANING</a:t>
            </a:r>
            <a:endParaRPr lang="en-IN" sz="20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This module converts all parsed string columns to their correct data types, removes rows that failed type conversion, sorts the data chronologically, and resets the index.</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b="1" dirty="0">
                <a:latin typeface="Times New Roman" panose="02020603050405020304" pitchFamily="18" charset="0"/>
                <a:cs typeface="Times New Roman" panose="02020603050405020304" pitchFamily="18" charset="0"/>
              </a:rPr>
              <a:t>8.1  Step 1 — Timestamp Conversion:</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The timestamp field extracted by Regex is a raw string: "22/Jan/2019:03:56:14 +0330". It must be converted to Python's datetime type for time-based operations.</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err="1">
                <a:latin typeface="Times New Roman" panose="02020603050405020304" pitchFamily="18" charset="0"/>
                <a:cs typeface="Times New Roman" panose="02020603050405020304" pitchFamily="18" charset="0"/>
              </a:rPr>
              <a:t>df</a:t>
            </a:r>
            <a:r>
              <a:rPr lang="en-US" sz="1600" dirty="0">
                <a:latin typeface="Times New Roman" panose="02020603050405020304" pitchFamily="18" charset="0"/>
                <a:cs typeface="Times New Roman" panose="02020603050405020304" pitchFamily="18" charset="0"/>
              </a:rPr>
              <a:t>['timestamp'] = </a:t>
            </a:r>
            <a:r>
              <a:rPr lang="en-US" sz="1600" dirty="0" err="1">
                <a:latin typeface="Times New Roman" panose="02020603050405020304" pitchFamily="18" charset="0"/>
                <a:cs typeface="Times New Roman" panose="02020603050405020304" pitchFamily="18" charset="0"/>
              </a:rPr>
              <a:t>pd.to_datetime</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df</a:t>
            </a:r>
            <a:r>
              <a:rPr lang="en-US" sz="1600" dirty="0">
                <a:latin typeface="Times New Roman" panose="02020603050405020304" pitchFamily="18" charset="0"/>
                <a:cs typeface="Times New Roman" panose="02020603050405020304" pitchFamily="18" charset="0"/>
              </a:rPr>
              <a:t>['timestamp'],</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    format='%d/%b/%Y:%H:%M:%S %z')</a:t>
            </a:r>
            <a:endParaRPr lang="en-IN" sz="1600"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8.2  Timestamp Format String Breakdown:</a:t>
            </a:r>
            <a:endParaRPr lang="en-IN"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5595BB93-2314-CA80-1564-2BF57CAD8333}"/>
              </a:ext>
            </a:extLst>
          </p:cNvPr>
          <p:cNvGraphicFramePr>
            <a:graphicFrameLocks noGrp="1"/>
          </p:cNvGraphicFramePr>
          <p:nvPr>
            <p:extLst>
              <p:ext uri="{D42A27DB-BD31-4B8C-83A1-F6EECF244321}">
                <p14:modId xmlns:p14="http://schemas.microsoft.com/office/powerpoint/2010/main" val="1436036121"/>
              </p:ext>
            </p:extLst>
          </p:nvPr>
        </p:nvGraphicFramePr>
        <p:xfrm>
          <a:off x="415637" y="6045865"/>
          <a:ext cx="6026724" cy="2212744"/>
        </p:xfrm>
        <a:graphic>
          <a:graphicData uri="http://schemas.openxmlformats.org/drawingml/2006/table">
            <a:tbl>
              <a:tblPr firstRow="1" firstCol="1" bandRow="1">
                <a:tableStyleId>{3B4B98B0-60AC-42C2-AFA5-B58CD77FA1E5}</a:tableStyleId>
              </a:tblPr>
              <a:tblGrid>
                <a:gridCol w="2008908">
                  <a:extLst>
                    <a:ext uri="{9D8B030D-6E8A-4147-A177-3AD203B41FA5}">
                      <a16:colId xmlns:a16="http://schemas.microsoft.com/office/drawing/2014/main" val="4064085248"/>
                    </a:ext>
                  </a:extLst>
                </a:gridCol>
                <a:gridCol w="2008908">
                  <a:extLst>
                    <a:ext uri="{9D8B030D-6E8A-4147-A177-3AD203B41FA5}">
                      <a16:colId xmlns:a16="http://schemas.microsoft.com/office/drawing/2014/main" val="199866769"/>
                    </a:ext>
                  </a:extLst>
                </a:gridCol>
                <a:gridCol w="2008908">
                  <a:extLst>
                    <a:ext uri="{9D8B030D-6E8A-4147-A177-3AD203B41FA5}">
                      <a16:colId xmlns:a16="http://schemas.microsoft.com/office/drawing/2014/main" val="253335470"/>
                    </a:ext>
                  </a:extLst>
                </a:gridCol>
              </a:tblGrid>
              <a:tr h="276593">
                <a:tc>
                  <a:txBody>
                    <a:bodyPr/>
                    <a:lstStyle/>
                    <a:p>
                      <a:pPr algn="ctr">
                        <a:lnSpc>
                          <a:spcPct val="115000"/>
                        </a:lnSpc>
                        <a:spcAft>
                          <a:spcPts val="1000"/>
                        </a:spcAft>
                        <a:buNone/>
                      </a:pPr>
                      <a:r>
                        <a:rPr lang="en-US" sz="1200">
                          <a:effectLst/>
                        </a:rPr>
                        <a:t>Token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dirty="0">
                          <a:effectLst/>
                        </a:rPr>
                        <a:t>Meaning</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dirty="0">
                          <a:effectLst/>
                        </a:rPr>
                        <a:t>Example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275658226"/>
                  </a:ext>
                </a:extLst>
              </a:tr>
              <a:tr h="276593">
                <a:tc>
                  <a:txBody>
                    <a:bodyPr/>
                    <a:lstStyle/>
                    <a:p>
                      <a:pPr>
                        <a:lnSpc>
                          <a:spcPct val="115000"/>
                        </a:lnSpc>
                        <a:spcAft>
                          <a:spcPts val="1000"/>
                        </a:spcAft>
                        <a:buNone/>
                      </a:pPr>
                      <a:r>
                        <a:rPr lang="en-US" sz="1200" dirty="0">
                          <a:effectLst/>
                        </a:rPr>
                        <a:t>%d</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Day of month, zero-padded</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22</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990491700"/>
                  </a:ext>
                </a:extLst>
              </a:tr>
              <a:tr h="276593">
                <a:tc>
                  <a:txBody>
                    <a:bodyPr/>
                    <a:lstStyle/>
                    <a:p>
                      <a:pPr>
                        <a:lnSpc>
                          <a:spcPct val="115000"/>
                        </a:lnSpc>
                        <a:spcAft>
                          <a:spcPts val="1000"/>
                        </a:spcAft>
                        <a:buNone/>
                      </a:pPr>
                      <a:r>
                        <a:rPr lang="en-US" sz="1200">
                          <a:effectLst/>
                        </a:rPr>
                        <a:t>%b</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Abbreviated month name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Jan</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395974782"/>
                  </a:ext>
                </a:extLst>
              </a:tr>
              <a:tr h="276593">
                <a:tc>
                  <a:txBody>
                    <a:bodyPr/>
                    <a:lstStyle/>
                    <a:p>
                      <a:pPr>
                        <a:lnSpc>
                          <a:spcPct val="115000"/>
                        </a:lnSpc>
                        <a:spcAft>
                          <a:spcPts val="1000"/>
                        </a:spcAft>
                        <a:buNone/>
                      </a:pPr>
                      <a:r>
                        <a:rPr lang="en-US" sz="1200" dirty="0">
                          <a:effectLst/>
                        </a:rPr>
                        <a:t>%Y</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4-digit year</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2019</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782713671"/>
                  </a:ext>
                </a:extLst>
              </a:tr>
              <a:tr h="276593">
                <a:tc>
                  <a:txBody>
                    <a:bodyPr/>
                    <a:lstStyle/>
                    <a:p>
                      <a:pPr>
                        <a:lnSpc>
                          <a:spcPct val="115000"/>
                        </a:lnSpc>
                        <a:spcAft>
                          <a:spcPts val="1000"/>
                        </a:spcAft>
                        <a:buNone/>
                      </a:pPr>
                      <a:r>
                        <a:rPr lang="en-US" sz="1200" dirty="0">
                          <a:effectLst/>
                        </a:rPr>
                        <a:t>%H</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Hour (24-hour clock)</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03</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722303946"/>
                  </a:ext>
                </a:extLst>
              </a:tr>
              <a:tr h="276593">
                <a:tc>
                  <a:txBody>
                    <a:bodyPr/>
                    <a:lstStyle/>
                    <a:p>
                      <a:pPr>
                        <a:lnSpc>
                          <a:spcPct val="115000"/>
                        </a:lnSpc>
                        <a:spcAft>
                          <a:spcPts val="1000"/>
                        </a:spcAft>
                        <a:buNone/>
                      </a:pPr>
                      <a:r>
                        <a:rPr lang="en-US" sz="1200" dirty="0">
                          <a:effectLst/>
                        </a:rPr>
                        <a:t>%M</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Minute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56</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75147480"/>
                  </a:ext>
                </a:extLst>
              </a:tr>
              <a:tr h="276593">
                <a:tc>
                  <a:txBody>
                    <a:bodyPr/>
                    <a:lstStyle/>
                    <a:p>
                      <a:pPr>
                        <a:lnSpc>
                          <a:spcPct val="115000"/>
                        </a:lnSpc>
                        <a:spcAft>
                          <a:spcPts val="1000"/>
                        </a:spcAft>
                        <a:buNone/>
                      </a:pPr>
                      <a:r>
                        <a:rPr lang="en-US" sz="1200" dirty="0">
                          <a:effectLst/>
                        </a:rPr>
                        <a:t>%S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Second</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14</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019225464"/>
                  </a:ext>
                </a:extLst>
              </a:tr>
              <a:tr h="276593">
                <a:tc>
                  <a:txBody>
                    <a:bodyPr/>
                    <a:lstStyle/>
                    <a:p>
                      <a:pPr>
                        <a:lnSpc>
                          <a:spcPct val="115000"/>
                        </a:lnSpc>
                        <a:spcAft>
                          <a:spcPts val="1000"/>
                        </a:spcAft>
                        <a:buNone/>
                      </a:pPr>
                      <a:r>
                        <a:rPr lang="en-US" sz="1200" dirty="0">
                          <a:effectLst/>
                        </a:rPr>
                        <a:t>%z</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UTC offset</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+0330</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461351592"/>
                  </a:ext>
                </a:extLst>
              </a:tr>
            </a:tbl>
          </a:graphicData>
        </a:graphic>
      </p:graphicFrame>
      <p:sp>
        <p:nvSpPr>
          <p:cNvPr id="4" name="TextBox 3">
            <a:extLst>
              <a:ext uri="{FF2B5EF4-FFF2-40B4-BE49-F238E27FC236}">
                <a16:creationId xmlns:a16="http://schemas.microsoft.com/office/drawing/2014/main" id="{50B8801E-DFD2-5092-36B0-17C8DE3FED23}"/>
              </a:ext>
            </a:extLst>
          </p:cNvPr>
          <p:cNvSpPr txBox="1"/>
          <p:nvPr/>
        </p:nvSpPr>
        <p:spPr>
          <a:xfrm>
            <a:off x="415638" y="8316042"/>
            <a:ext cx="6026724" cy="2356414"/>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8.3  Step 2 — Numeric Column Conversion:</a:t>
            </a:r>
            <a:endParaRPr lang="en-IN"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df</a:t>
            </a:r>
            <a:r>
              <a:rPr lang="en-US" sz="1600" dirty="0">
                <a:latin typeface="Times New Roman" panose="02020603050405020304" pitchFamily="18" charset="0"/>
                <a:cs typeface="Times New Roman" panose="02020603050405020304" pitchFamily="18" charset="0"/>
              </a:rPr>
              <a:t>['status'] = </a:t>
            </a:r>
            <a:r>
              <a:rPr lang="en-US" sz="1600" dirty="0" err="1">
                <a:latin typeface="Times New Roman" panose="02020603050405020304" pitchFamily="18" charset="0"/>
                <a:cs typeface="Times New Roman" panose="02020603050405020304" pitchFamily="18" charset="0"/>
              </a:rPr>
              <a:t>pd.to_numeric</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df</a:t>
            </a:r>
            <a:r>
              <a:rPr lang="en-US" sz="1600" dirty="0">
                <a:latin typeface="Times New Roman" panose="02020603050405020304" pitchFamily="18" charset="0"/>
                <a:cs typeface="Times New Roman" panose="02020603050405020304" pitchFamily="18" charset="0"/>
              </a:rPr>
              <a:t>['status'], errors='coerce’)</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df</a:t>
            </a:r>
            <a:r>
              <a:rPr lang="en-US" sz="1600" dirty="0">
                <a:latin typeface="Times New Roman" panose="02020603050405020304" pitchFamily="18" charset="0"/>
                <a:cs typeface="Times New Roman" panose="02020603050405020304" pitchFamily="18" charset="0"/>
              </a:rPr>
              <a:t>['bytes']  = </a:t>
            </a:r>
            <a:r>
              <a:rPr lang="en-US" sz="1600" dirty="0" err="1">
                <a:latin typeface="Times New Roman" panose="02020603050405020304" pitchFamily="18" charset="0"/>
                <a:cs typeface="Times New Roman" panose="02020603050405020304" pitchFamily="18" charset="0"/>
              </a:rPr>
              <a:t>pd.to_numeric</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df</a:t>
            </a:r>
            <a:r>
              <a:rPr lang="en-US" sz="1600" dirty="0">
                <a:latin typeface="Times New Roman" panose="02020603050405020304" pitchFamily="18" charset="0"/>
                <a:cs typeface="Times New Roman" panose="02020603050405020304" pitchFamily="18" charset="0"/>
              </a:rPr>
              <a:t>['bytes'],  errors='coerce')</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errors='coerce' converts any non-numeric value to </a:t>
            </a:r>
            <a:r>
              <a:rPr lang="en-US" sz="1600" dirty="0" err="1">
                <a:latin typeface="Times New Roman" panose="02020603050405020304" pitchFamily="18" charset="0"/>
                <a:cs typeface="Times New Roman" panose="02020603050405020304" pitchFamily="18" charset="0"/>
              </a:rPr>
              <a:t>NaN</a:t>
            </a:r>
            <a:r>
              <a:rPr lang="en-US" sz="1600" dirty="0">
                <a:latin typeface="Times New Roman" panose="02020603050405020304" pitchFamily="18" charset="0"/>
                <a:cs typeface="Times New Roman" panose="02020603050405020304" pitchFamily="18" charset="0"/>
              </a:rPr>
              <a:t> instead of raising an error. Result </a:t>
            </a:r>
            <a:r>
              <a:rPr lang="en-US" sz="1600" dirty="0" err="1">
                <a:latin typeface="Times New Roman" panose="02020603050405020304" pitchFamily="18" charset="0"/>
                <a:cs typeface="Times New Roman" panose="02020603050405020304" pitchFamily="18" charset="0"/>
              </a:rPr>
              <a:t>dtype</a:t>
            </a:r>
            <a:r>
              <a:rPr lang="en-US" sz="1600" dirty="0">
                <a:latin typeface="Times New Roman" panose="02020603050405020304" pitchFamily="18" charset="0"/>
                <a:cs typeface="Times New Roman" panose="02020603050405020304" pitchFamily="18" charset="0"/>
              </a:rPr>
              <a:t>: int64 (after null removal). Valid range for status: 100–599.</a:t>
            </a:r>
            <a:endParaRPr lang="en-IN" sz="1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58C5E07-C9C1-A28F-0699-F0B8B623BA44}"/>
              </a:ext>
            </a:extLst>
          </p:cNvPr>
          <p:cNvSpPr txBox="1"/>
          <p:nvPr/>
        </p:nvSpPr>
        <p:spPr>
          <a:xfrm>
            <a:off x="6350917" y="11597702"/>
            <a:ext cx="282635" cy="369332"/>
          </a:xfrm>
          <a:prstGeom prst="rect">
            <a:avLst/>
          </a:prstGeom>
          <a:noFill/>
        </p:spPr>
        <p:txBody>
          <a:bodyPr wrap="square" rtlCol="0">
            <a:spAutoFit/>
          </a:bodyPr>
          <a:lstStyle/>
          <a:p>
            <a:r>
              <a:rPr lang="en-US" dirty="0"/>
              <a:t>8</a:t>
            </a:r>
            <a:endParaRPr lang="en-IN" dirty="0"/>
          </a:p>
        </p:txBody>
      </p:sp>
    </p:spTree>
    <p:extLst>
      <p:ext uri="{BB962C8B-B14F-4D97-AF65-F5344CB8AC3E}">
        <p14:creationId xmlns:p14="http://schemas.microsoft.com/office/powerpoint/2010/main" val="1873216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C9BB2-7C48-A3F4-FA45-07F8BC99451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A7D9834-4960-0825-3202-C37FECF96C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52DC9CDB-C31E-916C-2910-C9DC94D9D7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36E9509A-57D7-8F20-996E-F0967BCBF16F}"/>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C61EFA93-4D83-8887-6474-FFD86BC8C4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30572B18-E55F-8050-44C9-644149DA3B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20DB77A8-B05A-086B-3903-4BB6911E8BD4}"/>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2" name="TextBox 1">
            <a:extLst>
              <a:ext uri="{FF2B5EF4-FFF2-40B4-BE49-F238E27FC236}">
                <a16:creationId xmlns:a16="http://schemas.microsoft.com/office/drawing/2014/main" id="{A9C8F6F8-186D-99CA-8A38-2E2A7BB7C28A}"/>
              </a:ext>
            </a:extLst>
          </p:cNvPr>
          <p:cNvSpPr txBox="1"/>
          <p:nvPr/>
        </p:nvSpPr>
        <p:spPr>
          <a:xfrm>
            <a:off x="415639" y="1059817"/>
            <a:ext cx="6026724" cy="4890057"/>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8.4  Step 3 — Remove Invalid Rows (Null Handling):</a:t>
            </a:r>
            <a:endParaRPr lang="en-IN"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df</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df.dropna</a:t>
            </a:r>
            <a:r>
              <a:rPr lang="en-US" sz="1600" dirty="0">
                <a:latin typeface="Times New Roman" panose="02020603050405020304" pitchFamily="18" charset="0"/>
                <a:cs typeface="Times New Roman" panose="02020603050405020304" pitchFamily="18" charset="0"/>
              </a:rPr>
              <a:t>(subset=['timestamp', 'bytes'])</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Only rows where timestamp or bytes failed conversion are dropped. The </a:t>
            </a:r>
            <a:r>
              <a:rPr lang="en-US" sz="1600" dirty="0" err="1">
                <a:latin typeface="Times New Roman" panose="02020603050405020304" pitchFamily="18" charset="0"/>
                <a:cs typeface="Times New Roman" panose="02020603050405020304" pitchFamily="18" charset="0"/>
              </a:rPr>
              <a:t>ip</a:t>
            </a:r>
            <a:r>
              <a:rPr lang="en-US" sz="1600" dirty="0">
                <a:latin typeface="Times New Roman" panose="02020603050405020304" pitchFamily="18" charset="0"/>
                <a:cs typeface="Times New Roman" panose="02020603050405020304" pitchFamily="18" charset="0"/>
              </a:rPr>
              <a:t>, method, </a:t>
            </a:r>
            <a:r>
              <a:rPr lang="en-US" sz="1600" dirty="0" err="1">
                <a:latin typeface="Times New Roman" panose="02020603050405020304" pitchFamily="18" charset="0"/>
                <a:cs typeface="Times New Roman" panose="02020603050405020304" pitchFamily="18" charset="0"/>
              </a:rPr>
              <a:t>url</a:t>
            </a:r>
            <a:r>
              <a:rPr lang="en-US" sz="1600" dirty="0">
                <a:latin typeface="Times New Roman" panose="02020603050405020304" pitchFamily="18" charset="0"/>
                <a:cs typeface="Times New Roman" panose="02020603050405020304" pitchFamily="18" charset="0"/>
              </a:rPr>
              <a:t>, and status columns are not checked because they are always valid strings extracted by a typed Regex group.</a:t>
            </a:r>
          </a:p>
          <a:p>
            <a:pPr>
              <a:lnSpc>
                <a:spcPct val="150000"/>
              </a:lnSpc>
            </a:pPr>
            <a:r>
              <a:rPr lang="en-US" b="1" dirty="0">
                <a:latin typeface="Times New Roman" panose="02020603050405020304" pitchFamily="18" charset="0"/>
                <a:cs typeface="Times New Roman" panose="02020603050405020304" pitchFamily="18" charset="0"/>
              </a:rPr>
              <a:t>8.5  Step 4 — Sort by Timestamp:</a:t>
            </a:r>
            <a:endParaRPr lang="en-IN"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df</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df.sort_values</a:t>
            </a:r>
            <a:r>
              <a:rPr lang="en-US" sz="1600" dirty="0">
                <a:latin typeface="Times New Roman" panose="02020603050405020304" pitchFamily="18" charset="0"/>
                <a:cs typeface="Times New Roman" panose="02020603050405020304" pitchFamily="18" charset="0"/>
              </a:rPr>
              <a:t>('timestamp').</a:t>
            </a:r>
            <a:r>
              <a:rPr lang="en-US" sz="1600" dirty="0" err="1">
                <a:latin typeface="Times New Roman" panose="02020603050405020304" pitchFamily="18" charset="0"/>
                <a:cs typeface="Times New Roman" panose="02020603050405020304" pitchFamily="18" charset="0"/>
              </a:rPr>
              <a:t>reset_index</a:t>
            </a:r>
            <a:r>
              <a:rPr lang="en-US" sz="1600" dirty="0">
                <a:latin typeface="Times New Roman" panose="02020603050405020304" pitchFamily="18" charset="0"/>
                <a:cs typeface="Times New Roman" panose="02020603050405020304" pitchFamily="18" charset="0"/>
              </a:rPr>
              <a:t>(drop=True)</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Sorts the entire </a:t>
            </a:r>
            <a:r>
              <a:rPr lang="en-US" sz="1600" dirty="0" err="1">
                <a:latin typeface="Times New Roman" panose="02020603050405020304" pitchFamily="18" charset="0"/>
                <a:cs typeface="Times New Roman" panose="02020603050405020304" pitchFamily="18" charset="0"/>
              </a:rPr>
              <a:t>DataFrame</a:t>
            </a:r>
            <a:r>
              <a:rPr lang="en-US" sz="1600" dirty="0">
                <a:latin typeface="Times New Roman" panose="02020603050405020304" pitchFamily="18" charset="0"/>
                <a:cs typeface="Times New Roman" panose="02020603050405020304" pitchFamily="18" charset="0"/>
              </a:rPr>
              <a:t> chronologically (ascending by timestamp). </a:t>
            </a:r>
            <a:r>
              <a:rPr lang="en-US" sz="1600" dirty="0" err="1">
                <a:latin typeface="Times New Roman" panose="02020603050405020304" pitchFamily="18" charset="0"/>
                <a:cs typeface="Times New Roman" panose="02020603050405020304" pitchFamily="18" charset="0"/>
              </a:rPr>
              <a:t>reset_index</a:t>
            </a:r>
            <a:r>
              <a:rPr lang="en-US" sz="1600" dirty="0">
                <a:latin typeface="Times New Roman" panose="02020603050405020304" pitchFamily="18" charset="0"/>
                <a:cs typeface="Times New Roman" panose="02020603050405020304" pitchFamily="18" charset="0"/>
              </a:rPr>
              <a:t>(drop=True) creates a clean sequential integer index from 0 to N-1. This ordering is critical for time-series aggregation in later stages.</a:t>
            </a:r>
          </a:p>
          <a:p>
            <a:pPr>
              <a:lnSpc>
                <a:spcPct val="150000"/>
              </a:lnSpc>
            </a:pPr>
            <a:r>
              <a:rPr lang="en-US" b="1" dirty="0">
                <a:latin typeface="Times New Roman" panose="02020603050405020304" pitchFamily="18" charset="0"/>
                <a:cs typeface="Times New Roman" panose="02020603050405020304" pitchFamily="18" charset="0"/>
              </a:rPr>
              <a:t>8.6  Final Cleaned </a:t>
            </a:r>
            <a:r>
              <a:rPr lang="en-US" b="1" dirty="0" err="1">
                <a:latin typeface="Times New Roman" panose="02020603050405020304" pitchFamily="18" charset="0"/>
                <a:cs typeface="Times New Roman" panose="02020603050405020304" pitchFamily="18" charset="0"/>
              </a:rPr>
              <a:t>DataFrame</a:t>
            </a:r>
            <a:r>
              <a:rPr lang="en-US" b="1" dirty="0">
                <a:latin typeface="Times New Roman" panose="02020603050405020304" pitchFamily="18" charset="0"/>
                <a:cs typeface="Times New Roman" panose="02020603050405020304" pitchFamily="18" charset="0"/>
              </a:rPr>
              <a:t> Specification:</a:t>
            </a:r>
            <a:endParaRPr lang="en-IN"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81E14B2D-25F5-0D6C-5BA6-DD69AACF35DB}"/>
              </a:ext>
            </a:extLst>
          </p:cNvPr>
          <p:cNvGraphicFramePr>
            <a:graphicFrameLocks noGrp="1"/>
          </p:cNvGraphicFramePr>
          <p:nvPr>
            <p:extLst>
              <p:ext uri="{D42A27DB-BD31-4B8C-83A1-F6EECF244321}">
                <p14:modId xmlns:p14="http://schemas.microsoft.com/office/powerpoint/2010/main" val="3154446627"/>
              </p:ext>
            </p:extLst>
          </p:nvPr>
        </p:nvGraphicFramePr>
        <p:xfrm>
          <a:off x="415637" y="5806282"/>
          <a:ext cx="6026724" cy="2230314"/>
        </p:xfrm>
        <a:graphic>
          <a:graphicData uri="http://schemas.openxmlformats.org/drawingml/2006/table">
            <a:tbl>
              <a:tblPr firstRow="1" firstCol="1" bandRow="1">
                <a:tableStyleId>{3B4B98B0-60AC-42C2-AFA5-B58CD77FA1E5}</a:tableStyleId>
              </a:tblPr>
              <a:tblGrid>
                <a:gridCol w="1506681">
                  <a:extLst>
                    <a:ext uri="{9D8B030D-6E8A-4147-A177-3AD203B41FA5}">
                      <a16:colId xmlns:a16="http://schemas.microsoft.com/office/drawing/2014/main" val="900762859"/>
                    </a:ext>
                  </a:extLst>
                </a:gridCol>
                <a:gridCol w="1506681">
                  <a:extLst>
                    <a:ext uri="{9D8B030D-6E8A-4147-A177-3AD203B41FA5}">
                      <a16:colId xmlns:a16="http://schemas.microsoft.com/office/drawing/2014/main" val="668195684"/>
                    </a:ext>
                  </a:extLst>
                </a:gridCol>
                <a:gridCol w="1506681">
                  <a:extLst>
                    <a:ext uri="{9D8B030D-6E8A-4147-A177-3AD203B41FA5}">
                      <a16:colId xmlns:a16="http://schemas.microsoft.com/office/drawing/2014/main" val="2213898706"/>
                    </a:ext>
                  </a:extLst>
                </a:gridCol>
                <a:gridCol w="1506681">
                  <a:extLst>
                    <a:ext uri="{9D8B030D-6E8A-4147-A177-3AD203B41FA5}">
                      <a16:colId xmlns:a16="http://schemas.microsoft.com/office/drawing/2014/main" val="3485349309"/>
                    </a:ext>
                  </a:extLst>
                </a:gridCol>
              </a:tblGrid>
              <a:tr h="192768">
                <a:tc>
                  <a:txBody>
                    <a:bodyPr/>
                    <a:lstStyle/>
                    <a:p>
                      <a:pPr algn="ctr">
                        <a:lnSpc>
                          <a:spcPct val="115000"/>
                        </a:lnSpc>
                        <a:spcAft>
                          <a:spcPts val="1000"/>
                        </a:spcAft>
                        <a:buNone/>
                      </a:pPr>
                      <a:r>
                        <a:rPr lang="en-US" sz="1200">
                          <a:effectLst/>
                        </a:rPr>
                        <a:t>Column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Data Type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Null Count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Notes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50264243"/>
                  </a:ext>
                </a:extLst>
              </a:tr>
              <a:tr h="397242">
                <a:tc>
                  <a:txBody>
                    <a:bodyPr/>
                    <a:lstStyle/>
                    <a:p>
                      <a:pPr>
                        <a:lnSpc>
                          <a:spcPct val="115000"/>
                        </a:lnSpc>
                        <a:spcAft>
                          <a:spcPts val="1000"/>
                        </a:spcAft>
                        <a:buNone/>
                      </a:pPr>
                      <a:r>
                        <a:rPr lang="en-US" sz="1200">
                          <a:effectLst/>
                        </a:rPr>
                        <a:t>timestamp</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datetime64[ns, UTC+03:30]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0</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Timezone-aware datetime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908113128"/>
                  </a:ext>
                </a:extLst>
              </a:tr>
              <a:tr h="192768">
                <a:tc>
                  <a:txBody>
                    <a:bodyPr/>
                    <a:lstStyle/>
                    <a:p>
                      <a:pPr>
                        <a:lnSpc>
                          <a:spcPct val="115000"/>
                        </a:lnSpc>
                        <a:spcAft>
                          <a:spcPts val="1000"/>
                        </a:spcAft>
                        <a:buNone/>
                      </a:pPr>
                      <a:r>
                        <a:rPr lang="en-US" sz="1200" dirty="0">
                          <a:effectLst/>
                        </a:rPr>
                        <a:t>Ip</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object (string)</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Client IP address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2918774"/>
                  </a:ext>
                </a:extLst>
              </a:tr>
              <a:tr h="397242">
                <a:tc>
                  <a:txBody>
                    <a:bodyPr/>
                    <a:lstStyle/>
                    <a:p>
                      <a:pPr>
                        <a:lnSpc>
                          <a:spcPct val="115000"/>
                        </a:lnSpc>
                        <a:spcAft>
                          <a:spcPts val="1000"/>
                        </a:spcAft>
                        <a:buNone/>
                      </a:pPr>
                      <a:r>
                        <a:rPr lang="en-US" sz="1200" dirty="0">
                          <a:effectLst/>
                        </a:rPr>
                        <a:t>method</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object (string)</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0</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HTTP verb (GET, POST, etc.)</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598249164"/>
                  </a:ext>
                </a:extLst>
              </a:tr>
              <a:tr h="192768">
                <a:tc>
                  <a:txBody>
                    <a:bodyPr/>
                    <a:lstStyle/>
                    <a:p>
                      <a:pPr>
                        <a:lnSpc>
                          <a:spcPct val="115000"/>
                        </a:lnSpc>
                        <a:spcAft>
                          <a:spcPts val="1000"/>
                        </a:spcAft>
                        <a:buNone/>
                      </a:pPr>
                      <a:r>
                        <a:rPr lang="en-US" sz="1200">
                          <a:effectLst/>
                        </a:rPr>
                        <a:t>url</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object (string)</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Request URL path</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615471529"/>
                  </a:ext>
                </a:extLst>
              </a:tr>
              <a:tr h="397242">
                <a:tc>
                  <a:txBody>
                    <a:bodyPr/>
                    <a:lstStyle/>
                    <a:p>
                      <a:pPr>
                        <a:lnSpc>
                          <a:spcPct val="115000"/>
                        </a:lnSpc>
                        <a:spcAft>
                          <a:spcPts val="1000"/>
                        </a:spcAft>
                        <a:buNone/>
                      </a:pPr>
                      <a:r>
                        <a:rPr lang="en-US" sz="1200">
                          <a:effectLst/>
                        </a:rPr>
                        <a:t>status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int64</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HTTP response status code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75744079"/>
                  </a:ext>
                </a:extLst>
              </a:tr>
              <a:tr h="192768">
                <a:tc>
                  <a:txBody>
                    <a:bodyPr/>
                    <a:lstStyle/>
                    <a:p>
                      <a:pPr>
                        <a:lnSpc>
                          <a:spcPct val="115000"/>
                        </a:lnSpc>
                        <a:spcAft>
                          <a:spcPts val="1000"/>
                        </a:spcAft>
                        <a:buNone/>
                      </a:pPr>
                      <a:r>
                        <a:rPr lang="en-US" sz="1200">
                          <a:effectLst/>
                        </a:rPr>
                        <a:t>bytes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int64</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Response size in bytes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204355867"/>
                  </a:ext>
                </a:extLst>
              </a:tr>
            </a:tbl>
          </a:graphicData>
        </a:graphic>
      </p:graphicFrame>
      <p:sp>
        <p:nvSpPr>
          <p:cNvPr id="4" name="TextBox 3">
            <a:extLst>
              <a:ext uri="{FF2B5EF4-FFF2-40B4-BE49-F238E27FC236}">
                <a16:creationId xmlns:a16="http://schemas.microsoft.com/office/drawing/2014/main" id="{6FB749F6-EF07-A778-69EC-644A141B87C9}"/>
              </a:ext>
            </a:extLst>
          </p:cNvPr>
          <p:cNvSpPr txBox="1"/>
          <p:nvPr/>
        </p:nvSpPr>
        <p:spPr>
          <a:xfrm>
            <a:off x="415637" y="8088233"/>
            <a:ext cx="6026724" cy="417422"/>
          </a:xfrm>
          <a:prstGeom prst="rect">
            <a:avLst/>
          </a:prstGeom>
          <a:noFill/>
        </p:spPr>
        <p:txBody>
          <a:bodyPr wrap="square" rtlCol="0">
            <a:spAutoFit/>
          </a:bodyPr>
          <a:lstStyle/>
          <a:p>
            <a:pPr>
              <a:lnSpc>
                <a:spcPct val="150000"/>
              </a:lnSpc>
            </a:pPr>
            <a:r>
              <a:rPr lang="en-US" sz="1600" dirty="0">
                <a:latin typeface="Times New Roman" panose="02020603050405020304" pitchFamily="18" charset="0"/>
                <a:cs typeface="Times New Roman" panose="02020603050405020304" pitchFamily="18" charset="0"/>
              </a:rPr>
              <a:t>Shape: </a:t>
            </a:r>
            <a:r>
              <a:rPr lang="en-US" sz="1600" b="1" dirty="0">
                <a:latin typeface="Times New Roman" panose="02020603050405020304" pitchFamily="18" charset="0"/>
                <a:cs typeface="Times New Roman" panose="02020603050405020304" pitchFamily="18" charset="0"/>
              </a:rPr>
              <a:t>10,363,637</a:t>
            </a:r>
            <a:r>
              <a:rPr lang="en-US" sz="1600" dirty="0">
                <a:latin typeface="Times New Roman" panose="02020603050405020304" pitchFamily="18" charset="0"/>
                <a:cs typeface="Times New Roman" panose="02020603050405020304" pitchFamily="18" charset="0"/>
              </a:rPr>
              <a:t> rows x 6 columns  |  Memory: ~</a:t>
            </a:r>
            <a:r>
              <a:rPr lang="en-US" sz="1600" b="1" dirty="0">
                <a:latin typeface="Times New Roman" panose="02020603050405020304" pitchFamily="18" charset="0"/>
                <a:cs typeface="Times New Roman" panose="02020603050405020304" pitchFamily="18" charset="0"/>
              </a:rPr>
              <a:t>474.4 MB</a:t>
            </a:r>
            <a:endParaRPr lang="en-IN" sz="1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6B08789-1524-0AA6-E1C7-1529938DB9EC}"/>
              </a:ext>
            </a:extLst>
          </p:cNvPr>
          <p:cNvSpPr txBox="1"/>
          <p:nvPr/>
        </p:nvSpPr>
        <p:spPr>
          <a:xfrm>
            <a:off x="6350919" y="11606522"/>
            <a:ext cx="290943" cy="369332"/>
          </a:xfrm>
          <a:prstGeom prst="rect">
            <a:avLst/>
          </a:prstGeom>
          <a:noFill/>
        </p:spPr>
        <p:txBody>
          <a:bodyPr wrap="square" rtlCol="0">
            <a:spAutoFit/>
          </a:bodyPr>
          <a:lstStyle/>
          <a:p>
            <a:r>
              <a:rPr lang="en-US" dirty="0"/>
              <a:t>9</a:t>
            </a:r>
            <a:endParaRPr lang="en-IN" dirty="0"/>
          </a:p>
        </p:txBody>
      </p:sp>
    </p:spTree>
    <p:extLst>
      <p:ext uri="{BB962C8B-B14F-4D97-AF65-F5344CB8AC3E}">
        <p14:creationId xmlns:p14="http://schemas.microsoft.com/office/powerpoint/2010/main" val="16041361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688C7-5106-D859-EB3D-F52EB33BAB6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B84B338-F9B6-CCB2-1330-31685567ED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F881C3C7-0492-2987-16FE-CCFBC6BA98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0EAFD3AB-7439-444D-6D07-975D0AF5C34A}"/>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15F7368C-7ADB-56CF-649D-38301B63FD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6946758B-570D-E3F5-BAED-D38194B89F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6F4FD377-8E38-C8AF-8385-5FF40590C7B2}"/>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6" name="TextBox 5">
            <a:extLst>
              <a:ext uri="{FF2B5EF4-FFF2-40B4-BE49-F238E27FC236}">
                <a16:creationId xmlns:a16="http://schemas.microsoft.com/office/drawing/2014/main" id="{3F72BD32-0076-787F-15EA-A2A9893D16E8}"/>
              </a:ext>
            </a:extLst>
          </p:cNvPr>
          <p:cNvSpPr txBox="1"/>
          <p:nvPr/>
        </p:nvSpPr>
        <p:spPr>
          <a:xfrm>
            <a:off x="415638" y="989689"/>
            <a:ext cx="6026724" cy="3228063"/>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9. MODULE 4 — DATA QUALITY ASSURANCE (EDA)</a:t>
            </a:r>
            <a:endParaRPr lang="en-IN" sz="20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Validate the cleaned </a:t>
            </a:r>
            <a:r>
              <a:rPr lang="en-US" sz="1600" dirty="0" err="1">
                <a:latin typeface="Times New Roman" panose="02020603050405020304" pitchFamily="18" charset="0"/>
                <a:cs typeface="Times New Roman" panose="02020603050405020304" pitchFamily="18" charset="0"/>
              </a:rPr>
              <a:t>DataFrame</a:t>
            </a:r>
            <a:r>
              <a:rPr lang="en-US" sz="1600" dirty="0">
                <a:latin typeface="Times New Roman" panose="02020603050405020304" pitchFamily="18" charset="0"/>
                <a:cs typeface="Times New Roman" panose="02020603050405020304" pitchFamily="18" charset="0"/>
              </a:rPr>
              <a:t> before it is passed to the analysis pipeline. Run basic Exploratory Data Analysis (EDA) to understand the dataset's statistical properties, check for anomalies in the data itself, and document key findings.</a:t>
            </a:r>
            <a:endParaRPr lang="en-IN" sz="1600"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9.1  QA Checks Table:</a:t>
            </a:r>
            <a:endParaRPr lang="en-IN" dirty="0">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F22FA5B5-223A-F2BD-51B8-936419E0AEC8}"/>
              </a:ext>
            </a:extLst>
          </p:cNvPr>
          <p:cNvGraphicFramePr>
            <a:graphicFrameLocks noGrp="1"/>
          </p:cNvGraphicFramePr>
          <p:nvPr>
            <p:extLst>
              <p:ext uri="{D42A27DB-BD31-4B8C-83A1-F6EECF244321}">
                <p14:modId xmlns:p14="http://schemas.microsoft.com/office/powerpoint/2010/main" val="1265508742"/>
              </p:ext>
            </p:extLst>
          </p:nvPr>
        </p:nvGraphicFramePr>
        <p:xfrm>
          <a:off x="415637" y="4240014"/>
          <a:ext cx="6026724" cy="2746489"/>
        </p:xfrm>
        <a:graphic>
          <a:graphicData uri="http://schemas.openxmlformats.org/drawingml/2006/table">
            <a:tbl>
              <a:tblPr firstRow="1" firstCol="1" bandRow="1">
                <a:tableStyleId>{3B4B98B0-60AC-42C2-AFA5-B58CD77FA1E5}</a:tableStyleId>
              </a:tblPr>
              <a:tblGrid>
                <a:gridCol w="1506681">
                  <a:extLst>
                    <a:ext uri="{9D8B030D-6E8A-4147-A177-3AD203B41FA5}">
                      <a16:colId xmlns:a16="http://schemas.microsoft.com/office/drawing/2014/main" val="1095883392"/>
                    </a:ext>
                  </a:extLst>
                </a:gridCol>
                <a:gridCol w="1506681">
                  <a:extLst>
                    <a:ext uri="{9D8B030D-6E8A-4147-A177-3AD203B41FA5}">
                      <a16:colId xmlns:a16="http://schemas.microsoft.com/office/drawing/2014/main" val="68064750"/>
                    </a:ext>
                  </a:extLst>
                </a:gridCol>
                <a:gridCol w="1506681">
                  <a:extLst>
                    <a:ext uri="{9D8B030D-6E8A-4147-A177-3AD203B41FA5}">
                      <a16:colId xmlns:a16="http://schemas.microsoft.com/office/drawing/2014/main" val="569313662"/>
                    </a:ext>
                  </a:extLst>
                </a:gridCol>
                <a:gridCol w="1506681">
                  <a:extLst>
                    <a:ext uri="{9D8B030D-6E8A-4147-A177-3AD203B41FA5}">
                      <a16:colId xmlns:a16="http://schemas.microsoft.com/office/drawing/2014/main" val="2160894811"/>
                    </a:ext>
                  </a:extLst>
                </a:gridCol>
              </a:tblGrid>
              <a:tr h="211669">
                <a:tc>
                  <a:txBody>
                    <a:bodyPr/>
                    <a:lstStyle/>
                    <a:p>
                      <a:pPr algn="ctr">
                        <a:lnSpc>
                          <a:spcPct val="115000"/>
                        </a:lnSpc>
                        <a:spcAft>
                          <a:spcPts val="1000"/>
                        </a:spcAft>
                        <a:buNone/>
                      </a:pPr>
                      <a:r>
                        <a:rPr lang="en-US" sz="1200">
                          <a:effectLst/>
                        </a:rPr>
                        <a:t>Check</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Code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Expected</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Actual Result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00354066"/>
                  </a:ext>
                </a:extLst>
              </a:tr>
              <a:tr h="436190">
                <a:tc>
                  <a:txBody>
                    <a:bodyPr/>
                    <a:lstStyle/>
                    <a:p>
                      <a:pPr>
                        <a:lnSpc>
                          <a:spcPct val="115000"/>
                        </a:lnSpc>
                        <a:spcAft>
                          <a:spcPts val="1000"/>
                        </a:spcAft>
                        <a:buNone/>
                      </a:pPr>
                      <a:r>
                        <a:rPr lang="en-US" sz="1200">
                          <a:effectLst/>
                        </a:rPr>
                        <a:t>Total rows after cleaning</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len(df)</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~10.3M</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10,363,637</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961795186"/>
                  </a:ext>
                </a:extLst>
              </a:tr>
              <a:tr h="436190">
                <a:tc>
                  <a:txBody>
                    <a:bodyPr/>
                    <a:lstStyle/>
                    <a:p>
                      <a:pPr>
                        <a:lnSpc>
                          <a:spcPct val="115000"/>
                        </a:lnSpc>
                        <a:spcAft>
                          <a:spcPts val="1000"/>
                        </a:spcAft>
                        <a:buNone/>
                      </a:pPr>
                      <a:r>
                        <a:rPr lang="en-US" sz="1200">
                          <a:effectLst/>
                        </a:rPr>
                        <a:t>Null timestamps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err="1">
                          <a:effectLst/>
                        </a:rPr>
                        <a:t>df</a:t>
                      </a:r>
                      <a:r>
                        <a:rPr lang="en-US" sz="1200" dirty="0">
                          <a:effectLst/>
                        </a:rPr>
                        <a:t>['timestamp'].</a:t>
                      </a:r>
                      <a:r>
                        <a:rPr lang="en-US" sz="1200" dirty="0" err="1">
                          <a:effectLst/>
                        </a:rPr>
                        <a:t>isna</a:t>
                      </a:r>
                      <a:r>
                        <a:rPr lang="en-US" sz="1200" dirty="0">
                          <a:effectLst/>
                        </a:rPr>
                        <a:t>().sum()</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0</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0</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279605036"/>
                  </a:ext>
                </a:extLst>
              </a:tr>
              <a:tr h="211669">
                <a:tc>
                  <a:txBody>
                    <a:bodyPr/>
                    <a:lstStyle/>
                    <a:p>
                      <a:pPr>
                        <a:lnSpc>
                          <a:spcPct val="115000"/>
                        </a:lnSpc>
                        <a:spcAft>
                          <a:spcPts val="1000"/>
                        </a:spcAft>
                        <a:buNone/>
                      </a:pPr>
                      <a:r>
                        <a:rPr lang="en-US" sz="1200">
                          <a:effectLst/>
                        </a:rPr>
                        <a:t>Null status values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df['status'].isna().sum()</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0</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87597640"/>
                  </a:ext>
                </a:extLst>
              </a:tr>
              <a:tr h="211669">
                <a:tc>
                  <a:txBody>
                    <a:bodyPr/>
                    <a:lstStyle/>
                    <a:p>
                      <a:pPr>
                        <a:lnSpc>
                          <a:spcPct val="115000"/>
                        </a:lnSpc>
                        <a:spcAft>
                          <a:spcPts val="1000"/>
                        </a:spcAft>
                        <a:buNone/>
                      </a:pPr>
                      <a:r>
                        <a:rPr lang="en-US" sz="1200">
                          <a:effectLst/>
                        </a:rPr>
                        <a:t>Null bytes values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df['bytes'].isna().sum()</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0</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887316589"/>
                  </a:ext>
                </a:extLst>
              </a:tr>
              <a:tr h="211669">
                <a:tc>
                  <a:txBody>
                    <a:bodyPr/>
                    <a:lstStyle/>
                    <a:p>
                      <a:pPr>
                        <a:lnSpc>
                          <a:spcPct val="115000"/>
                        </a:lnSpc>
                        <a:spcAft>
                          <a:spcPts val="1000"/>
                        </a:spcAft>
                        <a:buNone/>
                      </a:pPr>
                      <a:r>
                        <a:rPr lang="en-US" sz="1200">
                          <a:effectLst/>
                        </a:rPr>
                        <a:t>Negative bytes values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(df['bytes'] &lt; 0).sum()</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0</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0</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73142081"/>
                  </a:ext>
                </a:extLst>
              </a:tr>
              <a:tr h="436190">
                <a:tc>
                  <a:txBody>
                    <a:bodyPr/>
                    <a:lstStyle/>
                    <a:p>
                      <a:pPr>
                        <a:lnSpc>
                          <a:spcPct val="115000"/>
                        </a:lnSpc>
                        <a:spcAft>
                          <a:spcPts val="1000"/>
                        </a:spcAft>
                        <a:buNone/>
                      </a:pPr>
                      <a:r>
                        <a:rPr lang="en-US" sz="1200" dirty="0">
                          <a:effectLst/>
                        </a:rPr>
                        <a:t>Exact duplicate records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df.duplicated(subset=[all 6 cols]).sum()</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Low</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111,137 (1.07%)</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834068355"/>
                  </a:ext>
                </a:extLst>
              </a:tr>
            </a:tbl>
          </a:graphicData>
        </a:graphic>
      </p:graphicFrame>
      <p:sp>
        <p:nvSpPr>
          <p:cNvPr id="10" name="TextBox 9">
            <a:extLst>
              <a:ext uri="{FF2B5EF4-FFF2-40B4-BE49-F238E27FC236}">
                <a16:creationId xmlns:a16="http://schemas.microsoft.com/office/drawing/2014/main" id="{AC32A4B4-AC7F-119C-418D-AAF61F7BACD6}"/>
              </a:ext>
            </a:extLst>
          </p:cNvPr>
          <p:cNvSpPr txBox="1"/>
          <p:nvPr/>
        </p:nvSpPr>
        <p:spPr>
          <a:xfrm>
            <a:off x="415637" y="7036382"/>
            <a:ext cx="6026724" cy="4201150"/>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9.2  Duplicate Record Detection:</a:t>
            </a:r>
            <a:endParaRPr lang="en-IN"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A record is considered a duplicate if ALL six fields match exactly across two or more rows: timestamp, </a:t>
            </a:r>
            <a:r>
              <a:rPr lang="en-US" sz="1600" dirty="0" err="1">
                <a:latin typeface="Times New Roman" panose="02020603050405020304" pitchFamily="18" charset="0"/>
                <a:cs typeface="Times New Roman" panose="02020603050405020304" pitchFamily="18" charset="0"/>
              </a:rPr>
              <a:t>ip</a:t>
            </a:r>
            <a:r>
              <a:rPr lang="en-US" sz="1600" dirty="0">
                <a:latin typeface="Times New Roman" panose="02020603050405020304" pitchFamily="18" charset="0"/>
                <a:cs typeface="Times New Roman" panose="02020603050405020304" pitchFamily="18" charset="0"/>
              </a:rPr>
              <a:t>, method, </a:t>
            </a:r>
            <a:r>
              <a:rPr lang="en-US" sz="1600" dirty="0" err="1">
                <a:latin typeface="Times New Roman" panose="02020603050405020304" pitchFamily="18" charset="0"/>
                <a:cs typeface="Times New Roman" panose="02020603050405020304" pitchFamily="18" charset="0"/>
              </a:rPr>
              <a:t>url</a:t>
            </a:r>
            <a:r>
              <a:rPr lang="en-US" sz="1600" dirty="0">
                <a:latin typeface="Times New Roman" panose="02020603050405020304" pitchFamily="18" charset="0"/>
                <a:cs typeface="Times New Roman" panose="02020603050405020304" pitchFamily="18" charset="0"/>
              </a:rPr>
              <a:t>, status, bytes.</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err="1">
                <a:latin typeface="Times New Roman" panose="02020603050405020304" pitchFamily="18" charset="0"/>
                <a:cs typeface="Times New Roman" panose="02020603050405020304" pitchFamily="18" charset="0"/>
              </a:rPr>
              <a:t>duplicate_count</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df.duplicated</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    subset=['timestamp', '</a:t>
            </a:r>
            <a:r>
              <a:rPr lang="en-US" sz="1600" dirty="0" err="1">
                <a:latin typeface="Times New Roman" panose="02020603050405020304" pitchFamily="18" charset="0"/>
                <a:cs typeface="Times New Roman" panose="02020603050405020304" pitchFamily="18" charset="0"/>
              </a:rPr>
              <a:t>ip</a:t>
            </a:r>
            <a:r>
              <a:rPr lang="en-US" sz="1600" dirty="0">
                <a:latin typeface="Times New Roman" panose="02020603050405020304" pitchFamily="18" charset="0"/>
                <a:cs typeface="Times New Roman" panose="02020603050405020304" pitchFamily="18" charset="0"/>
              </a:rPr>
              <a:t>', 'method', '</a:t>
            </a:r>
            <a:r>
              <a:rPr lang="en-US" sz="1600" dirty="0" err="1">
                <a:latin typeface="Times New Roman" panose="02020603050405020304" pitchFamily="18" charset="0"/>
                <a:cs typeface="Times New Roman" panose="02020603050405020304" pitchFamily="18" charset="0"/>
              </a:rPr>
              <a:t>url</a:t>
            </a:r>
            <a:r>
              <a:rPr lang="en-US" sz="1600" dirty="0">
                <a:latin typeface="Times New Roman" panose="02020603050405020304" pitchFamily="18" charset="0"/>
                <a:cs typeface="Times New Roman" panose="02020603050405020304" pitchFamily="18" charset="0"/>
              </a:rPr>
              <a:t>', 'status', 'bytes']</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).sum()</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print(</a:t>
            </a:r>
            <a:r>
              <a:rPr lang="en-US" sz="1600" dirty="0" err="1">
                <a:latin typeface="Times New Roman" panose="02020603050405020304" pitchFamily="18" charset="0"/>
                <a:cs typeface="Times New Roman" panose="02020603050405020304" pitchFamily="18" charset="0"/>
              </a:rPr>
              <a:t>f'Duplicate</a:t>
            </a:r>
            <a:r>
              <a:rPr lang="en-US" sz="1600" dirty="0">
                <a:latin typeface="Times New Roman" panose="02020603050405020304" pitchFamily="18" charset="0"/>
                <a:cs typeface="Times New Roman" panose="02020603050405020304" pitchFamily="18" charset="0"/>
              </a:rPr>
              <a:t> records found: {</a:t>
            </a:r>
            <a:r>
              <a:rPr lang="en-US" sz="1600" dirty="0" err="1">
                <a:latin typeface="Times New Roman" panose="02020603050405020304" pitchFamily="18" charset="0"/>
                <a:cs typeface="Times New Roman" panose="02020603050405020304" pitchFamily="18" charset="0"/>
              </a:rPr>
              <a:t>duplicate_count</a:t>
            </a:r>
            <a:r>
              <a:rPr lang="en-US" sz="1600" dirty="0">
                <a:latin typeface="Times New Roman" panose="02020603050405020304" pitchFamily="18" charset="0"/>
                <a:cs typeface="Times New Roman" panose="02020603050405020304" pitchFamily="18" charset="0"/>
              </a:rPr>
              <a:t>}') # 111,137</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print(</a:t>
            </a:r>
            <a:r>
              <a:rPr lang="en-US" sz="1600" dirty="0" err="1">
                <a:latin typeface="Times New Roman" panose="02020603050405020304" pitchFamily="18" charset="0"/>
                <a:cs typeface="Times New Roman" panose="02020603050405020304" pitchFamily="18" charset="0"/>
              </a:rPr>
              <a:t>f'Duplicate</a:t>
            </a:r>
            <a:r>
              <a:rPr lang="en-US" sz="1600" dirty="0">
                <a:latin typeface="Times New Roman" panose="02020603050405020304" pitchFamily="18" charset="0"/>
                <a:cs typeface="Times New Roman" panose="02020603050405020304" pitchFamily="18" charset="0"/>
              </a:rPr>
              <a:t> percentage:    {</a:t>
            </a:r>
            <a:r>
              <a:rPr lang="en-US" sz="1600" dirty="0" err="1">
                <a:latin typeface="Times New Roman" panose="02020603050405020304" pitchFamily="18" charset="0"/>
                <a:cs typeface="Times New Roman" panose="02020603050405020304" pitchFamily="18" charset="0"/>
              </a:rPr>
              <a:t>duplicate_count</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len</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df</a:t>
            </a:r>
            <a:r>
              <a:rPr lang="en-US" sz="1600" dirty="0">
                <a:latin typeface="Times New Roman" panose="02020603050405020304" pitchFamily="18" charset="0"/>
                <a:cs typeface="Times New Roman" panose="02020603050405020304" pitchFamily="18" charset="0"/>
              </a:rPr>
              <a:t>) * 100:.2f}%')  # 1.07%</a:t>
            </a:r>
          </a:p>
          <a:p>
            <a:endParaRPr lang="en-IN"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111,137</a:t>
            </a:r>
            <a:r>
              <a:rPr lang="en-US" sz="1600" dirty="0">
                <a:latin typeface="Times New Roman" panose="02020603050405020304" pitchFamily="18" charset="0"/>
                <a:cs typeface="Times New Roman" panose="02020603050405020304" pitchFamily="18" charset="0"/>
              </a:rPr>
              <a:t> records (</a:t>
            </a:r>
            <a:r>
              <a:rPr lang="en-US" sz="1600" b="1" dirty="0">
                <a:latin typeface="Times New Roman" panose="02020603050405020304" pitchFamily="18" charset="0"/>
                <a:cs typeface="Times New Roman" panose="02020603050405020304" pitchFamily="18" charset="0"/>
              </a:rPr>
              <a:t>1.07%</a:t>
            </a:r>
            <a:r>
              <a:rPr lang="en-US" sz="1600" dirty="0">
                <a:latin typeface="Times New Roman" panose="02020603050405020304" pitchFamily="18" charset="0"/>
                <a:cs typeface="Times New Roman" panose="02020603050405020304" pitchFamily="18" charset="0"/>
              </a:rPr>
              <a:t> of total) are exact duplicates. Records are NOT removed at this stage. Likely causes: web server log rotation overlap, load balancer double-logging.</a:t>
            </a:r>
            <a:endParaRPr lang="en-IN" sz="16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9178033-F14F-BF31-43B0-AF2CE3BA2E41}"/>
              </a:ext>
            </a:extLst>
          </p:cNvPr>
          <p:cNvSpPr txBox="1"/>
          <p:nvPr/>
        </p:nvSpPr>
        <p:spPr>
          <a:xfrm>
            <a:off x="6224149" y="11603289"/>
            <a:ext cx="453044" cy="369332"/>
          </a:xfrm>
          <a:prstGeom prst="rect">
            <a:avLst/>
          </a:prstGeom>
          <a:noFill/>
        </p:spPr>
        <p:txBody>
          <a:bodyPr wrap="square" rtlCol="0">
            <a:spAutoFit/>
          </a:bodyPr>
          <a:lstStyle/>
          <a:p>
            <a:r>
              <a:rPr lang="en-US" dirty="0"/>
              <a:t>10</a:t>
            </a:r>
            <a:endParaRPr lang="en-IN" dirty="0"/>
          </a:p>
        </p:txBody>
      </p:sp>
    </p:spTree>
    <p:extLst>
      <p:ext uri="{BB962C8B-B14F-4D97-AF65-F5344CB8AC3E}">
        <p14:creationId xmlns:p14="http://schemas.microsoft.com/office/powerpoint/2010/main" val="1827019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DDA7-84E1-9F37-4B8A-510D086AB10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74F9700-F032-D052-0BDE-0BD91B81EF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281243C7-8A1E-FCC8-2039-AFF4736B49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D8D95BDA-404A-C0AC-4D19-04CDDCF5267A}"/>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E4509C9A-B9DE-AE45-C6D1-58E8F83B06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30BD4D05-F123-DEDA-A72A-508D735CC4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33014BE1-EF00-4874-8837-708A81F4C359}"/>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2" name="TextBox 1">
            <a:extLst>
              <a:ext uri="{FF2B5EF4-FFF2-40B4-BE49-F238E27FC236}">
                <a16:creationId xmlns:a16="http://schemas.microsoft.com/office/drawing/2014/main" id="{1AEC24FA-6E73-4A78-DD4A-4CEA16C37EB1}"/>
              </a:ext>
            </a:extLst>
          </p:cNvPr>
          <p:cNvSpPr txBox="1"/>
          <p:nvPr/>
        </p:nvSpPr>
        <p:spPr>
          <a:xfrm>
            <a:off x="415638" y="1013655"/>
            <a:ext cx="3236784" cy="458074"/>
          </a:xfrm>
          <a:prstGeom prst="rect">
            <a:avLst/>
          </a:prstGeom>
          <a:noFill/>
        </p:spPr>
        <p:txBody>
          <a:bodyPr wrap="none" rtlCol="0">
            <a:spAutoFit/>
          </a:bodyPr>
          <a:lstStyle/>
          <a:p>
            <a:pPr>
              <a:lnSpc>
                <a:spcPct val="150000"/>
              </a:lnSpc>
            </a:pPr>
            <a:r>
              <a:rPr lang="en-US" b="1" dirty="0">
                <a:latin typeface="Times New Roman" panose="02020603050405020304" pitchFamily="18" charset="0"/>
                <a:cs typeface="Times New Roman" panose="02020603050405020304" pitchFamily="18" charset="0"/>
              </a:rPr>
              <a:t>9.3  EDA: Dataset Date Range:</a:t>
            </a:r>
            <a:endParaRPr lang="en-IN"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D946DD57-7389-5825-7D04-AFF322DFEAA4}"/>
              </a:ext>
            </a:extLst>
          </p:cNvPr>
          <p:cNvGraphicFramePr>
            <a:graphicFrameLocks noGrp="1"/>
          </p:cNvGraphicFramePr>
          <p:nvPr>
            <p:extLst>
              <p:ext uri="{D42A27DB-BD31-4B8C-83A1-F6EECF244321}">
                <p14:modId xmlns:p14="http://schemas.microsoft.com/office/powerpoint/2010/main" val="68392570"/>
              </p:ext>
            </p:extLst>
          </p:nvPr>
        </p:nvGraphicFramePr>
        <p:xfrm>
          <a:off x="415638" y="1517569"/>
          <a:ext cx="6026724" cy="1125880"/>
        </p:xfrm>
        <a:graphic>
          <a:graphicData uri="http://schemas.openxmlformats.org/drawingml/2006/table">
            <a:tbl>
              <a:tblPr firstRow="1" firstCol="1" bandRow="1">
                <a:tableStyleId>{3B4B98B0-60AC-42C2-AFA5-B58CD77FA1E5}</a:tableStyleId>
              </a:tblPr>
              <a:tblGrid>
                <a:gridCol w="3013362">
                  <a:extLst>
                    <a:ext uri="{9D8B030D-6E8A-4147-A177-3AD203B41FA5}">
                      <a16:colId xmlns:a16="http://schemas.microsoft.com/office/drawing/2014/main" val="1563184775"/>
                    </a:ext>
                  </a:extLst>
                </a:gridCol>
                <a:gridCol w="3013362">
                  <a:extLst>
                    <a:ext uri="{9D8B030D-6E8A-4147-A177-3AD203B41FA5}">
                      <a16:colId xmlns:a16="http://schemas.microsoft.com/office/drawing/2014/main" val="504809951"/>
                    </a:ext>
                  </a:extLst>
                </a:gridCol>
              </a:tblGrid>
              <a:tr h="281470">
                <a:tc>
                  <a:txBody>
                    <a:bodyPr/>
                    <a:lstStyle/>
                    <a:p>
                      <a:pPr algn="ctr">
                        <a:lnSpc>
                          <a:spcPct val="150000"/>
                        </a:lnSpc>
                        <a:spcAft>
                          <a:spcPts val="1000"/>
                        </a:spcAft>
                        <a:buNone/>
                      </a:pPr>
                      <a:r>
                        <a:rPr lang="en-US" sz="1200">
                          <a:effectLst/>
                        </a:rPr>
                        <a:t>Metric</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a:effectLst/>
                        </a:rPr>
                        <a:t>Value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965188155"/>
                  </a:ext>
                </a:extLst>
              </a:tr>
              <a:tr h="281470">
                <a:tc>
                  <a:txBody>
                    <a:bodyPr/>
                    <a:lstStyle/>
                    <a:p>
                      <a:pPr>
                        <a:lnSpc>
                          <a:spcPct val="150000"/>
                        </a:lnSpc>
                        <a:spcAft>
                          <a:spcPts val="1000"/>
                        </a:spcAft>
                        <a:buNone/>
                      </a:pPr>
                      <a:r>
                        <a:rPr lang="en-US" sz="1200" dirty="0">
                          <a:effectLst/>
                        </a:rPr>
                        <a:t>Earliest log entry</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2019-01-22 03:56:14 +03:30</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648352965"/>
                  </a:ext>
                </a:extLst>
              </a:tr>
              <a:tr h="281470">
                <a:tc>
                  <a:txBody>
                    <a:bodyPr/>
                    <a:lstStyle/>
                    <a:p>
                      <a:pPr>
                        <a:lnSpc>
                          <a:spcPct val="150000"/>
                        </a:lnSpc>
                        <a:spcAft>
                          <a:spcPts val="1000"/>
                        </a:spcAft>
                        <a:buNone/>
                      </a:pPr>
                      <a:r>
                        <a:rPr lang="en-US" sz="1200" dirty="0">
                          <a:effectLst/>
                        </a:rPr>
                        <a:t>Latest log entry</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2019-01-26 23:59:xx +03:30</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88223500"/>
                  </a:ext>
                </a:extLst>
              </a:tr>
              <a:tr h="281470">
                <a:tc>
                  <a:txBody>
                    <a:bodyPr/>
                    <a:lstStyle/>
                    <a:p>
                      <a:pPr>
                        <a:lnSpc>
                          <a:spcPct val="150000"/>
                        </a:lnSpc>
                        <a:spcAft>
                          <a:spcPts val="1000"/>
                        </a:spcAft>
                        <a:buNone/>
                      </a:pPr>
                      <a:r>
                        <a:rPr lang="en-US" sz="1200" dirty="0">
                          <a:effectLst/>
                        </a:rPr>
                        <a:t>Total duration</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Approximately 4 days, 20 hours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791610311"/>
                  </a:ext>
                </a:extLst>
              </a:tr>
            </a:tbl>
          </a:graphicData>
        </a:graphic>
      </p:graphicFrame>
      <p:sp>
        <p:nvSpPr>
          <p:cNvPr id="4" name="TextBox 3">
            <a:extLst>
              <a:ext uri="{FF2B5EF4-FFF2-40B4-BE49-F238E27FC236}">
                <a16:creationId xmlns:a16="http://schemas.microsoft.com/office/drawing/2014/main" id="{E1B1EF09-A633-E942-ED6F-9FF839943550}"/>
              </a:ext>
            </a:extLst>
          </p:cNvPr>
          <p:cNvSpPr txBox="1"/>
          <p:nvPr/>
        </p:nvSpPr>
        <p:spPr>
          <a:xfrm>
            <a:off x="415638" y="2681434"/>
            <a:ext cx="3993466" cy="458074"/>
          </a:xfrm>
          <a:prstGeom prst="rect">
            <a:avLst/>
          </a:prstGeom>
          <a:noFill/>
        </p:spPr>
        <p:txBody>
          <a:bodyPr wrap="none" rtlCol="0">
            <a:spAutoFit/>
          </a:bodyPr>
          <a:lstStyle/>
          <a:p>
            <a:pPr>
              <a:lnSpc>
                <a:spcPct val="150000"/>
              </a:lnSpc>
            </a:pPr>
            <a:r>
              <a:rPr lang="en-US" b="1" dirty="0">
                <a:latin typeface="Times New Roman" panose="02020603050405020304" pitchFamily="18" charset="0"/>
                <a:cs typeface="Times New Roman" panose="02020603050405020304" pitchFamily="18" charset="0"/>
              </a:rPr>
              <a:t>9.4  EDA: HTTP Method Distribution:</a:t>
            </a:r>
            <a:endParaRPr lang="en-IN"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685DF444-DBBF-984D-E0EC-BCD99522BCB5}"/>
              </a:ext>
            </a:extLst>
          </p:cNvPr>
          <p:cNvGraphicFramePr>
            <a:graphicFrameLocks noGrp="1"/>
          </p:cNvGraphicFramePr>
          <p:nvPr>
            <p:extLst>
              <p:ext uri="{D42A27DB-BD31-4B8C-83A1-F6EECF244321}">
                <p14:modId xmlns:p14="http://schemas.microsoft.com/office/powerpoint/2010/main" val="3415836788"/>
              </p:ext>
            </p:extLst>
          </p:nvPr>
        </p:nvGraphicFramePr>
        <p:xfrm>
          <a:off x="415638" y="3160708"/>
          <a:ext cx="6026724" cy="1526336"/>
        </p:xfrm>
        <a:graphic>
          <a:graphicData uri="http://schemas.openxmlformats.org/drawingml/2006/table">
            <a:tbl>
              <a:tblPr firstRow="1" firstCol="1" bandRow="1">
                <a:tableStyleId>{3B4B98B0-60AC-42C2-AFA5-B58CD77FA1E5}</a:tableStyleId>
              </a:tblPr>
              <a:tblGrid>
                <a:gridCol w="2008908">
                  <a:extLst>
                    <a:ext uri="{9D8B030D-6E8A-4147-A177-3AD203B41FA5}">
                      <a16:colId xmlns:a16="http://schemas.microsoft.com/office/drawing/2014/main" val="2470246393"/>
                    </a:ext>
                  </a:extLst>
                </a:gridCol>
                <a:gridCol w="2008908">
                  <a:extLst>
                    <a:ext uri="{9D8B030D-6E8A-4147-A177-3AD203B41FA5}">
                      <a16:colId xmlns:a16="http://schemas.microsoft.com/office/drawing/2014/main" val="2650589603"/>
                    </a:ext>
                  </a:extLst>
                </a:gridCol>
                <a:gridCol w="2008908">
                  <a:extLst>
                    <a:ext uri="{9D8B030D-6E8A-4147-A177-3AD203B41FA5}">
                      <a16:colId xmlns:a16="http://schemas.microsoft.com/office/drawing/2014/main" val="2094427740"/>
                    </a:ext>
                  </a:extLst>
                </a:gridCol>
              </a:tblGrid>
              <a:tr h="218048">
                <a:tc>
                  <a:txBody>
                    <a:bodyPr/>
                    <a:lstStyle/>
                    <a:p>
                      <a:pPr algn="ctr">
                        <a:lnSpc>
                          <a:spcPct val="115000"/>
                        </a:lnSpc>
                        <a:spcAft>
                          <a:spcPts val="1000"/>
                        </a:spcAft>
                        <a:buNone/>
                      </a:pPr>
                      <a:r>
                        <a:rPr lang="en-US" sz="1200">
                          <a:effectLst/>
                        </a:rPr>
                        <a:t>HTTP Method</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Count (Approx)</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Percentage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789326019"/>
                  </a:ext>
                </a:extLst>
              </a:tr>
              <a:tr h="218048">
                <a:tc>
                  <a:txBody>
                    <a:bodyPr/>
                    <a:lstStyle/>
                    <a:p>
                      <a:pPr>
                        <a:lnSpc>
                          <a:spcPct val="115000"/>
                        </a:lnSpc>
                        <a:spcAft>
                          <a:spcPts val="1000"/>
                        </a:spcAft>
                        <a:buNone/>
                      </a:pPr>
                      <a:r>
                        <a:rPr lang="en-US" sz="1200" dirty="0">
                          <a:effectLst/>
                        </a:rPr>
                        <a:t>GET</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~10,100,000</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~97.5%</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06459533"/>
                  </a:ext>
                </a:extLst>
              </a:tr>
              <a:tr h="218048">
                <a:tc>
                  <a:txBody>
                    <a:bodyPr/>
                    <a:lstStyle/>
                    <a:p>
                      <a:pPr>
                        <a:lnSpc>
                          <a:spcPct val="115000"/>
                        </a:lnSpc>
                        <a:spcAft>
                          <a:spcPts val="1000"/>
                        </a:spcAft>
                        <a:buNone/>
                      </a:pPr>
                      <a:r>
                        <a:rPr lang="en-US" sz="1200" dirty="0">
                          <a:effectLst/>
                        </a:rPr>
                        <a:t> </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 </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 </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601111815"/>
                  </a:ext>
                </a:extLst>
              </a:tr>
              <a:tr h="218048">
                <a:tc>
                  <a:txBody>
                    <a:bodyPr/>
                    <a:lstStyle/>
                    <a:p>
                      <a:pPr>
                        <a:lnSpc>
                          <a:spcPct val="115000"/>
                        </a:lnSpc>
                        <a:spcAft>
                          <a:spcPts val="1000"/>
                        </a:spcAft>
                        <a:buNone/>
                      </a:pPr>
                      <a:r>
                        <a:rPr lang="en-US" sz="1200">
                          <a:effectLst/>
                        </a:rPr>
                        <a:t>POST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~200,000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~1.9%</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41275386"/>
                  </a:ext>
                </a:extLst>
              </a:tr>
              <a:tr h="218048">
                <a:tc>
                  <a:txBody>
                    <a:bodyPr/>
                    <a:lstStyle/>
                    <a:p>
                      <a:pPr>
                        <a:lnSpc>
                          <a:spcPct val="115000"/>
                        </a:lnSpc>
                        <a:spcAft>
                          <a:spcPts val="1000"/>
                        </a:spcAft>
                        <a:buNone/>
                      </a:pPr>
                      <a:r>
                        <a:rPr lang="en-US" sz="1200">
                          <a:effectLst/>
                        </a:rPr>
                        <a:t>HEAD</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~40,000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~0.4%</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525886256"/>
                  </a:ext>
                </a:extLst>
              </a:tr>
              <a:tr h="218048">
                <a:tc>
                  <a:txBody>
                    <a:bodyPr/>
                    <a:lstStyle/>
                    <a:p>
                      <a:pPr>
                        <a:lnSpc>
                          <a:spcPct val="115000"/>
                        </a:lnSpc>
                        <a:spcAft>
                          <a:spcPts val="1000"/>
                        </a:spcAft>
                        <a:buNone/>
                      </a:pPr>
                      <a:r>
                        <a:rPr lang="en-US" sz="1200">
                          <a:effectLst/>
                        </a:rPr>
                        <a:t>PUT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~15,000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~0.1%</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755467757"/>
                  </a:ext>
                </a:extLst>
              </a:tr>
              <a:tr h="218048">
                <a:tc>
                  <a:txBody>
                    <a:bodyPr/>
                    <a:lstStyle/>
                    <a:p>
                      <a:pPr>
                        <a:lnSpc>
                          <a:spcPct val="115000"/>
                        </a:lnSpc>
                        <a:spcAft>
                          <a:spcPts val="1000"/>
                        </a:spcAft>
                        <a:buNone/>
                      </a:pPr>
                      <a:r>
                        <a:rPr lang="en-US" sz="1200">
                          <a:effectLst/>
                        </a:rPr>
                        <a:t>DELETE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~8,000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~0.1%</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416554219"/>
                  </a:ext>
                </a:extLst>
              </a:tr>
            </a:tbl>
          </a:graphicData>
        </a:graphic>
      </p:graphicFrame>
      <p:sp>
        <p:nvSpPr>
          <p:cNvPr id="9" name="TextBox 8">
            <a:extLst>
              <a:ext uri="{FF2B5EF4-FFF2-40B4-BE49-F238E27FC236}">
                <a16:creationId xmlns:a16="http://schemas.microsoft.com/office/drawing/2014/main" id="{A3C9277E-6B92-975C-4B7E-658E7C2BE543}"/>
              </a:ext>
            </a:extLst>
          </p:cNvPr>
          <p:cNvSpPr txBox="1"/>
          <p:nvPr/>
        </p:nvSpPr>
        <p:spPr>
          <a:xfrm>
            <a:off x="415639" y="4663732"/>
            <a:ext cx="6026724" cy="1156086"/>
          </a:xfrm>
          <a:prstGeom prst="rect">
            <a:avLst/>
          </a:prstGeom>
          <a:noFill/>
        </p:spPr>
        <p:txBody>
          <a:bodyPr wrap="square" rtlCol="0">
            <a:spAutoFit/>
          </a:bodyPr>
          <a:lstStyle/>
          <a:p>
            <a:pPr>
              <a:lnSpc>
                <a:spcPct val="150000"/>
              </a:lnSpc>
            </a:pPr>
            <a:r>
              <a:rPr lang="en-US" sz="1600" b="1" dirty="0">
                <a:latin typeface="Times New Roman" panose="02020603050405020304" pitchFamily="18" charset="0"/>
                <a:cs typeface="Times New Roman" panose="02020603050405020304" pitchFamily="18" charset="0"/>
              </a:rPr>
              <a:t>Finding:</a:t>
            </a:r>
            <a:r>
              <a:rPr lang="en-US" sz="1600" dirty="0">
                <a:latin typeface="Times New Roman" panose="02020603050405020304" pitchFamily="18" charset="0"/>
                <a:cs typeface="Times New Roman" panose="02020603050405020304" pitchFamily="18" charset="0"/>
              </a:rPr>
              <a:t> The e-commerce site is predominantly GET-based (product browsing). High POST counts could indicate form submissions or search queries.</a:t>
            </a:r>
            <a:endParaRPr lang="en-IN" sz="16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A6DE7BB-828A-2AC9-DFA4-65A5AA6A9640}"/>
              </a:ext>
            </a:extLst>
          </p:cNvPr>
          <p:cNvSpPr txBox="1"/>
          <p:nvPr/>
        </p:nvSpPr>
        <p:spPr>
          <a:xfrm>
            <a:off x="415637" y="5889167"/>
            <a:ext cx="4410246" cy="458074"/>
          </a:xfrm>
          <a:prstGeom prst="rect">
            <a:avLst/>
          </a:prstGeom>
          <a:noFill/>
        </p:spPr>
        <p:txBody>
          <a:bodyPr wrap="none" rtlCol="0">
            <a:spAutoFit/>
          </a:bodyPr>
          <a:lstStyle/>
          <a:p>
            <a:pPr>
              <a:lnSpc>
                <a:spcPct val="150000"/>
              </a:lnSpc>
            </a:pPr>
            <a:r>
              <a:rPr lang="en-US" b="1" dirty="0">
                <a:latin typeface="Times New Roman" panose="02020603050405020304" pitchFamily="18" charset="0"/>
                <a:cs typeface="Times New Roman" panose="02020603050405020304" pitchFamily="18" charset="0"/>
              </a:rPr>
              <a:t>9.5  EDA: HTTP Status Code Distribution:</a:t>
            </a:r>
            <a:endParaRPr lang="en-IN" dirty="0">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4E885E97-870D-0A13-C0E4-DFD75829CF00}"/>
              </a:ext>
            </a:extLst>
          </p:cNvPr>
          <p:cNvGraphicFramePr>
            <a:graphicFrameLocks noGrp="1"/>
          </p:cNvGraphicFramePr>
          <p:nvPr>
            <p:extLst>
              <p:ext uri="{D42A27DB-BD31-4B8C-83A1-F6EECF244321}">
                <p14:modId xmlns:p14="http://schemas.microsoft.com/office/powerpoint/2010/main" val="1640990924"/>
              </p:ext>
            </p:extLst>
          </p:nvPr>
        </p:nvGraphicFramePr>
        <p:xfrm>
          <a:off x="415637" y="6433485"/>
          <a:ext cx="6026724" cy="1725108"/>
        </p:xfrm>
        <a:graphic>
          <a:graphicData uri="http://schemas.openxmlformats.org/drawingml/2006/table">
            <a:tbl>
              <a:tblPr firstRow="1" firstCol="1" bandRow="1">
                <a:tableStyleId>{3B4B98B0-60AC-42C2-AFA5-B58CD77FA1E5}</a:tableStyleId>
              </a:tblPr>
              <a:tblGrid>
                <a:gridCol w="1506681">
                  <a:extLst>
                    <a:ext uri="{9D8B030D-6E8A-4147-A177-3AD203B41FA5}">
                      <a16:colId xmlns:a16="http://schemas.microsoft.com/office/drawing/2014/main" val="634476380"/>
                    </a:ext>
                  </a:extLst>
                </a:gridCol>
                <a:gridCol w="1506681">
                  <a:extLst>
                    <a:ext uri="{9D8B030D-6E8A-4147-A177-3AD203B41FA5}">
                      <a16:colId xmlns:a16="http://schemas.microsoft.com/office/drawing/2014/main" val="80035884"/>
                    </a:ext>
                  </a:extLst>
                </a:gridCol>
                <a:gridCol w="1506681">
                  <a:extLst>
                    <a:ext uri="{9D8B030D-6E8A-4147-A177-3AD203B41FA5}">
                      <a16:colId xmlns:a16="http://schemas.microsoft.com/office/drawing/2014/main" val="1263895169"/>
                    </a:ext>
                  </a:extLst>
                </a:gridCol>
                <a:gridCol w="1506681">
                  <a:extLst>
                    <a:ext uri="{9D8B030D-6E8A-4147-A177-3AD203B41FA5}">
                      <a16:colId xmlns:a16="http://schemas.microsoft.com/office/drawing/2014/main" val="3589641090"/>
                    </a:ext>
                  </a:extLst>
                </a:gridCol>
              </a:tblGrid>
              <a:tr h="230007">
                <a:tc>
                  <a:txBody>
                    <a:bodyPr/>
                    <a:lstStyle/>
                    <a:p>
                      <a:pPr algn="ctr">
                        <a:lnSpc>
                          <a:spcPct val="150000"/>
                        </a:lnSpc>
                        <a:spcAft>
                          <a:spcPts val="1000"/>
                        </a:spcAft>
                        <a:buNone/>
                      </a:pPr>
                      <a:r>
                        <a:rPr lang="en-US" sz="1200">
                          <a:effectLst/>
                        </a:rPr>
                        <a:t>Status Code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a:effectLst/>
                        </a:rPr>
                        <a:t>Meaning</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a:effectLst/>
                        </a:rPr>
                        <a:t>Count (Approx)</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a:effectLst/>
                        </a:rPr>
                        <a:t>Percentage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578920051"/>
                  </a:ext>
                </a:extLst>
              </a:tr>
              <a:tr h="230007">
                <a:tc>
                  <a:txBody>
                    <a:bodyPr/>
                    <a:lstStyle/>
                    <a:p>
                      <a:pPr>
                        <a:lnSpc>
                          <a:spcPct val="150000"/>
                        </a:lnSpc>
                        <a:spcAft>
                          <a:spcPts val="1000"/>
                        </a:spcAft>
                        <a:buNone/>
                      </a:pPr>
                      <a:r>
                        <a:rPr lang="en-US" sz="1200">
                          <a:effectLst/>
                        </a:rPr>
                        <a:t>200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OK</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~8,900,000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~86%</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30680776"/>
                  </a:ext>
                </a:extLst>
              </a:tr>
              <a:tr h="230007">
                <a:tc>
                  <a:txBody>
                    <a:bodyPr/>
                    <a:lstStyle/>
                    <a:p>
                      <a:pPr>
                        <a:lnSpc>
                          <a:spcPct val="150000"/>
                        </a:lnSpc>
                        <a:spcAft>
                          <a:spcPts val="1000"/>
                        </a:spcAft>
                        <a:buNone/>
                      </a:pPr>
                      <a:r>
                        <a:rPr lang="en-US" sz="1200" dirty="0">
                          <a:effectLst/>
                        </a:rPr>
                        <a:t>304</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Not Modified</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~800,000</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~7.7%</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949816220"/>
                  </a:ext>
                </a:extLst>
              </a:tr>
              <a:tr h="230007">
                <a:tc>
                  <a:txBody>
                    <a:bodyPr/>
                    <a:lstStyle/>
                    <a:p>
                      <a:pPr>
                        <a:lnSpc>
                          <a:spcPct val="150000"/>
                        </a:lnSpc>
                        <a:spcAft>
                          <a:spcPts val="1000"/>
                        </a:spcAft>
                        <a:buNone/>
                      </a:pPr>
                      <a:r>
                        <a:rPr lang="en-US" sz="1200" dirty="0">
                          <a:effectLst/>
                        </a:rPr>
                        <a:t>301</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Moved Permanently</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~350,000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~3.4%</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320256705"/>
                  </a:ext>
                </a:extLst>
              </a:tr>
              <a:tr h="230007">
                <a:tc>
                  <a:txBody>
                    <a:bodyPr/>
                    <a:lstStyle/>
                    <a:p>
                      <a:pPr>
                        <a:lnSpc>
                          <a:spcPct val="150000"/>
                        </a:lnSpc>
                        <a:spcAft>
                          <a:spcPts val="1000"/>
                        </a:spcAft>
                        <a:buNone/>
                      </a:pPr>
                      <a:r>
                        <a:rPr lang="en-US" sz="1200">
                          <a:effectLst/>
                        </a:rPr>
                        <a:t>404</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Not Found</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~150,000</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~1.4%</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158422701"/>
                  </a:ext>
                </a:extLst>
              </a:tr>
              <a:tr h="230007">
                <a:tc>
                  <a:txBody>
                    <a:bodyPr/>
                    <a:lstStyle/>
                    <a:p>
                      <a:pPr>
                        <a:lnSpc>
                          <a:spcPct val="150000"/>
                        </a:lnSpc>
                        <a:spcAft>
                          <a:spcPts val="1000"/>
                        </a:spcAft>
                        <a:buNone/>
                      </a:pPr>
                      <a:r>
                        <a:rPr lang="en-US" sz="1200">
                          <a:effectLst/>
                        </a:rPr>
                        <a:t>206</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Partial Content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~80,000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~0.8%</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17051953"/>
                  </a:ext>
                </a:extLst>
              </a:tr>
              <a:tr h="230007">
                <a:tc>
                  <a:txBody>
                    <a:bodyPr/>
                    <a:lstStyle/>
                    <a:p>
                      <a:pPr>
                        <a:lnSpc>
                          <a:spcPct val="150000"/>
                        </a:lnSpc>
                        <a:spcAft>
                          <a:spcPts val="1000"/>
                        </a:spcAft>
                        <a:buNone/>
                      </a:pPr>
                      <a:r>
                        <a:rPr lang="en-US" sz="1200">
                          <a:effectLst/>
                        </a:rPr>
                        <a:t>500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Server Error</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~20,000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~0.2%</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211400414"/>
                  </a:ext>
                </a:extLst>
              </a:tr>
            </a:tbl>
          </a:graphicData>
        </a:graphic>
      </p:graphicFrame>
      <p:sp>
        <p:nvSpPr>
          <p:cNvPr id="13" name="TextBox 12">
            <a:extLst>
              <a:ext uri="{FF2B5EF4-FFF2-40B4-BE49-F238E27FC236}">
                <a16:creationId xmlns:a16="http://schemas.microsoft.com/office/drawing/2014/main" id="{4BF5D760-948C-107D-889D-637FB3BB40D8}"/>
              </a:ext>
            </a:extLst>
          </p:cNvPr>
          <p:cNvSpPr txBox="1"/>
          <p:nvPr/>
        </p:nvSpPr>
        <p:spPr>
          <a:xfrm>
            <a:off x="415637" y="8211587"/>
            <a:ext cx="3262432" cy="458074"/>
          </a:xfrm>
          <a:prstGeom prst="rect">
            <a:avLst/>
          </a:prstGeom>
          <a:noFill/>
        </p:spPr>
        <p:txBody>
          <a:bodyPr wrap="none" rtlCol="0">
            <a:spAutoFit/>
          </a:bodyPr>
          <a:lstStyle/>
          <a:p>
            <a:pPr>
              <a:lnSpc>
                <a:spcPct val="150000"/>
              </a:lnSpc>
            </a:pPr>
            <a:r>
              <a:rPr lang="en-US" b="1" dirty="0">
                <a:latin typeface="Times New Roman" panose="02020603050405020304" pitchFamily="18" charset="0"/>
                <a:cs typeface="Times New Roman" panose="02020603050405020304" pitchFamily="18" charset="0"/>
              </a:rPr>
              <a:t>9.6  EDA: Bytes Sent Statistics:</a:t>
            </a:r>
            <a:endParaRPr lang="en-IN" dirty="0">
              <a:latin typeface="Times New Roman" panose="02020603050405020304" pitchFamily="18" charset="0"/>
              <a:cs typeface="Times New Roman" panose="02020603050405020304" pitchFamily="18" charset="0"/>
            </a:endParaRPr>
          </a:p>
        </p:txBody>
      </p:sp>
      <p:graphicFrame>
        <p:nvGraphicFramePr>
          <p:cNvPr id="15" name="Table 14">
            <a:extLst>
              <a:ext uri="{FF2B5EF4-FFF2-40B4-BE49-F238E27FC236}">
                <a16:creationId xmlns:a16="http://schemas.microsoft.com/office/drawing/2014/main" id="{FF1F42AE-5AC3-9717-7576-B249F4D01CEA}"/>
              </a:ext>
            </a:extLst>
          </p:cNvPr>
          <p:cNvGraphicFramePr>
            <a:graphicFrameLocks noGrp="1"/>
          </p:cNvGraphicFramePr>
          <p:nvPr>
            <p:extLst>
              <p:ext uri="{D42A27DB-BD31-4B8C-83A1-F6EECF244321}">
                <p14:modId xmlns:p14="http://schemas.microsoft.com/office/powerpoint/2010/main" val="1641872975"/>
              </p:ext>
            </p:extLst>
          </p:nvPr>
        </p:nvGraphicFramePr>
        <p:xfrm>
          <a:off x="415637" y="8734578"/>
          <a:ext cx="6026724" cy="2217996"/>
        </p:xfrm>
        <a:graphic>
          <a:graphicData uri="http://schemas.openxmlformats.org/drawingml/2006/table">
            <a:tbl>
              <a:tblPr firstRow="1" firstCol="1" bandRow="1">
                <a:tableStyleId>{3B4B98B0-60AC-42C2-AFA5-B58CD77FA1E5}</a:tableStyleId>
              </a:tblPr>
              <a:tblGrid>
                <a:gridCol w="3013362">
                  <a:extLst>
                    <a:ext uri="{9D8B030D-6E8A-4147-A177-3AD203B41FA5}">
                      <a16:colId xmlns:a16="http://schemas.microsoft.com/office/drawing/2014/main" val="3825704485"/>
                    </a:ext>
                  </a:extLst>
                </a:gridCol>
                <a:gridCol w="3013362">
                  <a:extLst>
                    <a:ext uri="{9D8B030D-6E8A-4147-A177-3AD203B41FA5}">
                      <a16:colId xmlns:a16="http://schemas.microsoft.com/office/drawing/2014/main" val="3954733929"/>
                    </a:ext>
                  </a:extLst>
                </a:gridCol>
              </a:tblGrid>
              <a:tr h="225567">
                <a:tc>
                  <a:txBody>
                    <a:bodyPr/>
                    <a:lstStyle/>
                    <a:p>
                      <a:pPr algn="ctr">
                        <a:lnSpc>
                          <a:spcPct val="150000"/>
                        </a:lnSpc>
                        <a:spcAft>
                          <a:spcPts val="1000"/>
                        </a:spcAft>
                        <a:buNone/>
                      </a:pPr>
                      <a:r>
                        <a:rPr lang="en-US" sz="1200" dirty="0">
                          <a:effectLst/>
                        </a:rPr>
                        <a:t>Statistic</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dirty="0">
                          <a:effectLst/>
                        </a:rPr>
                        <a:t>Value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65397601"/>
                  </a:ext>
                </a:extLst>
              </a:tr>
              <a:tr h="225567">
                <a:tc>
                  <a:txBody>
                    <a:bodyPr/>
                    <a:lstStyle/>
                    <a:p>
                      <a:pPr>
                        <a:lnSpc>
                          <a:spcPct val="150000"/>
                        </a:lnSpc>
                        <a:spcAft>
                          <a:spcPts val="1000"/>
                        </a:spcAft>
                        <a:buNone/>
                      </a:pPr>
                      <a:r>
                        <a:rPr lang="en-US" sz="1200" dirty="0">
                          <a:effectLst/>
                        </a:rPr>
                        <a:t>Count</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10,363,637</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46430916"/>
                  </a:ext>
                </a:extLst>
              </a:tr>
              <a:tr h="225567">
                <a:tc>
                  <a:txBody>
                    <a:bodyPr/>
                    <a:lstStyle/>
                    <a:p>
                      <a:pPr>
                        <a:lnSpc>
                          <a:spcPct val="150000"/>
                        </a:lnSpc>
                        <a:spcAft>
                          <a:spcPts val="1000"/>
                        </a:spcAft>
                        <a:buNone/>
                      </a:pPr>
                      <a:r>
                        <a:rPr lang="en-US" sz="1200" dirty="0">
                          <a:effectLst/>
                        </a:rPr>
                        <a:t>Mean</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~18,000 bytes (18 KB)</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551516687"/>
                  </a:ext>
                </a:extLst>
              </a:tr>
              <a:tr h="225567">
                <a:tc>
                  <a:txBody>
                    <a:bodyPr/>
                    <a:lstStyle/>
                    <a:p>
                      <a:pPr>
                        <a:lnSpc>
                          <a:spcPct val="150000"/>
                        </a:lnSpc>
                        <a:spcAft>
                          <a:spcPts val="1000"/>
                        </a:spcAft>
                        <a:buNone/>
                      </a:pPr>
                      <a:r>
                        <a:rPr lang="en-US" sz="1200" dirty="0">
                          <a:effectLst/>
                        </a:rPr>
                        <a:t>Standard Deviation</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~45,000 bytes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048908892"/>
                  </a:ext>
                </a:extLst>
              </a:tr>
              <a:tr h="225567">
                <a:tc>
                  <a:txBody>
                    <a:bodyPr/>
                    <a:lstStyle/>
                    <a:p>
                      <a:pPr>
                        <a:lnSpc>
                          <a:spcPct val="150000"/>
                        </a:lnSpc>
                        <a:spcAft>
                          <a:spcPts val="1000"/>
                        </a:spcAft>
                        <a:buNone/>
                      </a:pPr>
                      <a:r>
                        <a:rPr lang="en-US" sz="1200" dirty="0">
                          <a:effectLst/>
                        </a:rPr>
                        <a:t>Minimum</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0 bytes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315184366"/>
                  </a:ext>
                </a:extLst>
              </a:tr>
              <a:tr h="225567">
                <a:tc>
                  <a:txBody>
                    <a:bodyPr/>
                    <a:lstStyle/>
                    <a:p>
                      <a:pPr>
                        <a:lnSpc>
                          <a:spcPct val="150000"/>
                        </a:lnSpc>
                        <a:spcAft>
                          <a:spcPts val="1000"/>
                        </a:spcAft>
                        <a:buNone/>
                      </a:pPr>
                      <a:r>
                        <a:rPr lang="en-US" sz="1200" dirty="0">
                          <a:effectLst/>
                        </a:rPr>
                        <a:t>25th Percentile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~1,200 bytes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663556542"/>
                  </a:ext>
                </a:extLst>
              </a:tr>
              <a:tr h="225567">
                <a:tc>
                  <a:txBody>
                    <a:bodyPr/>
                    <a:lstStyle/>
                    <a:p>
                      <a:pPr>
                        <a:lnSpc>
                          <a:spcPct val="150000"/>
                        </a:lnSpc>
                        <a:spcAft>
                          <a:spcPts val="1000"/>
                        </a:spcAft>
                        <a:buNone/>
                      </a:pPr>
                      <a:r>
                        <a:rPr lang="en-US" sz="1200" dirty="0">
                          <a:effectLst/>
                        </a:rPr>
                        <a:t>Median (50th)</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~5,000 bytes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183694120"/>
                  </a:ext>
                </a:extLst>
              </a:tr>
              <a:tr h="225567">
                <a:tc>
                  <a:txBody>
                    <a:bodyPr/>
                    <a:lstStyle/>
                    <a:p>
                      <a:pPr>
                        <a:lnSpc>
                          <a:spcPct val="150000"/>
                        </a:lnSpc>
                        <a:spcAft>
                          <a:spcPts val="1000"/>
                        </a:spcAft>
                        <a:buNone/>
                      </a:pPr>
                      <a:r>
                        <a:rPr lang="en-US" sz="1200" dirty="0">
                          <a:effectLst/>
                        </a:rPr>
                        <a:t>75th Percentile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~20,000 bytes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966214736"/>
                  </a:ext>
                </a:extLst>
              </a:tr>
              <a:tr h="225567">
                <a:tc>
                  <a:txBody>
                    <a:bodyPr/>
                    <a:lstStyle/>
                    <a:p>
                      <a:pPr>
                        <a:lnSpc>
                          <a:spcPct val="150000"/>
                        </a:lnSpc>
                        <a:spcAft>
                          <a:spcPts val="1000"/>
                        </a:spcAft>
                        <a:buNone/>
                      </a:pPr>
                      <a:r>
                        <a:rPr lang="en-US" sz="1200" dirty="0">
                          <a:effectLst/>
                        </a:rPr>
                        <a:t>Maximum</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~350,000 bytes+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098772983"/>
                  </a:ext>
                </a:extLst>
              </a:tr>
            </a:tbl>
          </a:graphicData>
        </a:graphic>
      </p:graphicFrame>
      <p:sp>
        <p:nvSpPr>
          <p:cNvPr id="16" name="TextBox 15">
            <a:extLst>
              <a:ext uri="{FF2B5EF4-FFF2-40B4-BE49-F238E27FC236}">
                <a16:creationId xmlns:a16="http://schemas.microsoft.com/office/drawing/2014/main" id="{52EA3897-76BA-3C23-CB5D-BB5B32F8ECA4}"/>
              </a:ext>
            </a:extLst>
          </p:cNvPr>
          <p:cNvSpPr txBox="1"/>
          <p:nvPr/>
        </p:nvSpPr>
        <p:spPr>
          <a:xfrm>
            <a:off x="6182988" y="11621310"/>
            <a:ext cx="453044" cy="366629"/>
          </a:xfrm>
          <a:prstGeom prst="rect">
            <a:avLst/>
          </a:prstGeom>
          <a:noFill/>
        </p:spPr>
        <p:txBody>
          <a:bodyPr wrap="square" rtlCol="0">
            <a:spAutoFit/>
          </a:bodyPr>
          <a:lstStyle/>
          <a:p>
            <a:r>
              <a:rPr lang="en-US" dirty="0"/>
              <a:t>11</a:t>
            </a:r>
            <a:endParaRPr lang="en-IN" dirty="0"/>
          </a:p>
        </p:txBody>
      </p:sp>
    </p:spTree>
    <p:extLst>
      <p:ext uri="{BB962C8B-B14F-4D97-AF65-F5344CB8AC3E}">
        <p14:creationId xmlns:p14="http://schemas.microsoft.com/office/powerpoint/2010/main" val="4024079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93F86-7E8B-926F-A30D-AD343C60552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EF11BB5-C3B6-9017-C585-E329C3ADF4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A9981584-4FE7-33E8-A5B3-00FCCA123E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C749F471-7CE6-2DC4-9402-3D75F62F36D6}"/>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44D7C5F6-6A25-81FC-5A3E-F25EFFC1F0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9CDD4B18-DE38-D927-FC54-59291A6556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79A9329E-1910-0482-012B-6B1B78C3A5A1}"/>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2" name="TextBox 1">
            <a:extLst>
              <a:ext uri="{FF2B5EF4-FFF2-40B4-BE49-F238E27FC236}">
                <a16:creationId xmlns:a16="http://schemas.microsoft.com/office/drawing/2014/main" id="{2F236EF3-877A-CEB2-C2A4-4F022C43F7AE}"/>
              </a:ext>
            </a:extLst>
          </p:cNvPr>
          <p:cNvSpPr txBox="1"/>
          <p:nvPr/>
        </p:nvSpPr>
        <p:spPr>
          <a:xfrm>
            <a:off x="362737" y="923036"/>
            <a:ext cx="6079625" cy="1156086"/>
          </a:xfrm>
          <a:prstGeom prst="rect">
            <a:avLst/>
          </a:prstGeom>
          <a:noFill/>
        </p:spPr>
        <p:txBody>
          <a:bodyPr wrap="square" rtlCol="0">
            <a:spAutoFit/>
          </a:bodyPr>
          <a:lstStyle/>
          <a:p>
            <a:pPr>
              <a:lnSpc>
                <a:spcPct val="150000"/>
              </a:lnSpc>
            </a:pPr>
            <a:r>
              <a:rPr lang="en-US" sz="1600" b="1" dirty="0">
                <a:latin typeface="Times New Roman" panose="02020603050405020304" pitchFamily="18" charset="0"/>
                <a:cs typeface="Times New Roman" panose="02020603050405020304" pitchFamily="18" charset="0"/>
              </a:rPr>
              <a:t>Finding:</a:t>
            </a:r>
            <a:r>
              <a:rPr lang="en-US" sz="1600" dirty="0">
                <a:latin typeface="Times New Roman" panose="02020603050405020304" pitchFamily="18" charset="0"/>
                <a:cs typeface="Times New Roman" panose="02020603050405020304" pitchFamily="18" charset="0"/>
              </a:rPr>
              <a:t> The distribution is highly right-skewed. Median (5 KB) is much lower than mean (18 KB), confirming skew. 0-byte responses are valid (e.g., 304 Not Modified sends no body).</a:t>
            </a:r>
            <a:endParaRPr lang="en-IN" sz="16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079DE24-B9B0-4B0C-7CB3-4D3B2118F390}"/>
              </a:ext>
            </a:extLst>
          </p:cNvPr>
          <p:cNvSpPr txBox="1"/>
          <p:nvPr/>
        </p:nvSpPr>
        <p:spPr>
          <a:xfrm>
            <a:off x="362736" y="1891340"/>
            <a:ext cx="6079625" cy="3233578"/>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10. DATA MODELS AND SCHEMAS</a:t>
            </a:r>
            <a:endParaRPr lang="en-IN" sz="2000"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10.1  Input: Raw Log Line (String):</a:t>
            </a:r>
            <a:endParaRPr lang="en-IN"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Format:  IP - - [timestamp] "METHOD URL HTTP/version" STATUS BYTES</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Example: 54.36.149.41 - - [22/Jan/2019:03:56:14 +0330]</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         "GET /product HTTP/1.1" 200 5667</a:t>
            </a:r>
            <a:endParaRPr lang="en-IN" sz="16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BF4C6EAD-F032-2ECB-3102-160C6CE2F1AB}"/>
              </a:ext>
            </a:extLst>
          </p:cNvPr>
          <p:cNvGraphicFramePr>
            <a:graphicFrameLocks noGrp="1"/>
          </p:cNvGraphicFramePr>
          <p:nvPr>
            <p:extLst>
              <p:ext uri="{D42A27DB-BD31-4B8C-83A1-F6EECF244321}">
                <p14:modId xmlns:p14="http://schemas.microsoft.com/office/powerpoint/2010/main" val="1592276725"/>
              </p:ext>
            </p:extLst>
          </p:nvPr>
        </p:nvGraphicFramePr>
        <p:xfrm>
          <a:off x="431424" y="5817039"/>
          <a:ext cx="6026724" cy="1999428"/>
        </p:xfrm>
        <a:graphic>
          <a:graphicData uri="http://schemas.openxmlformats.org/drawingml/2006/table">
            <a:tbl>
              <a:tblPr firstRow="1" firstCol="1" bandRow="1">
                <a:tableStyleId>{3B4B98B0-60AC-42C2-AFA5-B58CD77FA1E5}</a:tableStyleId>
              </a:tblPr>
              <a:tblGrid>
                <a:gridCol w="2008908">
                  <a:extLst>
                    <a:ext uri="{9D8B030D-6E8A-4147-A177-3AD203B41FA5}">
                      <a16:colId xmlns:a16="http://schemas.microsoft.com/office/drawing/2014/main" val="1347228060"/>
                    </a:ext>
                  </a:extLst>
                </a:gridCol>
                <a:gridCol w="2008908">
                  <a:extLst>
                    <a:ext uri="{9D8B030D-6E8A-4147-A177-3AD203B41FA5}">
                      <a16:colId xmlns:a16="http://schemas.microsoft.com/office/drawing/2014/main" val="3810879259"/>
                    </a:ext>
                  </a:extLst>
                </a:gridCol>
                <a:gridCol w="2008908">
                  <a:extLst>
                    <a:ext uri="{9D8B030D-6E8A-4147-A177-3AD203B41FA5}">
                      <a16:colId xmlns:a16="http://schemas.microsoft.com/office/drawing/2014/main" val="2661557219"/>
                    </a:ext>
                  </a:extLst>
                </a:gridCol>
              </a:tblGrid>
              <a:tr h="235319">
                <a:tc>
                  <a:txBody>
                    <a:bodyPr/>
                    <a:lstStyle/>
                    <a:p>
                      <a:pPr algn="ctr">
                        <a:lnSpc>
                          <a:spcPct val="150000"/>
                        </a:lnSpc>
                        <a:spcAft>
                          <a:spcPts val="1000"/>
                        </a:spcAft>
                        <a:buNone/>
                      </a:pPr>
                      <a:r>
                        <a:rPr lang="en-US" sz="1200">
                          <a:effectLst/>
                        </a:rPr>
                        <a:t>Column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dirty="0">
                          <a:effectLst/>
                        </a:rPr>
                        <a:t>Type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a:effectLst/>
                        </a:rPr>
                        <a:t>Example Value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853271920"/>
                  </a:ext>
                </a:extLst>
              </a:tr>
              <a:tr h="235319">
                <a:tc>
                  <a:txBody>
                    <a:bodyPr/>
                    <a:lstStyle/>
                    <a:p>
                      <a:pPr>
                        <a:lnSpc>
                          <a:spcPct val="150000"/>
                        </a:lnSpc>
                        <a:spcAft>
                          <a:spcPts val="1000"/>
                        </a:spcAft>
                        <a:buNone/>
                      </a:pPr>
                      <a:r>
                        <a:rPr lang="en-US" sz="1200">
                          <a:effectLst/>
                        </a:rPr>
                        <a:t>ip</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object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54.36.149.41</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57284748"/>
                  </a:ext>
                </a:extLst>
              </a:tr>
              <a:tr h="235319">
                <a:tc>
                  <a:txBody>
                    <a:bodyPr/>
                    <a:lstStyle/>
                    <a:p>
                      <a:pPr>
                        <a:lnSpc>
                          <a:spcPct val="150000"/>
                        </a:lnSpc>
                        <a:spcAft>
                          <a:spcPts val="1000"/>
                        </a:spcAft>
                        <a:buNone/>
                      </a:pPr>
                      <a:r>
                        <a:rPr lang="en-US" sz="1200">
                          <a:effectLst/>
                        </a:rPr>
                        <a:t>timestamp</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object</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22/Jan/2019:03:56:14 +0330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533087931"/>
                  </a:ext>
                </a:extLst>
              </a:tr>
              <a:tr h="235319">
                <a:tc>
                  <a:txBody>
                    <a:bodyPr/>
                    <a:lstStyle/>
                    <a:p>
                      <a:pPr>
                        <a:lnSpc>
                          <a:spcPct val="150000"/>
                        </a:lnSpc>
                        <a:spcAft>
                          <a:spcPts val="1000"/>
                        </a:spcAft>
                        <a:buNone/>
                      </a:pPr>
                      <a:r>
                        <a:rPr lang="en-US" sz="1200" dirty="0">
                          <a:effectLst/>
                        </a:rPr>
                        <a:t>method</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object</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GET</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550781247"/>
                  </a:ext>
                </a:extLst>
              </a:tr>
              <a:tr h="484926">
                <a:tc>
                  <a:txBody>
                    <a:bodyPr/>
                    <a:lstStyle/>
                    <a:p>
                      <a:pPr>
                        <a:lnSpc>
                          <a:spcPct val="150000"/>
                        </a:lnSpc>
                        <a:spcAft>
                          <a:spcPts val="1000"/>
                        </a:spcAft>
                        <a:buNone/>
                      </a:pPr>
                      <a:r>
                        <a:rPr lang="en-US" sz="1200" dirty="0" err="1">
                          <a:effectLst/>
                        </a:rPr>
                        <a:t>url</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object</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/image/60844/productModel/200x200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165035556"/>
                  </a:ext>
                </a:extLst>
              </a:tr>
              <a:tr h="235319">
                <a:tc>
                  <a:txBody>
                    <a:bodyPr/>
                    <a:lstStyle/>
                    <a:p>
                      <a:pPr>
                        <a:lnSpc>
                          <a:spcPct val="150000"/>
                        </a:lnSpc>
                        <a:spcAft>
                          <a:spcPts val="1000"/>
                        </a:spcAft>
                        <a:buNone/>
                      </a:pPr>
                      <a:r>
                        <a:rPr lang="en-US" sz="1200" dirty="0">
                          <a:effectLst/>
                        </a:rPr>
                        <a:t>Status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object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200</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547531835"/>
                  </a:ext>
                </a:extLst>
              </a:tr>
              <a:tr h="235319">
                <a:tc>
                  <a:txBody>
                    <a:bodyPr/>
                    <a:lstStyle/>
                    <a:p>
                      <a:pPr>
                        <a:lnSpc>
                          <a:spcPct val="150000"/>
                        </a:lnSpc>
                        <a:spcAft>
                          <a:spcPts val="1000"/>
                        </a:spcAft>
                        <a:buNone/>
                      </a:pPr>
                      <a:r>
                        <a:rPr lang="en-US" sz="1200" dirty="0">
                          <a:effectLst/>
                        </a:rPr>
                        <a:t>bytes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object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5667</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567590975"/>
                  </a:ext>
                </a:extLst>
              </a:tr>
            </a:tbl>
          </a:graphicData>
        </a:graphic>
      </p:graphicFrame>
      <p:sp>
        <p:nvSpPr>
          <p:cNvPr id="10" name="TextBox 9">
            <a:extLst>
              <a:ext uri="{FF2B5EF4-FFF2-40B4-BE49-F238E27FC236}">
                <a16:creationId xmlns:a16="http://schemas.microsoft.com/office/drawing/2014/main" id="{42545BE3-CB52-FA4E-DFD2-F5204744FD45}"/>
              </a:ext>
            </a:extLst>
          </p:cNvPr>
          <p:cNvSpPr txBox="1"/>
          <p:nvPr/>
        </p:nvSpPr>
        <p:spPr>
          <a:xfrm>
            <a:off x="362736" y="7883225"/>
            <a:ext cx="4450770" cy="458074"/>
          </a:xfrm>
          <a:prstGeom prst="rect">
            <a:avLst/>
          </a:prstGeom>
          <a:noFill/>
        </p:spPr>
        <p:txBody>
          <a:bodyPr wrap="none" rtlCol="0">
            <a:spAutoFit/>
          </a:bodyPr>
          <a:lstStyle/>
          <a:p>
            <a:pPr>
              <a:lnSpc>
                <a:spcPct val="150000"/>
              </a:lnSpc>
            </a:pPr>
            <a:r>
              <a:rPr lang="en-US" b="1" dirty="0">
                <a:latin typeface="Times New Roman" panose="02020603050405020304" pitchFamily="18" charset="0"/>
                <a:cs typeface="Times New Roman" panose="02020603050405020304" pitchFamily="18" charset="0"/>
              </a:rPr>
              <a:t>10.3  Output: Cleaned </a:t>
            </a:r>
            <a:r>
              <a:rPr lang="en-US" b="1" dirty="0" err="1">
                <a:latin typeface="Times New Roman" panose="02020603050405020304" pitchFamily="18" charset="0"/>
                <a:cs typeface="Times New Roman" panose="02020603050405020304" pitchFamily="18" charset="0"/>
              </a:rPr>
              <a:t>DataFrame</a:t>
            </a:r>
            <a:r>
              <a:rPr lang="en-US" b="1" dirty="0">
                <a:latin typeface="Times New Roman" panose="02020603050405020304" pitchFamily="18" charset="0"/>
                <a:cs typeface="Times New Roman" panose="02020603050405020304" pitchFamily="18" charset="0"/>
              </a:rPr>
              <a:t> (Typed):</a:t>
            </a:r>
            <a:endParaRPr lang="en-IN"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4BC82215-67D0-A777-D0F4-D68CA9E3EC29}"/>
              </a:ext>
            </a:extLst>
          </p:cNvPr>
          <p:cNvSpPr txBox="1"/>
          <p:nvPr/>
        </p:nvSpPr>
        <p:spPr>
          <a:xfrm>
            <a:off x="362736" y="5201578"/>
            <a:ext cx="5333511" cy="458074"/>
          </a:xfrm>
          <a:prstGeom prst="rect">
            <a:avLst/>
          </a:prstGeom>
          <a:noFill/>
        </p:spPr>
        <p:txBody>
          <a:bodyPr wrap="none" rtlCol="0">
            <a:spAutoFit/>
          </a:bodyPr>
          <a:lstStyle/>
          <a:p>
            <a:pPr>
              <a:lnSpc>
                <a:spcPct val="150000"/>
              </a:lnSpc>
            </a:pPr>
            <a:r>
              <a:rPr lang="en-US" b="1" dirty="0">
                <a:latin typeface="Times New Roman" panose="02020603050405020304" pitchFamily="18" charset="0"/>
                <a:cs typeface="Times New Roman" panose="02020603050405020304" pitchFamily="18" charset="0"/>
              </a:rPr>
              <a:t>10.2  Intermediate: Parsed </a:t>
            </a:r>
            <a:r>
              <a:rPr lang="en-US" b="1" dirty="0" err="1">
                <a:latin typeface="Times New Roman" panose="02020603050405020304" pitchFamily="18" charset="0"/>
                <a:cs typeface="Times New Roman" panose="02020603050405020304" pitchFamily="18" charset="0"/>
              </a:rPr>
              <a:t>DataFrame</a:t>
            </a:r>
            <a:r>
              <a:rPr lang="en-US" b="1" dirty="0">
                <a:latin typeface="Times New Roman" panose="02020603050405020304" pitchFamily="18" charset="0"/>
                <a:cs typeface="Times New Roman" panose="02020603050405020304" pitchFamily="18" charset="0"/>
              </a:rPr>
              <a:t> (All Strings):</a:t>
            </a:r>
            <a:endParaRPr lang="en-IN" dirty="0">
              <a:latin typeface="Times New Roman" panose="02020603050405020304" pitchFamily="18" charset="0"/>
              <a:cs typeface="Times New Roman" panose="02020603050405020304" pitchFamily="18" charset="0"/>
            </a:endParaRPr>
          </a:p>
        </p:txBody>
      </p:sp>
      <p:graphicFrame>
        <p:nvGraphicFramePr>
          <p:cNvPr id="15" name="Table 14">
            <a:extLst>
              <a:ext uri="{FF2B5EF4-FFF2-40B4-BE49-F238E27FC236}">
                <a16:creationId xmlns:a16="http://schemas.microsoft.com/office/drawing/2014/main" id="{A43D14C3-481E-774F-BDB0-CAF2E5C370C7}"/>
              </a:ext>
            </a:extLst>
          </p:cNvPr>
          <p:cNvGraphicFramePr>
            <a:graphicFrameLocks noGrp="1"/>
          </p:cNvGraphicFramePr>
          <p:nvPr>
            <p:extLst>
              <p:ext uri="{D42A27DB-BD31-4B8C-83A1-F6EECF244321}">
                <p14:modId xmlns:p14="http://schemas.microsoft.com/office/powerpoint/2010/main" val="1035552500"/>
              </p:ext>
            </p:extLst>
          </p:nvPr>
        </p:nvGraphicFramePr>
        <p:xfrm>
          <a:off x="362736" y="8424960"/>
          <a:ext cx="6079626" cy="2273898"/>
        </p:xfrm>
        <a:graphic>
          <a:graphicData uri="http://schemas.openxmlformats.org/drawingml/2006/table">
            <a:tbl>
              <a:tblPr firstRow="1" firstCol="1" bandRow="1">
                <a:tableStyleId>{3B4B98B0-60AC-42C2-AFA5-B58CD77FA1E5}</a:tableStyleId>
              </a:tblPr>
              <a:tblGrid>
                <a:gridCol w="2026542">
                  <a:extLst>
                    <a:ext uri="{9D8B030D-6E8A-4147-A177-3AD203B41FA5}">
                      <a16:colId xmlns:a16="http://schemas.microsoft.com/office/drawing/2014/main" val="3668678203"/>
                    </a:ext>
                  </a:extLst>
                </a:gridCol>
                <a:gridCol w="2026542">
                  <a:extLst>
                    <a:ext uri="{9D8B030D-6E8A-4147-A177-3AD203B41FA5}">
                      <a16:colId xmlns:a16="http://schemas.microsoft.com/office/drawing/2014/main" val="3975093335"/>
                    </a:ext>
                  </a:extLst>
                </a:gridCol>
                <a:gridCol w="2026542">
                  <a:extLst>
                    <a:ext uri="{9D8B030D-6E8A-4147-A177-3AD203B41FA5}">
                      <a16:colId xmlns:a16="http://schemas.microsoft.com/office/drawing/2014/main" val="2882944546"/>
                    </a:ext>
                  </a:extLst>
                </a:gridCol>
              </a:tblGrid>
              <a:tr h="282096">
                <a:tc>
                  <a:txBody>
                    <a:bodyPr/>
                    <a:lstStyle/>
                    <a:p>
                      <a:pPr algn="ctr">
                        <a:lnSpc>
                          <a:spcPct val="150000"/>
                        </a:lnSpc>
                        <a:spcAft>
                          <a:spcPts val="1000"/>
                        </a:spcAft>
                        <a:buNone/>
                      </a:pPr>
                      <a:r>
                        <a:rPr lang="en-US" sz="1200">
                          <a:effectLst/>
                        </a:rPr>
                        <a:t>Column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dirty="0">
                          <a:effectLst/>
                        </a:rPr>
                        <a:t>Type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a:effectLst/>
                        </a:rPr>
                        <a:t>Example Value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39987090"/>
                  </a:ext>
                </a:extLst>
              </a:tr>
              <a:tr h="282096">
                <a:tc>
                  <a:txBody>
                    <a:bodyPr/>
                    <a:lstStyle/>
                    <a:p>
                      <a:pPr>
                        <a:lnSpc>
                          <a:spcPct val="150000"/>
                        </a:lnSpc>
                        <a:spcAft>
                          <a:spcPts val="1000"/>
                        </a:spcAft>
                        <a:buNone/>
                      </a:pPr>
                      <a:r>
                        <a:rPr lang="en-US" sz="1200" dirty="0">
                          <a:effectLst/>
                        </a:rPr>
                        <a:t>Timestamp</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datetime64[ns, UTC+03:30]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2019-01-22 03:56:14+03:30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333371509"/>
                  </a:ext>
                </a:extLst>
              </a:tr>
              <a:tr h="282096">
                <a:tc>
                  <a:txBody>
                    <a:bodyPr/>
                    <a:lstStyle/>
                    <a:p>
                      <a:pPr>
                        <a:lnSpc>
                          <a:spcPct val="150000"/>
                        </a:lnSpc>
                        <a:spcAft>
                          <a:spcPts val="1000"/>
                        </a:spcAft>
                        <a:buNone/>
                      </a:pPr>
                      <a:r>
                        <a:rPr lang="en-US" sz="1200" dirty="0">
                          <a:effectLst/>
                        </a:rPr>
                        <a:t>Ip</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object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54.36.149.41</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740651411"/>
                  </a:ext>
                </a:extLst>
              </a:tr>
              <a:tr h="282096">
                <a:tc>
                  <a:txBody>
                    <a:bodyPr/>
                    <a:lstStyle/>
                    <a:p>
                      <a:pPr>
                        <a:lnSpc>
                          <a:spcPct val="150000"/>
                        </a:lnSpc>
                        <a:spcAft>
                          <a:spcPts val="1000"/>
                        </a:spcAft>
                        <a:buNone/>
                      </a:pPr>
                      <a:r>
                        <a:rPr lang="en-US" sz="1200" dirty="0">
                          <a:effectLst/>
                        </a:rPr>
                        <a:t>Method</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object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GET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163242221"/>
                  </a:ext>
                </a:extLst>
              </a:tr>
              <a:tr h="581322">
                <a:tc>
                  <a:txBody>
                    <a:bodyPr/>
                    <a:lstStyle/>
                    <a:p>
                      <a:pPr>
                        <a:lnSpc>
                          <a:spcPct val="150000"/>
                        </a:lnSpc>
                        <a:spcAft>
                          <a:spcPts val="1000"/>
                        </a:spcAft>
                        <a:buNone/>
                      </a:pPr>
                      <a:r>
                        <a:rPr lang="en-US" sz="1200" dirty="0" err="1">
                          <a:effectLst/>
                        </a:rPr>
                        <a:t>url</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object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/image/60844/productModel/200x200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416378607"/>
                  </a:ext>
                </a:extLst>
              </a:tr>
              <a:tr h="282096">
                <a:tc>
                  <a:txBody>
                    <a:bodyPr/>
                    <a:lstStyle/>
                    <a:p>
                      <a:pPr>
                        <a:lnSpc>
                          <a:spcPct val="150000"/>
                        </a:lnSpc>
                        <a:spcAft>
                          <a:spcPts val="1000"/>
                        </a:spcAft>
                        <a:buNone/>
                      </a:pPr>
                      <a:r>
                        <a:rPr lang="en-US" sz="1200" dirty="0">
                          <a:effectLst/>
                        </a:rPr>
                        <a:t>Status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int64</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200</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498547193"/>
                  </a:ext>
                </a:extLst>
              </a:tr>
              <a:tr h="282096">
                <a:tc>
                  <a:txBody>
                    <a:bodyPr/>
                    <a:lstStyle/>
                    <a:p>
                      <a:pPr>
                        <a:lnSpc>
                          <a:spcPct val="150000"/>
                        </a:lnSpc>
                        <a:spcAft>
                          <a:spcPts val="1000"/>
                        </a:spcAft>
                        <a:buNone/>
                      </a:pPr>
                      <a:r>
                        <a:rPr lang="en-US" sz="1200" dirty="0">
                          <a:effectLst/>
                        </a:rPr>
                        <a:t>Bytes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int64</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5667</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668369415"/>
                  </a:ext>
                </a:extLst>
              </a:tr>
            </a:tbl>
          </a:graphicData>
        </a:graphic>
      </p:graphicFrame>
      <p:sp>
        <p:nvSpPr>
          <p:cNvPr id="6" name="TextBox 5">
            <a:extLst>
              <a:ext uri="{FF2B5EF4-FFF2-40B4-BE49-F238E27FC236}">
                <a16:creationId xmlns:a16="http://schemas.microsoft.com/office/drawing/2014/main" id="{20D1FC04-654D-4F57-2F7C-093CFF256EB4}"/>
              </a:ext>
            </a:extLst>
          </p:cNvPr>
          <p:cNvSpPr txBox="1"/>
          <p:nvPr/>
        </p:nvSpPr>
        <p:spPr>
          <a:xfrm>
            <a:off x="6205308" y="11597036"/>
            <a:ext cx="453044" cy="369332"/>
          </a:xfrm>
          <a:prstGeom prst="rect">
            <a:avLst/>
          </a:prstGeom>
          <a:noFill/>
        </p:spPr>
        <p:txBody>
          <a:bodyPr wrap="square" rtlCol="0">
            <a:spAutoFit/>
          </a:bodyPr>
          <a:lstStyle/>
          <a:p>
            <a:r>
              <a:rPr lang="en-US" dirty="0"/>
              <a:t>12</a:t>
            </a:r>
            <a:endParaRPr lang="en-IN" dirty="0"/>
          </a:p>
        </p:txBody>
      </p:sp>
    </p:spTree>
    <p:extLst>
      <p:ext uri="{BB962C8B-B14F-4D97-AF65-F5344CB8AC3E}">
        <p14:creationId xmlns:p14="http://schemas.microsoft.com/office/powerpoint/2010/main" val="21469661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E4519-AA43-5AD8-0C6C-2288515BEF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14E1400-8DD1-302D-709A-1032DC03A8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8E2431F5-249B-8368-AC24-3F8C085194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BA59721A-55A7-3883-4585-073EE2A4EAEE}"/>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B1AD270F-1E48-F5DA-4D75-8FAEC50F4E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59C9D49E-DE84-210B-94A6-9B4CBC37B2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2FC7239A-19C4-BE99-D8BA-E8395580A874}"/>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2" name="TextBox 1">
            <a:extLst>
              <a:ext uri="{FF2B5EF4-FFF2-40B4-BE49-F238E27FC236}">
                <a16:creationId xmlns:a16="http://schemas.microsoft.com/office/drawing/2014/main" id="{C73E1698-D405-3898-2270-BC96779B9305}"/>
              </a:ext>
            </a:extLst>
          </p:cNvPr>
          <p:cNvSpPr txBox="1"/>
          <p:nvPr/>
        </p:nvSpPr>
        <p:spPr>
          <a:xfrm>
            <a:off x="415638" y="932501"/>
            <a:ext cx="3957237" cy="458074"/>
          </a:xfrm>
          <a:prstGeom prst="rect">
            <a:avLst/>
          </a:prstGeom>
          <a:noFill/>
        </p:spPr>
        <p:txBody>
          <a:bodyPr wrap="none" rtlCol="0">
            <a:spAutoFit/>
          </a:bodyPr>
          <a:lstStyle/>
          <a:p>
            <a:pPr>
              <a:lnSpc>
                <a:spcPct val="150000"/>
              </a:lnSpc>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10.4  QA Summary Report Structure:</a:t>
            </a:r>
            <a:endParaRPr lang="en-IN"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DC0EB707-FBA2-33FA-DDE5-C5BB89F63415}"/>
              </a:ext>
            </a:extLst>
          </p:cNvPr>
          <p:cNvGraphicFramePr>
            <a:graphicFrameLocks noGrp="1"/>
          </p:cNvGraphicFramePr>
          <p:nvPr>
            <p:extLst>
              <p:ext uri="{D42A27DB-BD31-4B8C-83A1-F6EECF244321}">
                <p14:modId xmlns:p14="http://schemas.microsoft.com/office/powerpoint/2010/main" val="2785853879"/>
              </p:ext>
            </p:extLst>
          </p:nvPr>
        </p:nvGraphicFramePr>
        <p:xfrm>
          <a:off x="415638" y="1469245"/>
          <a:ext cx="6026724" cy="3231648"/>
        </p:xfrm>
        <a:graphic>
          <a:graphicData uri="http://schemas.openxmlformats.org/drawingml/2006/table">
            <a:tbl>
              <a:tblPr firstRow="1" firstCol="1" bandRow="1">
                <a:tableStyleId>{3B4B98B0-60AC-42C2-AFA5-B58CD77FA1E5}</a:tableStyleId>
              </a:tblPr>
              <a:tblGrid>
                <a:gridCol w="3013362">
                  <a:extLst>
                    <a:ext uri="{9D8B030D-6E8A-4147-A177-3AD203B41FA5}">
                      <a16:colId xmlns:a16="http://schemas.microsoft.com/office/drawing/2014/main" val="3727703713"/>
                    </a:ext>
                  </a:extLst>
                </a:gridCol>
                <a:gridCol w="3013362">
                  <a:extLst>
                    <a:ext uri="{9D8B030D-6E8A-4147-A177-3AD203B41FA5}">
                      <a16:colId xmlns:a16="http://schemas.microsoft.com/office/drawing/2014/main" val="3687017560"/>
                    </a:ext>
                  </a:extLst>
                </a:gridCol>
              </a:tblGrid>
              <a:tr h="210832">
                <a:tc>
                  <a:txBody>
                    <a:bodyPr/>
                    <a:lstStyle/>
                    <a:p>
                      <a:pPr algn="ctr">
                        <a:lnSpc>
                          <a:spcPct val="150000"/>
                        </a:lnSpc>
                        <a:spcAft>
                          <a:spcPts val="1000"/>
                        </a:spcAft>
                        <a:buNone/>
                      </a:pPr>
                      <a:r>
                        <a:rPr lang="en-US" sz="1200">
                          <a:effectLst/>
                        </a:rPr>
                        <a:t>QA Field</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dirty="0">
                          <a:effectLst/>
                        </a:rPr>
                        <a:t>Value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526691576"/>
                  </a:ext>
                </a:extLst>
              </a:tr>
              <a:tr h="210832">
                <a:tc>
                  <a:txBody>
                    <a:bodyPr/>
                    <a:lstStyle/>
                    <a:p>
                      <a:pPr>
                        <a:lnSpc>
                          <a:spcPct val="150000"/>
                        </a:lnSpc>
                        <a:spcAft>
                          <a:spcPts val="1000"/>
                        </a:spcAft>
                        <a:buNone/>
                      </a:pPr>
                      <a:r>
                        <a:rPr lang="en-US" sz="1200">
                          <a:effectLst/>
                        </a:rPr>
                        <a:t>Total rows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10,363,637</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247758878"/>
                  </a:ext>
                </a:extLst>
              </a:tr>
              <a:tr h="210832">
                <a:tc>
                  <a:txBody>
                    <a:bodyPr/>
                    <a:lstStyle/>
                    <a:p>
                      <a:pPr>
                        <a:lnSpc>
                          <a:spcPct val="150000"/>
                        </a:lnSpc>
                        <a:spcAft>
                          <a:spcPts val="1000"/>
                        </a:spcAft>
                        <a:buNone/>
                      </a:pPr>
                      <a:r>
                        <a:rPr lang="en-US" sz="1200">
                          <a:effectLst/>
                        </a:rPr>
                        <a:t> </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 </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288883362"/>
                  </a:ext>
                </a:extLst>
              </a:tr>
              <a:tr h="210832">
                <a:tc>
                  <a:txBody>
                    <a:bodyPr/>
                    <a:lstStyle/>
                    <a:p>
                      <a:pPr>
                        <a:lnSpc>
                          <a:spcPct val="150000"/>
                        </a:lnSpc>
                        <a:spcAft>
                          <a:spcPts val="1000"/>
                        </a:spcAft>
                        <a:buNone/>
                      </a:pPr>
                      <a:r>
                        <a:rPr lang="en-US" sz="1200" dirty="0">
                          <a:effectLst/>
                        </a:rPr>
                        <a:t>Null timestamps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0</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090391521"/>
                  </a:ext>
                </a:extLst>
              </a:tr>
              <a:tr h="210832">
                <a:tc>
                  <a:txBody>
                    <a:bodyPr/>
                    <a:lstStyle/>
                    <a:p>
                      <a:pPr>
                        <a:lnSpc>
                          <a:spcPct val="150000"/>
                        </a:lnSpc>
                        <a:spcAft>
                          <a:spcPts val="1000"/>
                        </a:spcAft>
                        <a:buNone/>
                      </a:pPr>
                      <a:r>
                        <a:rPr lang="en-US" sz="1200" dirty="0">
                          <a:effectLst/>
                        </a:rPr>
                        <a:t>Null status values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0</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302008876"/>
                  </a:ext>
                </a:extLst>
              </a:tr>
              <a:tr h="210832">
                <a:tc>
                  <a:txBody>
                    <a:bodyPr/>
                    <a:lstStyle/>
                    <a:p>
                      <a:pPr>
                        <a:lnSpc>
                          <a:spcPct val="150000"/>
                        </a:lnSpc>
                        <a:spcAft>
                          <a:spcPts val="1000"/>
                        </a:spcAft>
                        <a:buNone/>
                      </a:pPr>
                      <a:r>
                        <a:rPr lang="en-US" sz="1200" dirty="0">
                          <a:effectLst/>
                        </a:rPr>
                        <a:t>Null bytes values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0</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369060555"/>
                  </a:ext>
                </a:extLst>
              </a:tr>
              <a:tr h="210832">
                <a:tc>
                  <a:txBody>
                    <a:bodyPr/>
                    <a:lstStyle/>
                    <a:p>
                      <a:pPr>
                        <a:lnSpc>
                          <a:spcPct val="150000"/>
                        </a:lnSpc>
                        <a:spcAft>
                          <a:spcPts val="1000"/>
                        </a:spcAft>
                        <a:buNone/>
                      </a:pPr>
                      <a:r>
                        <a:rPr lang="en-US" sz="1200" dirty="0">
                          <a:effectLst/>
                        </a:rPr>
                        <a:t>Negative bytes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0</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901791470"/>
                  </a:ext>
                </a:extLst>
              </a:tr>
              <a:tr h="210832">
                <a:tc>
                  <a:txBody>
                    <a:bodyPr/>
                    <a:lstStyle/>
                    <a:p>
                      <a:pPr>
                        <a:lnSpc>
                          <a:spcPct val="150000"/>
                        </a:lnSpc>
                        <a:spcAft>
                          <a:spcPts val="1000"/>
                        </a:spcAft>
                        <a:buNone/>
                      </a:pPr>
                      <a:r>
                        <a:rPr lang="en-US" sz="1200" dirty="0">
                          <a:effectLst/>
                        </a:rPr>
                        <a:t>Duplicate records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111,137</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706528030"/>
                  </a:ext>
                </a:extLst>
              </a:tr>
              <a:tr h="210832">
                <a:tc>
                  <a:txBody>
                    <a:bodyPr/>
                    <a:lstStyle/>
                    <a:p>
                      <a:pPr>
                        <a:lnSpc>
                          <a:spcPct val="150000"/>
                        </a:lnSpc>
                        <a:spcAft>
                          <a:spcPts val="1000"/>
                        </a:spcAft>
                        <a:buNone/>
                      </a:pPr>
                      <a:r>
                        <a:rPr lang="en-US" sz="1200" dirty="0">
                          <a:effectLst/>
                        </a:rPr>
                        <a:t>Duplicate %</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1.07%</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121664475"/>
                  </a:ext>
                </a:extLst>
              </a:tr>
              <a:tr h="210832">
                <a:tc>
                  <a:txBody>
                    <a:bodyPr/>
                    <a:lstStyle/>
                    <a:p>
                      <a:pPr>
                        <a:lnSpc>
                          <a:spcPct val="150000"/>
                        </a:lnSpc>
                        <a:spcAft>
                          <a:spcPts val="1000"/>
                        </a:spcAft>
                        <a:buNone/>
                      </a:pPr>
                      <a:r>
                        <a:rPr lang="en-US" sz="1200" dirty="0">
                          <a:effectLst/>
                        </a:rPr>
                        <a:t>Date range start</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2019-01-22</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11123077"/>
                  </a:ext>
                </a:extLst>
              </a:tr>
              <a:tr h="210832">
                <a:tc>
                  <a:txBody>
                    <a:bodyPr/>
                    <a:lstStyle/>
                    <a:p>
                      <a:pPr>
                        <a:lnSpc>
                          <a:spcPct val="150000"/>
                        </a:lnSpc>
                        <a:spcAft>
                          <a:spcPts val="1000"/>
                        </a:spcAft>
                        <a:buNone/>
                      </a:pPr>
                      <a:r>
                        <a:rPr lang="en-US" sz="1200" dirty="0">
                          <a:effectLst/>
                        </a:rPr>
                        <a:t>Date range end</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2019-01-26</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548610894"/>
                  </a:ext>
                </a:extLst>
              </a:tr>
              <a:tr h="434466">
                <a:tc>
                  <a:txBody>
                    <a:bodyPr/>
                    <a:lstStyle/>
                    <a:p>
                      <a:pPr>
                        <a:lnSpc>
                          <a:spcPct val="150000"/>
                        </a:lnSpc>
                        <a:spcAft>
                          <a:spcPts val="1000"/>
                        </a:spcAft>
                        <a:buNone/>
                      </a:pPr>
                      <a:r>
                        <a:rPr lang="en-US" sz="1200" dirty="0">
                          <a:effectLst/>
                        </a:rPr>
                        <a:t>Status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DATA QUALITY ACCEPTABLE — Proceed to HLD Pipeline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565755731"/>
                  </a:ext>
                </a:extLst>
              </a:tr>
            </a:tbl>
          </a:graphicData>
        </a:graphic>
      </p:graphicFrame>
      <p:sp>
        <p:nvSpPr>
          <p:cNvPr id="4" name="TextBox 3">
            <a:extLst>
              <a:ext uri="{FF2B5EF4-FFF2-40B4-BE49-F238E27FC236}">
                <a16:creationId xmlns:a16="http://schemas.microsoft.com/office/drawing/2014/main" id="{7415ECD4-7FDC-9DC5-41EA-7A19F5C04990}"/>
              </a:ext>
            </a:extLst>
          </p:cNvPr>
          <p:cNvSpPr txBox="1"/>
          <p:nvPr/>
        </p:nvSpPr>
        <p:spPr>
          <a:xfrm>
            <a:off x="408153" y="4997131"/>
            <a:ext cx="2679003" cy="458074"/>
          </a:xfrm>
          <a:prstGeom prst="rect">
            <a:avLst/>
          </a:prstGeom>
          <a:noFill/>
        </p:spPr>
        <p:txBody>
          <a:bodyPr wrap="none" rtlCol="0">
            <a:spAutoFit/>
          </a:bodyPr>
          <a:lstStyle/>
          <a:p>
            <a:pPr>
              <a:lnSpc>
                <a:spcPct val="150000"/>
              </a:lnSpc>
            </a:pPr>
            <a:r>
              <a:rPr lang="en-US" b="1" dirty="0">
                <a:latin typeface="Times New Roman" panose="02020603050405020304" pitchFamily="18" charset="0"/>
                <a:cs typeface="Times New Roman" panose="02020603050405020304" pitchFamily="18" charset="0"/>
              </a:rPr>
              <a:t>11. ERROR HANDLING</a:t>
            </a:r>
            <a:endParaRPr lang="en-IN"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87975914-8353-01CF-2A90-6091F7FE26A6}"/>
              </a:ext>
            </a:extLst>
          </p:cNvPr>
          <p:cNvGraphicFramePr>
            <a:graphicFrameLocks noGrp="1"/>
          </p:cNvGraphicFramePr>
          <p:nvPr>
            <p:extLst>
              <p:ext uri="{D42A27DB-BD31-4B8C-83A1-F6EECF244321}">
                <p14:modId xmlns:p14="http://schemas.microsoft.com/office/powerpoint/2010/main" val="3893531707"/>
              </p:ext>
            </p:extLst>
          </p:nvPr>
        </p:nvGraphicFramePr>
        <p:xfrm>
          <a:off x="408153" y="5485031"/>
          <a:ext cx="6026724" cy="2850264"/>
        </p:xfrm>
        <a:graphic>
          <a:graphicData uri="http://schemas.openxmlformats.org/drawingml/2006/table">
            <a:tbl>
              <a:tblPr firstRow="1" firstCol="1" bandRow="1">
                <a:tableStyleId>{3B4B98B0-60AC-42C2-AFA5-B58CD77FA1E5}</a:tableStyleId>
              </a:tblPr>
              <a:tblGrid>
                <a:gridCol w="2008908">
                  <a:extLst>
                    <a:ext uri="{9D8B030D-6E8A-4147-A177-3AD203B41FA5}">
                      <a16:colId xmlns:a16="http://schemas.microsoft.com/office/drawing/2014/main" val="3362001866"/>
                    </a:ext>
                  </a:extLst>
                </a:gridCol>
                <a:gridCol w="2008908">
                  <a:extLst>
                    <a:ext uri="{9D8B030D-6E8A-4147-A177-3AD203B41FA5}">
                      <a16:colId xmlns:a16="http://schemas.microsoft.com/office/drawing/2014/main" val="2497455850"/>
                    </a:ext>
                  </a:extLst>
                </a:gridCol>
                <a:gridCol w="2008908">
                  <a:extLst>
                    <a:ext uri="{9D8B030D-6E8A-4147-A177-3AD203B41FA5}">
                      <a16:colId xmlns:a16="http://schemas.microsoft.com/office/drawing/2014/main" val="3198675276"/>
                    </a:ext>
                  </a:extLst>
                </a:gridCol>
              </a:tblGrid>
              <a:tr h="214555">
                <a:tc>
                  <a:txBody>
                    <a:bodyPr/>
                    <a:lstStyle/>
                    <a:p>
                      <a:pPr algn="ctr">
                        <a:lnSpc>
                          <a:spcPct val="150000"/>
                        </a:lnSpc>
                        <a:spcAft>
                          <a:spcPts val="1000"/>
                        </a:spcAft>
                        <a:buNone/>
                      </a:pPr>
                      <a:r>
                        <a:rPr lang="en-US" sz="1200">
                          <a:effectLst/>
                        </a:rPr>
                        <a:t>Error Scenario</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dirty="0">
                          <a:effectLst/>
                        </a:rPr>
                        <a:t>Handling Strategy</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dirty="0">
                          <a:effectLst/>
                        </a:rPr>
                        <a:t>Result</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454225548"/>
                  </a:ext>
                </a:extLst>
              </a:tr>
              <a:tr h="442139">
                <a:tc>
                  <a:txBody>
                    <a:bodyPr/>
                    <a:lstStyle/>
                    <a:p>
                      <a:pPr>
                        <a:lnSpc>
                          <a:spcPct val="150000"/>
                        </a:lnSpc>
                        <a:spcAft>
                          <a:spcPts val="1000"/>
                        </a:spcAft>
                        <a:buNone/>
                      </a:pPr>
                      <a:r>
                        <a:rPr lang="en-US" sz="1200">
                          <a:effectLst/>
                        </a:rPr>
                        <a:t>File not found (wrong path)</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Python raises </a:t>
                      </a:r>
                      <a:r>
                        <a:rPr lang="en-US" sz="1200" dirty="0" err="1">
                          <a:effectLst/>
                        </a:rPr>
                        <a:t>FileNotFoundError</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Process stops; user must correct path</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681957657"/>
                  </a:ext>
                </a:extLst>
              </a:tr>
              <a:tr h="214555">
                <a:tc>
                  <a:txBody>
                    <a:bodyPr/>
                    <a:lstStyle/>
                    <a:p>
                      <a:pPr>
                        <a:lnSpc>
                          <a:spcPct val="150000"/>
                        </a:lnSpc>
                        <a:spcAft>
                          <a:spcPts val="1000"/>
                        </a:spcAft>
                        <a:buNone/>
                      </a:pPr>
                      <a:r>
                        <a:rPr lang="en-US" sz="1200" dirty="0">
                          <a:effectLst/>
                        </a:rPr>
                        <a:t>Non-UTF-8 characters in log</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errors='ignore' in open()</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Bad bytes silently skipped</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858327856"/>
                  </a:ext>
                </a:extLst>
              </a:tr>
              <a:tr h="442139">
                <a:tc>
                  <a:txBody>
                    <a:bodyPr/>
                    <a:lstStyle/>
                    <a:p>
                      <a:pPr>
                        <a:lnSpc>
                          <a:spcPct val="150000"/>
                        </a:lnSpc>
                        <a:spcAft>
                          <a:spcPts val="1000"/>
                        </a:spcAft>
                        <a:buNone/>
                      </a:pPr>
                      <a:r>
                        <a:rPr lang="en-US" sz="1200" dirty="0">
                          <a:effectLst/>
                        </a:rPr>
                        <a:t>Log line does not match Regex</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Line skipped, </a:t>
                      </a:r>
                      <a:r>
                        <a:rPr lang="en-US" sz="1200" dirty="0" err="1">
                          <a:effectLst/>
                        </a:rPr>
                        <a:t>failed_count</a:t>
                      </a:r>
                      <a:r>
                        <a:rPr lang="en-US" sz="1200" dirty="0">
                          <a:effectLst/>
                        </a:rPr>
                        <a:t> incremented</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1,515 lines skipped (0.015% loss, acceptable)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928575708"/>
                  </a:ext>
                </a:extLst>
              </a:tr>
              <a:tr h="442139">
                <a:tc>
                  <a:txBody>
                    <a:bodyPr/>
                    <a:lstStyle/>
                    <a:p>
                      <a:pPr>
                        <a:lnSpc>
                          <a:spcPct val="150000"/>
                        </a:lnSpc>
                        <a:spcAft>
                          <a:spcPts val="1000"/>
                        </a:spcAft>
                        <a:buNone/>
                      </a:pPr>
                      <a:r>
                        <a:rPr lang="en-US" sz="1200" dirty="0">
                          <a:effectLst/>
                        </a:rPr>
                        <a:t>Non-numeric status/bytes field</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err="1">
                          <a:effectLst/>
                        </a:rPr>
                        <a:t>pd.to_numeric</a:t>
                      </a:r>
                      <a:r>
                        <a:rPr lang="en-US" sz="1200" dirty="0">
                          <a:effectLst/>
                        </a:rPr>
                        <a:t>(errors='coerce') converts to </a:t>
                      </a:r>
                      <a:r>
                        <a:rPr lang="en-US" sz="1200" dirty="0" err="1">
                          <a:effectLst/>
                        </a:rPr>
                        <a:t>NaN</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Rows dropped in </a:t>
                      </a:r>
                      <a:r>
                        <a:rPr lang="en-US" sz="1200" dirty="0" err="1">
                          <a:effectLst/>
                        </a:rPr>
                        <a:t>dropna</a:t>
                      </a:r>
                      <a:r>
                        <a:rPr lang="en-US" sz="1200" dirty="0">
                          <a:effectLst/>
                        </a:rPr>
                        <a:t>() step</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107832620"/>
                  </a:ext>
                </a:extLst>
              </a:tr>
              <a:tr h="442139">
                <a:tc>
                  <a:txBody>
                    <a:bodyPr/>
                    <a:lstStyle/>
                    <a:p>
                      <a:pPr>
                        <a:lnSpc>
                          <a:spcPct val="150000"/>
                        </a:lnSpc>
                        <a:spcAft>
                          <a:spcPts val="1000"/>
                        </a:spcAft>
                        <a:buNone/>
                      </a:pPr>
                      <a:r>
                        <a:rPr lang="en-US" sz="1200" dirty="0" err="1">
                          <a:effectLst/>
                        </a:rPr>
                        <a:t>Unparseable</a:t>
                      </a:r>
                      <a:r>
                        <a:rPr lang="en-US" sz="1200" dirty="0">
                          <a:effectLst/>
                        </a:rPr>
                        <a:t> timestamp format</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err="1">
                          <a:effectLst/>
                        </a:rPr>
                        <a:t>pd.to_datetime</a:t>
                      </a:r>
                      <a:r>
                        <a:rPr lang="en-US" sz="1200" dirty="0">
                          <a:effectLst/>
                        </a:rPr>
                        <a:t> raises error if format mismatches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Rows become </a:t>
                      </a:r>
                      <a:r>
                        <a:rPr lang="en-US" sz="1200" dirty="0" err="1">
                          <a:effectLst/>
                        </a:rPr>
                        <a:t>NaT</a:t>
                      </a:r>
                      <a:r>
                        <a:rPr lang="en-US" sz="1200" dirty="0">
                          <a:effectLst/>
                        </a:rPr>
                        <a:t>, dropped in </a:t>
                      </a:r>
                      <a:r>
                        <a:rPr lang="en-US" sz="1200" dirty="0" err="1">
                          <a:effectLst/>
                        </a:rPr>
                        <a:t>dropna</a:t>
                      </a:r>
                      <a:r>
                        <a:rPr lang="en-US" sz="1200" dirty="0">
                          <a:effectLst/>
                        </a:rPr>
                        <a:t>() step</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31451627"/>
                  </a:ext>
                </a:extLst>
              </a:tr>
            </a:tbl>
          </a:graphicData>
        </a:graphic>
      </p:graphicFrame>
      <p:sp>
        <p:nvSpPr>
          <p:cNvPr id="9" name="TextBox 8">
            <a:extLst>
              <a:ext uri="{FF2B5EF4-FFF2-40B4-BE49-F238E27FC236}">
                <a16:creationId xmlns:a16="http://schemas.microsoft.com/office/drawing/2014/main" id="{B402996F-53ED-A987-651B-0F145164BD6F}"/>
              </a:ext>
            </a:extLst>
          </p:cNvPr>
          <p:cNvSpPr txBox="1"/>
          <p:nvPr/>
        </p:nvSpPr>
        <p:spPr>
          <a:xfrm>
            <a:off x="362433" y="8629227"/>
            <a:ext cx="4615431"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12. NON-FUNCTIONAL REQUIREMENTS</a:t>
            </a:r>
            <a:endParaRPr lang="en-IN"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6FF52FDF-1923-19BC-2632-278E884748FE}"/>
              </a:ext>
            </a:extLst>
          </p:cNvPr>
          <p:cNvSpPr txBox="1"/>
          <p:nvPr/>
        </p:nvSpPr>
        <p:spPr>
          <a:xfrm>
            <a:off x="384368" y="8978636"/>
            <a:ext cx="2063385"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12.1  Performance:</a:t>
            </a:r>
            <a:endParaRPr lang="en-IN" dirty="0">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2FEC2E78-C76F-BA45-F81D-F4E3262B3CF2}"/>
              </a:ext>
            </a:extLst>
          </p:cNvPr>
          <p:cNvGraphicFramePr>
            <a:graphicFrameLocks noGrp="1"/>
          </p:cNvGraphicFramePr>
          <p:nvPr>
            <p:extLst>
              <p:ext uri="{D42A27DB-BD31-4B8C-83A1-F6EECF244321}">
                <p14:modId xmlns:p14="http://schemas.microsoft.com/office/powerpoint/2010/main" val="3832633174"/>
              </p:ext>
            </p:extLst>
          </p:nvPr>
        </p:nvGraphicFramePr>
        <p:xfrm>
          <a:off x="362432" y="9462459"/>
          <a:ext cx="6079930" cy="2170376"/>
        </p:xfrm>
        <a:graphic>
          <a:graphicData uri="http://schemas.openxmlformats.org/drawingml/2006/table">
            <a:tbl>
              <a:tblPr firstRow="1" firstCol="1" bandRow="1">
                <a:tableStyleId>{3B4B98B0-60AC-42C2-AFA5-B58CD77FA1E5}</a:tableStyleId>
              </a:tblPr>
              <a:tblGrid>
                <a:gridCol w="3039965">
                  <a:extLst>
                    <a:ext uri="{9D8B030D-6E8A-4147-A177-3AD203B41FA5}">
                      <a16:colId xmlns:a16="http://schemas.microsoft.com/office/drawing/2014/main" val="2626949542"/>
                    </a:ext>
                  </a:extLst>
                </a:gridCol>
                <a:gridCol w="3039965">
                  <a:extLst>
                    <a:ext uri="{9D8B030D-6E8A-4147-A177-3AD203B41FA5}">
                      <a16:colId xmlns:a16="http://schemas.microsoft.com/office/drawing/2014/main" val="3131686511"/>
                    </a:ext>
                  </a:extLst>
                </a:gridCol>
              </a:tblGrid>
              <a:tr h="189512">
                <a:tc>
                  <a:txBody>
                    <a:bodyPr/>
                    <a:lstStyle/>
                    <a:p>
                      <a:pPr algn="ctr">
                        <a:lnSpc>
                          <a:spcPct val="100000"/>
                        </a:lnSpc>
                        <a:spcAft>
                          <a:spcPts val="1000"/>
                        </a:spcAft>
                        <a:buNone/>
                      </a:pPr>
                      <a:r>
                        <a:rPr lang="en-US" sz="1200">
                          <a:effectLst/>
                        </a:rPr>
                        <a:t>Metric</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00000"/>
                        </a:lnSpc>
                        <a:spcAft>
                          <a:spcPts val="1000"/>
                        </a:spcAft>
                        <a:buNone/>
                      </a:pPr>
                      <a:r>
                        <a:rPr lang="en-US" sz="1200" dirty="0">
                          <a:effectLst/>
                        </a:rPr>
                        <a:t>Detail</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610566126"/>
                  </a:ext>
                </a:extLst>
              </a:tr>
              <a:tr h="189512">
                <a:tc>
                  <a:txBody>
                    <a:bodyPr/>
                    <a:lstStyle/>
                    <a:p>
                      <a:pPr>
                        <a:lnSpc>
                          <a:spcPct val="100000"/>
                        </a:lnSpc>
                        <a:spcAft>
                          <a:spcPts val="1000"/>
                        </a:spcAft>
                        <a:buNone/>
                      </a:pPr>
                      <a:r>
                        <a:rPr lang="en-US" sz="1200" dirty="0">
                          <a:effectLst/>
                        </a:rPr>
                        <a:t>File Read Time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dirty="0">
                          <a:effectLst/>
                        </a:rPr>
                        <a:t>30–60 seconds for 3.5 GB file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58114209"/>
                  </a:ext>
                </a:extLst>
              </a:tr>
              <a:tr h="400460">
                <a:tc>
                  <a:txBody>
                    <a:bodyPr/>
                    <a:lstStyle/>
                    <a:p>
                      <a:pPr>
                        <a:lnSpc>
                          <a:spcPct val="100000"/>
                        </a:lnSpc>
                        <a:spcAft>
                          <a:spcPts val="1000"/>
                        </a:spcAft>
                        <a:buNone/>
                      </a:pPr>
                      <a:r>
                        <a:rPr lang="en-US" sz="1200" dirty="0">
                          <a:effectLst/>
                        </a:rPr>
                        <a:t>Regex Parsing Time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dirty="0">
                          <a:effectLst/>
                        </a:rPr>
                        <a:t>5–15 minutes for 10.3 million lines (CPU-bound, single thread)</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504182934"/>
                  </a:ext>
                </a:extLst>
              </a:tr>
              <a:tr h="400460">
                <a:tc>
                  <a:txBody>
                    <a:bodyPr/>
                    <a:lstStyle/>
                    <a:p>
                      <a:pPr>
                        <a:lnSpc>
                          <a:spcPct val="100000"/>
                        </a:lnSpc>
                        <a:spcAft>
                          <a:spcPts val="1000"/>
                        </a:spcAft>
                        <a:buNone/>
                      </a:pPr>
                      <a:r>
                        <a:rPr lang="en-US" sz="1200" dirty="0">
                          <a:effectLst/>
                        </a:rPr>
                        <a:t>Type Conversion Time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dirty="0">
                          <a:effectLst/>
                        </a:rPr>
                        <a:t>30–60 seconds (vectorized pandas operations)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454568911"/>
                  </a:ext>
                </a:extLst>
              </a:tr>
              <a:tr h="400460">
                <a:tc>
                  <a:txBody>
                    <a:bodyPr/>
                    <a:lstStyle/>
                    <a:p>
                      <a:pPr>
                        <a:lnSpc>
                          <a:spcPct val="100000"/>
                        </a:lnSpc>
                        <a:spcAft>
                          <a:spcPts val="1000"/>
                        </a:spcAft>
                        <a:buNone/>
                      </a:pPr>
                      <a:r>
                        <a:rPr lang="en-US" sz="1200" dirty="0">
                          <a:effectLst/>
                        </a:rPr>
                        <a:t>Sorting Time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dirty="0">
                          <a:effectLst/>
                        </a:rPr>
                        <a:t>1–3 minutes (in-memory sort of 10.3M rows)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558574956"/>
                  </a:ext>
                </a:extLst>
              </a:tr>
              <a:tr h="400460">
                <a:tc>
                  <a:txBody>
                    <a:bodyPr/>
                    <a:lstStyle/>
                    <a:p>
                      <a:pPr>
                        <a:lnSpc>
                          <a:spcPct val="100000"/>
                        </a:lnSpc>
                        <a:spcAft>
                          <a:spcPts val="1000"/>
                        </a:spcAft>
                        <a:buNone/>
                      </a:pPr>
                      <a:r>
                        <a:rPr lang="en-US" sz="1200" dirty="0">
                          <a:effectLst/>
                        </a:rPr>
                        <a:t>Peak RAM Usage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dirty="0">
                          <a:effectLst/>
                        </a:rPr>
                        <a:t>8–12 GB during parsing (raw list + </a:t>
                      </a:r>
                      <a:r>
                        <a:rPr lang="en-US" sz="1200" dirty="0" err="1">
                          <a:effectLst/>
                        </a:rPr>
                        <a:t>DataFrame</a:t>
                      </a:r>
                      <a:r>
                        <a:rPr lang="en-US" sz="1200" dirty="0">
                          <a:effectLst/>
                        </a:rPr>
                        <a:t> in memory simultaneously)</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887446235"/>
                  </a:ext>
                </a:extLst>
              </a:tr>
              <a:tr h="189512">
                <a:tc>
                  <a:txBody>
                    <a:bodyPr/>
                    <a:lstStyle/>
                    <a:p>
                      <a:pPr>
                        <a:lnSpc>
                          <a:spcPct val="100000"/>
                        </a:lnSpc>
                        <a:spcAft>
                          <a:spcPts val="1000"/>
                        </a:spcAft>
                        <a:buNone/>
                      </a:pPr>
                      <a:r>
                        <a:rPr lang="en-US" sz="1200" dirty="0">
                          <a:effectLst/>
                        </a:rPr>
                        <a:t>Final </a:t>
                      </a:r>
                      <a:r>
                        <a:rPr lang="en-US" sz="1200" dirty="0" err="1">
                          <a:effectLst/>
                        </a:rPr>
                        <a:t>DataFrame</a:t>
                      </a:r>
                      <a:r>
                        <a:rPr lang="en-US" sz="1200" dirty="0">
                          <a:effectLst/>
                        </a:rPr>
                        <a:t> RAM</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dirty="0">
                          <a:effectLst/>
                        </a:rPr>
                        <a:t>~474 MB</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914774302"/>
                  </a:ext>
                </a:extLst>
              </a:tr>
            </a:tbl>
          </a:graphicData>
        </a:graphic>
      </p:graphicFrame>
      <p:sp>
        <p:nvSpPr>
          <p:cNvPr id="13" name="TextBox 12">
            <a:extLst>
              <a:ext uri="{FF2B5EF4-FFF2-40B4-BE49-F238E27FC236}">
                <a16:creationId xmlns:a16="http://schemas.microsoft.com/office/drawing/2014/main" id="{89AB5B63-167B-C26B-851C-0008FE134720}"/>
              </a:ext>
            </a:extLst>
          </p:cNvPr>
          <p:cNvSpPr txBox="1"/>
          <p:nvPr/>
        </p:nvSpPr>
        <p:spPr>
          <a:xfrm>
            <a:off x="6205308" y="11630823"/>
            <a:ext cx="453044" cy="369332"/>
          </a:xfrm>
          <a:prstGeom prst="rect">
            <a:avLst/>
          </a:prstGeom>
          <a:noFill/>
        </p:spPr>
        <p:txBody>
          <a:bodyPr wrap="square" rtlCol="0">
            <a:spAutoFit/>
          </a:bodyPr>
          <a:lstStyle/>
          <a:p>
            <a:r>
              <a:rPr lang="en-US" dirty="0"/>
              <a:t>13</a:t>
            </a:r>
            <a:endParaRPr lang="en-IN" dirty="0"/>
          </a:p>
        </p:txBody>
      </p:sp>
    </p:spTree>
    <p:extLst>
      <p:ext uri="{BB962C8B-B14F-4D97-AF65-F5344CB8AC3E}">
        <p14:creationId xmlns:p14="http://schemas.microsoft.com/office/powerpoint/2010/main" val="3979952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E884D-0955-A51A-FE2E-343DE13FB42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052876E-D497-29CC-3746-FC9111C4F4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E6C31436-89BE-C762-CBBD-CB6ED410EF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4A2A22ED-9A8E-A938-82AB-E2D15F5694A4}"/>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6380E10A-47CB-2A34-73D5-B8B88191AA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72FDCE92-7830-559D-1153-2118408CC1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A7D7531E-59FF-0037-193E-C758D1D0667E}"/>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13" name="TextBox 12">
            <a:extLst>
              <a:ext uri="{FF2B5EF4-FFF2-40B4-BE49-F238E27FC236}">
                <a16:creationId xmlns:a16="http://schemas.microsoft.com/office/drawing/2014/main" id="{6389FE1E-B2D4-6949-0FCD-A6B0A4BC8624}"/>
              </a:ext>
            </a:extLst>
          </p:cNvPr>
          <p:cNvSpPr txBox="1"/>
          <p:nvPr/>
        </p:nvSpPr>
        <p:spPr>
          <a:xfrm>
            <a:off x="415638" y="878225"/>
            <a:ext cx="6026724" cy="11363175"/>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12.2  Reliability:</a:t>
            </a:r>
            <a:endParaRPr lang="en-IN" dirty="0">
              <a:latin typeface="Times New Roman" panose="02020603050405020304" pitchFamily="18" charset="0"/>
              <a:cs typeface="Times New Roman" panose="02020603050405020304" pitchFamily="18" charset="0"/>
            </a:endParaRPr>
          </a:p>
          <a:p>
            <a:pPr lvl="0">
              <a:lnSpc>
                <a:spcPct val="150000"/>
              </a:lnSpc>
            </a:pPr>
            <a:r>
              <a:rPr lang="en-US" sz="1600" dirty="0">
                <a:latin typeface="Times New Roman" panose="02020603050405020304" pitchFamily="18" charset="0"/>
                <a:cs typeface="Times New Roman" panose="02020603050405020304" pitchFamily="18" charset="0"/>
              </a:rPr>
              <a:t>The Regex pattern has been tested against all 10.3 million lines with a 99.985% success rate.</a:t>
            </a:r>
            <a:endParaRPr lang="en-IN" sz="1600" dirty="0">
              <a:latin typeface="Times New Roman" panose="02020603050405020304" pitchFamily="18" charset="0"/>
              <a:cs typeface="Times New Roman" panose="02020603050405020304" pitchFamily="18" charset="0"/>
            </a:endParaRPr>
          </a:p>
          <a:p>
            <a:pPr lvl="0">
              <a:lnSpc>
                <a:spcPct val="150000"/>
              </a:lnSpc>
            </a:pPr>
            <a:r>
              <a:rPr lang="en-US" sz="1600" dirty="0">
                <a:latin typeface="Times New Roman" panose="02020603050405020304" pitchFamily="18" charset="0"/>
                <a:cs typeface="Times New Roman" panose="02020603050405020304" pitchFamily="18" charset="0"/>
              </a:rPr>
              <a:t>Type conversion uses coerce mode, so no unexpected crashes from bad data.</a:t>
            </a:r>
            <a:endParaRPr lang="en-IN" sz="1600" dirty="0">
              <a:latin typeface="Times New Roman" panose="02020603050405020304" pitchFamily="18" charset="0"/>
              <a:cs typeface="Times New Roman" panose="02020603050405020304" pitchFamily="18" charset="0"/>
            </a:endParaRPr>
          </a:p>
          <a:p>
            <a:pPr lvl="0">
              <a:lnSpc>
                <a:spcPct val="150000"/>
              </a:lnSpc>
            </a:pPr>
            <a:r>
              <a:rPr lang="en-US" sz="1600" dirty="0">
                <a:latin typeface="Times New Roman" panose="02020603050405020304" pitchFamily="18" charset="0"/>
                <a:cs typeface="Times New Roman" panose="02020603050405020304" pitchFamily="18" charset="0"/>
              </a:rPr>
              <a:t>QA gate ensures the cleaned </a:t>
            </a:r>
            <a:r>
              <a:rPr lang="en-US" sz="1600" dirty="0" err="1">
                <a:latin typeface="Times New Roman" panose="02020603050405020304" pitchFamily="18" charset="0"/>
                <a:cs typeface="Times New Roman" panose="02020603050405020304" pitchFamily="18" charset="0"/>
              </a:rPr>
              <a:t>DataFrame</a:t>
            </a:r>
            <a:r>
              <a:rPr lang="en-US" sz="1600" dirty="0">
                <a:latin typeface="Times New Roman" panose="02020603050405020304" pitchFamily="18" charset="0"/>
                <a:cs typeface="Times New Roman" panose="02020603050405020304" pitchFamily="18" charset="0"/>
              </a:rPr>
              <a:t> meets quality standards before proceeding.</a:t>
            </a:r>
            <a:endParaRPr lang="en-IN" sz="1600"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12.3  Maintainability:</a:t>
            </a:r>
            <a:endParaRPr lang="en-IN" dirty="0">
              <a:latin typeface="Times New Roman" panose="02020603050405020304" pitchFamily="18" charset="0"/>
              <a:cs typeface="Times New Roman" panose="02020603050405020304" pitchFamily="18" charset="0"/>
            </a:endParaRPr>
          </a:p>
          <a:p>
            <a:pPr lvl="0">
              <a:lnSpc>
                <a:spcPct val="150000"/>
              </a:lnSpc>
            </a:pPr>
            <a:r>
              <a:rPr lang="en-US" sz="1600" dirty="0">
                <a:latin typeface="Times New Roman" panose="02020603050405020304" pitchFamily="18" charset="0"/>
                <a:cs typeface="Times New Roman" panose="02020603050405020304" pitchFamily="18" charset="0"/>
              </a:rPr>
              <a:t>All parameters (LOG_PATH, column names) are defined as named variables at the top of each section.</a:t>
            </a:r>
            <a:endParaRPr lang="en-IN" sz="1600" dirty="0">
              <a:latin typeface="Times New Roman" panose="02020603050405020304" pitchFamily="18" charset="0"/>
              <a:cs typeface="Times New Roman" panose="02020603050405020304" pitchFamily="18" charset="0"/>
            </a:endParaRPr>
          </a:p>
          <a:p>
            <a:pPr lvl="0">
              <a:lnSpc>
                <a:spcPct val="150000"/>
              </a:lnSpc>
            </a:pPr>
            <a:r>
              <a:rPr lang="en-US" sz="1600" dirty="0">
                <a:latin typeface="Times New Roman" panose="02020603050405020304" pitchFamily="18" charset="0"/>
                <a:cs typeface="Times New Roman" panose="02020603050405020304" pitchFamily="18" charset="0"/>
              </a:rPr>
              <a:t>Each module is a separate </a:t>
            </a:r>
            <a:r>
              <a:rPr lang="en-US" sz="1600" dirty="0" err="1">
                <a:latin typeface="Times New Roman" panose="02020603050405020304" pitchFamily="18" charset="0"/>
                <a:cs typeface="Times New Roman" panose="02020603050405020304" pitchFamily="18" charset="0"/>
              </a:rPr>
              <a:t>Jupyter</a:t>
            </a:r>
            <a:r>
              <a:rPr lang="en-US" sz="1600" dirty="0">
                <a:latin typeface="Times New Roman" panose="02020603050405020304" pitchFamily="18" charset="0"/>
                <a:cs typeface="Times New Roman" panose="02020603050405020304" pitchFamily="18" charset="0"/>
              </a:rPr>
              <a:t> Notebook cell with a descriptive Markdown header.</a:t>
            </a:r>
            <a:endParaRPr lang="en-IN" sz="1600" dirty="0">
              <a:latin typeface="Times New Roman" panose="02020603050405020304" pitchFamily="18" charset="0"/>
              <a:cs typeface="Times New Roman" panose="02020603050405020304" pitchFamily="18" charset="0"/>
            </a:endParaRPr>
          </a:p>
          <a:p>
            <a:pPr lvl="0">
              <a:lnSpc>
                <a:spcPct val="150000"/>
              </a:lnSpc>
            </a:pPr>
            <a:r>
              <a:rPr lang="en-US" sz="1600" dirty="0">
                <a:latin typeface="Times New Roman" panose="02020603050405020304" pitchFamily="18" charset="0"/>
                <a:cs typeface="Times New Roman" panose="02020603050405020304" pitchFamily="18" charset="0"/>
              </a:rPr>
              <a:t>Inline print statements log progress and key counts for easy debugging.</a:t>
            </a:r>
          </a:p>
          <a:p>
            <a:pPr lvl="0">
              <a:lnSpc>
                <a:spcPct val="150000"/>
              </a:lnSpc>
            </a:pPr>
            <a:endParaRPr lang="en-US" sz="1600" dirty="0">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13. ASSUMPTIONS AND CONSTRAINTS</a:t>
            </a:r>
          </a:p>
          <a:p>
            <a:pPr>
              <a:lnSpc>
                <a:spcPct val="150000"/>
              </a:lnSpc>
            </a:pPr>
            <a:endParaRPr lang="en-IN" sz="2000"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13.1  Assumptions:</a:t>
            </a:r>
            <a:endParaRPr lang="en-IN"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The access.log file is in Apache Combined Log Format (or a compatible variant).</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The </a:t>
            </a:r>
            <a:r>
              <a:rPr lang="en-US" sz="1600" dirty="0" err="1">
                <a:latin typeface="Times New Roman" panose="02020603050405020304" pitchFamily="18" charset="0"/>
                <a:cs typeface="Times New Roman" panose="02020603050405020304" pitchFamily="18" charset="0"/>
              </a:rPr>
              <a:t>timezone</a:t>
            </a:r>
            <a:r>
              <a:rPr lang="en-US" sz="1600" dirty="0">
                <a:latin typeface="Times New Roman" panose="02020603050405020304" pitchFamily="18" charset="0"/>
                <a:cs typeface="Times New Roman" panose="02020603050405020304" pitchFamily="18" charset="0"/>
              </a:rPr>
              <a:t> is UTC+3:30 (Iran Standard Time) throughout the entire dataset.</a:t>
            </a:r>
            <a:r>
              <a:rPr lang="en-IN"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The log file is complete and not truncated.</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HTTP methods used are limited to: GET, POST, PUT, DELETE, HEAD, OPTIONS, PATCH.</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The bytes field always represents the server response size in bytes (not request size).</a:t>
            </a:r>
            <a:r>
              <a:rPr lang="en-IN"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Execution environment has at least 16 GB RAM available.</a:t>
            </a:r>
          </a:p>
          <a:p>
            <a:pPr lvl="0"/>
            <a:endParaRPr lang="en-IN" sz="1600"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13.2  Constraints:</a:t>
            </a:r>
            <a:endParaRPr lang="en-IN"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This is a batch processing system — it processes the entire log file in memory.</a:t>
            </a:r>
            <a:r>
              <a:rPr lang="en-IN"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The Regex pattern is designed specifically for Apache Combined Log Format; other formats require pattern modification.</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The system does not support real-time or streaming log processing.</a:t>
            </a:r>
            <a:endParaRPr lang="en-IN" sz="1600"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Logs are from a static historical dataset; no live data ingestion is implemented.</a:t>
            </a:r>
            <a:endParaRPr lang="en-IN" sz="1600" dirty="0">
              <a:latin typeface="Times New Roman" panose="02020603050405020304" pitchFamily="18" charset="0"/>
              <a:cs typeface="Times New Roman" panose="02020603050405020304" pitchFamily="18" charset="0"/>
            </a:endParaRPr>
          </a:p>
          <a:p>
            <a:pPr>
              <a:lnSpc>
                <a:spcPct val="150000"/>
              </a:lnSpc>
            </a:pPr>
            <a:endParaRPr lang="en-US" sz="20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A247C0C-E681-2614-AE60-9EA3FF00FEDF}"/>
              </a:ext>
            </a:extLst>
          </p:cNvPr>
          <p:cNvSpPr txBox="1"/>
          <p:nvPr/>
        </p:nvSpPr>
        <p:spPr>
          <a:xfrm>
            <a:off x="6197280" y="11603883"/>
            <a:ext cx="486295" cy="369332"/>
          </a:xfrm>
          <a:prstGeom prst="rect">
            <a:avLst/>
          </a:prstGeom>
          <a:noFill/>
        </p:spPr>
        <p:txBody>
          <a:bodyPr wrap="square" rtlCol="0">
            <a:spAutoFit/>
          </a:bodyPr>
          <a:lstStyle/>
          <a:p>
            <a:r>
              <a:rPr lang="en-US" dirty="0"/>
              <a:t>14</a:t>
            </a:r>
            <a:endParaRPr lang="en-IN" dirty="0"/>
          </a:p>
        </p:txBody>
      </p:sp>
    </p:spTree>
    <p:extLst>
      <p:ext uri="{BB962C8B-B14F-4D97-AF65-F5344CB8AC3E}">
        <p14:creationId xmlns:p14="http://schemas.microsoft.com/office/powerpoint/2010/main" val="2286406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B36FA-0471-8F20-0D1D-66B617F2CB1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244C0B4-417C-C2E4-769E-7C07E1E8AF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75316914-034E-9EE4-DCB5-378FDD1BBB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E852718E-5163-C127-70FC-A0C64608F011}"/>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94C0F6AD-C740-E33B-E86B-329DD292C8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74046F3D-617C-6D57-DE64-83DC72F7F2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157013C2-D826-A46D-F24B-64C098D5C07C}"/>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2" name="TextBox 1">
            <a:extLst>
              <a:ext uri="{FF2B5EF4-FFF2-40B4-BE49-F238E27FC236}">
                <a16:creationId xmlns:a16="http://schemas.microsoft.com/office/drawing/2014/main" id="{E8E8F913-3F7C-AE5F-CBCA-0514F4969072}"/>
              </a:ext>
            </a:extLst>
          </p:cNvPr>
          <p:cNvSpPr txBox="1"/>
          <p:nvPr/>
        </p:nvSpPr>
        <p:spPr>
          <a:xfrm>
            <a:off x="415638" y="1055017"/>
            <a:ext cx="6026724" cy="5601533"/>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14. REFERENCES</a:t>
            </a:r>
            <a:endParaRPr lang="en-IN" sz="20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marL="342900" indent="-342900">
              <a:buAutoNum type="arabicPeriod"/>
            </a:pPr>
            <a:r>
              <a:rPr lang="en-US" sz="1600" b="1" dirty="0">
                <a:latin typeface="Times New Roman" panose="02020603050405020304" pitchFamily="18" charset="0"/>
                <a:cs typeface="Times New Roman" panose="02020603050405020304" pitchFamily="18" charset="0"/>
              </a:rPr>
              <a:t>Dataset Source:  </a:t>
            </a:r>
            <a:r>
              <a:rPr lang="en-US" sz="1600" dirty="0" err="1">
                <a:latin typeface="Times New Roman" panose="02020603050405020304" pitchFamily="18" charset="0"/>
                <a:cs typeface="Times New Roman" panose="02020603050405020304" pitchFamily="18" charset="0"/>
              </a:rPr>
              <a:t>Zanbil</a:t>
            </a:r>
            <a:r>
              <a:rPr lang="en-US" sz="1600" dirty="0">
                <a:latin typeface="Times New Roman" panose="02020603050405020304" pitchFamily="18" charset="0"/>
                <a:cs typeface="Times New Roman" panose="02020603050405020304" pitchFamily="18" charset="0"/>
              </a:rPr>
              <a:t> E-commerce Apache Access Logs, Kaggle Dataset (January 2019)  —  </a:t>
            </a:r>
          </a:p>
          <a:p>
            <a:r>
              <a:rPr lang="en-US" sz="1600" dirty="0">
                <a:latin typeface="Times New Roman" panose="02020603050405020304" pitchFamily="18" charset="0"/>
                <a:cs typeface="Times New Roman" panose="02020603050405020304" pitchFamily="18" charset="0"/>
              </a:rPr>
              <a:t>https://www.kaggle.com/datasets/eliasdabbas/web-server-access-logs</a:t>
            </a:r>
            <a:endParaRPr lang="en-IN" sz="1600" dirty="0">
              <a:latin typeface="Times New Roman" panose="02020603050405020304" pitchFamily="18" charset="0"/>
              <a:cs typeface="Times New Roman" panose="02020603050405020304" pitchFamily="18" charset="0"/>
            </a:endParaRPr>
          </a:p>
          <a:p>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2.  Apache Log Format Documentation:  </a:t>
            </a:r>
            <a:r>
              <a:rPr lang="en-US" sz="1600" dirty="0">
                <a:latin typeface="Times New Roman" panose="02020603050405020304" pitchFamily="18" charset="0"/>
                <a:cs typeface="Times New Roman" panose="02020603050405020304" pitchFamily="18" charset="0"/>
              </a:rPr>
              <a:t>Apache HTTP Server Project  —  https://httpd.apache.org/docs/current/logs.html</a:t>
            </a:r>
            <a:endParaRPr lang="en-IN" sz="1600" dirty="0">
              <a:latin typeface="Times New Roman" panose="02020603050405020304" pitchFamily="18" charset="0"/>
              <a:cs typeface="Times New Roman" panose="02020603050405020304" pitchFamily="18" charset="0"/>
            </a:endParaRPr>
          </a:p>
          <a:p>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3.  Python re module — Regular Expressions:  </a:t>
            </a:r>
            <a:r>
              <a:rPr lang="en-US" sz="1600" dirty="0">
                <a:latin typeface="Times New Roman" panose="02020603050405020304" pitchFamily="18" charset="0"/>
                <a:cs typeface="Times New Roman" panose="02020603050405020304" pitchFamily="18" charset="0"/>
              </a:rPr>
              <a:t>Python Standard Library  —  https://docs.python.org/3/library/re.html</a:t>
            </a:r>
            <a:endParaRPr lang="en-IN" sz="1600" dirty="0">
              <a:latin typeface="Times New Roman" panose="02020603050405020304" pitchFamily="18" charset="0"/>
              <a:cs typeface="Times New Roman" panose="02020603050405020304" pitchFamily="18" charset="0"/>
            </a:endParaRPr>
          </a:p>
          <a:p>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4.  </a:t>
            </a:r>
            <a:r>
              <a:rPr lang="en-US" sz="1600" b="1" dirty="0" err="1">
                <a:latin typeface="Times New Roman" panose="02020603050405020304" pitchFamily="18" charset="0"/>
                <a:cs typeface="Times New Roman" panose="02020603050405020304" pitchFamily="18" charset="0"/>
              </a:rPr>
              <a:t>pandas.to_datetime</a:t>
            </a:r>
            <a:r>
              <a:rPr lang="en-US" sz="1600" b="1" dirty="0">
                <a:latin typeface="Times New Roman" panose="02020603050405020304" pitchFamily="18" charset="0"/>
                <a:cs typeface="Times New Roman" panose="02020603050405020304" pitchFamily="18" charset="0"/>
              </a:rPr>
              <a:t> Documentation:  </a:t>
            </a:r>
            <a:r>
              <a:rPr lang="en-US" sz="1600" dirty="0">
                <a:latin typeface="Times New Roman" panose="02020603050405020304" pitchFamily="18" charset="0"/>
                <a:cs typeface="Times New Roman" panose="02020603050405020304" pitchFamily="18" charset="0"/>
              </a:rPr>
              <a:t>pandas Development Team  —  https://pandas.pydata.org/docs/reference/api/pandas.to_datetime.html</a:t>
            </a:r>
            <a:endParaRPr lang="en-IN" sz="1600" dirty="0">
              <a:latin typeface="Times New Roman" panose="02020603050405020304" pitchFamily="18" charset="0"/>
              <a:cs typeface="Times New Roman" panose="02020603050405020304" pitchFamily="18" charset="0"/>
            </a:endParaRPr>
          </a:p>
          <a:p>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5.  </a:t>
            </a:r>
            <a:r>
              <a:rPr lang="en-US" sz="1600" b="1" dirty="0" err="1">
                <a:latin typeface="Times New Roman" panose="02020603050405020304" pitchFamily="18" charset="0"/>
                <a:cs typeface="Times New Roman" panose="02020603050405020304" pitchFamily="18" charset="0"/>
              </a:rPr>
              <a:t>pandas.to_numeric</a:t>
            </a:r>
            <a:r>
              <a:rPr lang="en-US" sz="1600" b="1" dirty="0">
                <a:latin typeface="Times New Roman" panose="02020603050405020304" pitchFamily="18" charset="0"/>
                <a:cs typeface="Times New Roman" panose="02020603050405020304" pitchFamily="18" charset="0"/>
              </a:rPr>
              <a:t> Documentation:  </a:t>
            </a:r>
            <a:r>
              <a:rPr lang="en-US" sz="1600" dirty="0">
                <a:latin typeface="Times New Roman" panose="02020603050405020304" pitchFamily="18" charset="0"/>
                <a:cs typeface="Times New Roman" panose="02020603050405020304" pitchFamily="18" charset="0"/>
              </a:rPr>
              <a:t>pandas Development Team  —  https://pandas.pydata.org/docs/reference/api/pandas.to_numeric.html</a:t>
            </a:r>
            <a:endParaRPr lang="en-IN" sz="1600" dirty="0">
              <a:latin typeface="Times New Roman" panose="02020603050405020304" pitchFamily="18" charset="0"/>
              <a:cs typeface="Times New Roman" panose="02020603050405020304" pitchFamily="18" charset="0"/>
            </a:endParaRPr>
          </a:p>
          <a:p>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6.  HTTP Status Code Definitions (RFC 7231):  </a:t>
            </a:r>
            <a:r>
              <a:rPr lang="en-US" sz="1600" dirty="0">
                <a:latin typeface="Times New Roman" panose="02020603050405020304" pitchFamily="18" charset="0"/>
                <a:cs typeface="Times New Roman" panose="02020603050405020304" pitchFamily="18" charset="0"/>
              </a:rPr>
              <a:t>Internet Engineering Task Force (IETF)  —  https://tools.ietf.org/html/rfc7231</a:t>
            </a:r>
            <a:endParaRPr lang="en-IN" sz="16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19BB098-D95C-6DFA-5ECD-9524EBFBBA57}"/>
              </a:ext>
            </a:extLst>
          </p:cNvPr>
          <p:cNvSpPr txBox="1"/>
          <p:nvPr/>
        </p:nvSpPr>
        <p:spPr>
          <a:xfrm>
            <a:off x="6174823" y="11623163"/>
            <a:ext cx="453044" cy="369332"/>
          </a:xfrm>
          <a:prstGeom prst="rect">
            <a:avLst/>
          </a:prstGeom>
          <a:noFill/>
        </p:spPr>
        <p:txBody>
          <a:bodyPr wrap="square" rtlCol="0">
            <a:spAutoFit/>
          </a:bodyPr>
          <a:lstStyle/>
          <a:p>
            <a:r>
              <a:rPr lang="en-US" dirty="0"/>
              <a:t>15</a:t>
            </a:r>
            <a:endParaRPr lang="en-IN" dirty="0"/>
          </a:p>
        </p:txBody>
      </p:sp>
    </p:spTree>
    <p:extLst>
      <p:ext uri="{BB962C8B-B14F-4D97-AF65-F5344CB8AC3E}">
        <p14:creationId xmlns:p14="http://schemas.microsoft.com/office/powerpoint/2010/main" val="397827161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620</TotalTime>
  <Words>3106</Words>
  <Application>Microsoft Office PowerPoint</Application>
  <PresentationFormat>Widescreen</PresentationFormat>
  <Paragraphs>606</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Muhammed Dhanish</dc:creator>
  <cp:lastModifiedBy>Muhammed Dhanish</cp:lastModifiedBy>
  <cp:revision>6</cp:revision>
  <dcterms:created xsi:type="dcterms:W3CDTF">2026-04-14T16:32:38Z</dcterms:created>
  <dcterms:modified xsi:type="dcterms:W3CDTF">2026-04-15T17:55:07Z</dcterms:modified>
</cp:coreProperties>
</file>