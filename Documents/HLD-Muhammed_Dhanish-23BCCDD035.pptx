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74" r:id="rId9"/>
    <p:sldId id="273" r:id="rId10"/>
    <p:sldId id="272" r:id="rId11"/>
    <p:sldId id="263" r:id="rId12"/>
    <p:sldId id="264" r:id="rId13"/>
    <p:sldId id="265" r:id="rId14"/>
    <p:sldId id="266" r:id="rId15"/>
    <p:sldId id="269" r:id="rId16"/>
    <p:sldId id="268" r:id="rId17"/>
    <p:sldId id="267" r:id="rId18"/>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9EC2C2-1C95-42E0-AE82-10B3F04D188E}" v="17" dt="2026-04-15T04:12:03.985"/>
    <p1510:client id="{6C53F44B-AEE1-4562-AF84-A8650127A6A4}" v="59" dt="2026-04-15T17:18:58.222"/>
    <p1510:client id="{7D74F07C-52F9-4CB6-AFB5-96E0D9ECDB09}" v="54" dt="2026-04-15T07:26:27.183"/>
    <p1510:client id="{E35AAA39-C4D2-4CDD-A1E3-5C476ED301B0}" v="64" dt="2026-04-15T02:31:05.3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1958" y="38"/>
      </p:cViewPr>
      <p:guideLst/>
    </p:cSldViewPr>
  </p:slideViewPr>
  <p:notesTextViewPr>
    <p:cViewPr>
      <p:scale>
        <a:sx n="1" d="1"/>
        <a:sy n="1" d="1"/>
      </p:scale>
      <p:origin x="0" y="0"/>
    </p:cViewPr>
  </p:notesTextViewPr>
  <p:notesViewPr>
    <p:cSldViewPr snapToGrid="0">
      <p:cViewPr varScale="1">
        <p:scale>
          <a:sx n="65" d="100"/>
          <a:sy n="65" d="100"/>
        </p:scale>
        <p:origin x="2102"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1A4EF2-12F9-4923-8B0E-42EF4DEBCB1F}" type="datetimeFigureOut">
              <a:rPr lang="en-IN" smtClean="0"/>
              <a:t>15-04-2026</a:t>
            </a:fld>
            <a:endParaRPr lang="en-IN"/>
          </a:p>
        </p:txBody>
      </p:sp>
      <p:sp>
        <p:nvSpPr>
          <p:cNvPr id="4" name="Slide Image Placeholder 3"/>
          <p:cNvSpPr>
            <a:spLocks noGrp="1" noRot="1" noChangeAspect="1"/>
          </p:cNvSpPr>
          <p:nvPr>
            <p:ph type="sldImg" idx="2"/>
          </p:nvPr>
        </p:nvSpPr>
        <p:spPr>
          <a:xfrm>
            <a:off x="2560638" y="1143000"/>
            <a:ext cx="17367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B4CDD7-DF13-469E-8DDE-5EE15A6A9AF5}" type="slidenum">
              <a:rPr lang="en-IN" smtClean="0"/>
              <a:t>‹#›</a:t>
            </a:fld>
            <a:endParaRPr lang="en-IN"/>
          </a:p>
        </p:txBody>
      </p:sp>
    </p:spTree>
    <p:extLst>
      <p:ext uri="{BB962C8B-B14F-4D97-AF65-F5344CB8AC3E}">
        <p14:creationId xmlns:p14="http://schemas.microsoft.com/office/powerpoint/2010/main" val="258744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5B4CDD7-DF13-469E-8DDE-5EE15A6A9AF5}" type="slidenum">
              <a:rPr lang="en-IN" smtClean="0"/>
              <a:t>1</a:t>
            </a:fld>
            <a:endParaRPr lang="en-IN"/>
          </a:p>
        </p:txBody>
      </p:sp>
    </p:spTree>
    <p:extLst>
      <p:ext uri="{BB962C8B-B14F-4D97-AF65-F5344CB8AC3E}">
        <p14:creationId xmlns:p14="http://schemas.microsoft.com/office/powerpoint/2010/main" val="15244669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4DB9B-D6FA-E63B-6CE9-79E28CD39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DFDB5A-8B36-BE71-9AAA-2032A49FB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C2D2E-94F6-E396-41D8-535D0A1A748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95FE6A8-A957-CA02-99AC-040DD112BE3C}"/>
              </a:ext>
            </a:extLst>
          </p:cNvPr>
          <p:cNvSpPr>
            <a:spLocks noGrp="1"/>
          </p:cNvSpPr>
          <p:nvPr>
            <p:ph type="sldNum" sz="quarter" idx="5"/>
          </p:nvPr>
        </p:nvSpPr>
        <p:spPr/>
        <p:txBody>
          <a:bodyPr/>
          <a:lstStyle/>
          <a:p>
            <a:fld id="{05B4CDD7-DF13-469E-8DDE-5EE15A6A9AF5}" type="slidenum">
              <a:rPr lang="en-IN" smtClean="0"/>
              <a:t>2</a:t>
            </a:fld>
            <a:endParaRPr lang="en-IN"/>
          </a:p>
        </p:txBody>
      </p:sp>
    </p:spTree>
    <p:extLst>
      <p:ext uri="{BB962C8B-B14F-4D97-AF65-F5344CB8AC3E}">
        <p14:creationId xmlns:p14="http://schemas.microsoft.com/office/powerpoint/2010/main" val="916282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CD76E-D9E6-2FEB-9DC4-98D824CD1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93E69-769C-796E-4013-B13AE68F6D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606D9-8152-99D2-9A18-A8BFA90986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4978D1-57E0-D531-6DFA-31578F4BD22C}"/>
              </a:ext>
            </a:extLst>
          </p:cNvPr>
          <p:cNvSpPr>
            <a:spLocks noGrp="1"/>
          </p:cNvSpPr>
          <p:nvPr>
            <p:ph type="sldNum" sz="quarter" idx="5"/>
          </p:nvPr>
        </p:nvSpPr>
        <p:spPr/>
        <p:txBody>
          <a:bodyPr/>
          <a:lstStyle/>
          <a:p>
            <a:fld id="{05B4CDD7-DF13-469E-8DDE-5EE15A6A9AF5}" type="slidenum">
              <a:rPr lang="en-IN" smtClean="0"/>
              <a:t>3</a:t>
            </a:fld>
            <a:endParaRPr lang="en-IN"/>
          </a:p>
        </p:txBody>
      </p:sp>
    </p:spTree>
    <p:extLst>
      <p:ext uri="{BB962C8B-B14F-4D97-AF65-F5344CB8AC3E}">
        <p14:creationId xmlns:p14="http://schemas.microsoft.com/office/powerpoint/2010/main" val="18653650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BF9E0-A1A0-C78E-16C5-6BB7B9DD9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85C1F-BA79-0A34-9C25-E4A337E42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38C96-E6D1-BDF0-E091-777A785738A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5FF9DAD-D731-378B-0B24-D67C9ACC52E0}"/>
              </a:ext>
            </a:extLst>
          </p:cNvPr>
          <p:cNvSpPr>
            <a:spLocks noGrp="1"/>
          </p:cNvSpPr>
          <p:nvPr>
            <p:ph type="sldNum" sz="quarter" idx="5"/>
          </p:nvPr>
        </p:nvSpPr>
        <p:spPr/>
        <p:txBody>
          <a:bodyPr/>
          <a:lstStyle/>
          <a:p>
            <a:fld id="{05B4CDD7-DF13-469E-8DDE-5EE15A6A9AF5}" type="slidenum">
              <a:rPr lang="en-IN" smtClean="0"/>
              <a:t>4</a:t>
            </a:fld>
            <a:endParaRPr lang="en-IN"/>
          </a:p>
        </p:txBody>
      </p:sp>
    </p:spTree>
    <p:extLst>
      <p:ext uri="{BB962C8B-B14F-4D97-AF65-F5344CB8AC3E}">
        <p14:creationId xmlns:p14="http://schemas.microsoft.com/office/powerpoint/2010/main" val="13796592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EB38B-D3A3-DF7F-DD66-10BD897D8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704A3-93B7-F893-C5C4-1F71C4DA6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FA770-135A-A36B-1515-18D5189D3B2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EBBBDA0-6F64-45EE-91FB-5012B21EFFA4}"/>
              </a:ext>
            </a:extLst>
          </p:cNvPr>
          <p:cNvSpPr>
            <a:spLocks noGrp="1"/>
          </p:cNvSpPr>
          <p:nvPr>
            <p:ph type="sldNum" sz="quarter" idx="5"/>
          </p:nvPr>
        </p:nvSpPr>
        <p:spPr/>
        <p:txBody>
          <a:bodyPr/>
          <a:lstStyle/>
          <a:p>
            <a:fld id="{05B4CDD7-DF13-469E-8DDE-5EE15A6A9AF5}" type="slidenum">
              <a:rPr lang="en-IN" smtClean="0"/>
              <a:t>5</a:t>
            </a:fld>
            <a:endParaRPr lang="en-IN"/>
          </a:p>
        </p:txBody>
      </p:sp>
    </p:spTree>
    <p:extLst>
      <p:ext uri="{BB962C8B-B14F-4D97-AF65-F5344CB8AC3E}">
        <p14:creationId xmlns:p14="http://schemas.microsoft.com/office/powerpoint/2010/main" val="1431064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4655F-A9AE-56F6-705E-C4A6C9023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0586-1442-1A7A-40DE-BAC1DF1A6F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A4FC3-2EF2-F35F-267B-0884080C9D4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F736660-0C55-E361-7007-4D69BFE4B2C4}"/>
              </a:ext>
            </a:extLst>
          </p:cNvPr>
          <p:cNvSpPr>
            <a:spLocks noGrp="1"/>
          </p:cNvSpPr>
          <p:nvPr>
            <p:ph type="sldNum" sz="quarter" idx="5"/>
          </p:nvPr>
        </p:nvSpPr>
        <p:spPr/>
        <p:txBody>
          <a:bodyPr/>
          <a:lstStyle/>
          <a:p>
            <a:fld id="{05B4CDD7-DF13-469E-8DDE-5EE15A6A9AF5}" type="slidenum">
              <a:rPr lang="en-IN" smtClean="0"/>
              <a:t>6</a:t>
            </a:fld>
            <a:endParaRPr lang="en-IN"/>
          </a:p>
        </p:txBody>
      </p:sp>
    </p:spTree>
    <p:extLst>
      <p:ext uri="{BB962C8B-B14F-4D97-AF65-F5344CB8AC3E}">
        <p14:creationId xmlns:p14="http://schemas.microsoft.com/office/powerpoint/2010/main" val="2768881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6C747-73E4-61AF-DF3C-E8B24A180C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1B18C-263A-C0A4-F41E-88073D5A3C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D8323C-AF94-8A12-1407-48776431E09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E8411F-8283-F845-7E59-C6865688C9FA}"/>
              </a:ext>
            </a:extLst>
          </p:cNvPr>
          <p:cNvSpPr>
            <a:spLocks noGrp="1"/>
          </p:cNvSpPr>
          <p:nvPr>
            <p:ph type="sldNum" sz="quarter" idx="5"/>
          </p:nvPr>
        </p:nvSpPr>
        <p:spPr/>
        <p:txBody>
          <a:bodyPr/>
          <a:lstStyle/>
          <a:p>
            <a:fld id="{05B4CDD7-DF13-469E-8DDE-5EE15A6A9AF5}" type="slidenum">
              <a:rPr lang="en-IN" smtClean="0"/>
              <a:t>7</a:t>
            </a:fld>
            <a:endParaRPr lang="en-IN"/>
          </a:p>
        </p:txBody>
      </p:sp>
    </p:spTree>
    <p:extLst>
      <p:ext uri="{BB962C8B-B14F-4D97-AF65-F5344CB8AC3E}">
        <p14:creationId xmlns:p14="http://schemas.microsoft.com/office/powerpoint/2010/main" val="917958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2C7E-7D7C-598B-C935-4CBECBE80C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4E29C-2136-C6B3-5C87-142640316C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4E97A8-35D2-A096-3321-E6C826FB103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1B45A0F-FCC4-0C5F-9038-7CEAAB4906ED}"/>
              </a:ext>
            </a:extLst>
          </p:cNvPr>
          <p:cNvSpPr>
            <a:spLocks noGrp="1"/>
          </p:cNvSpPr>
          <p:nvPr>
            <p:ph type="sldNum" sz="quarter" idx="5"/>
          </p:nvPr>
        </p:nvSpPr>
        <p:spPr/>
        <p:txBody>
          <a:bodyPr/>
          <a:lstStyle/>
          <a:p>
            <a:fld id="{05B4CDD7-DF13-469E-8DDE-5EE15A6A9AF5}" type="slidenum">
              <a:rPr lang="en-IN" smtClean="0"/>
              <a:t>8</a:t>
            </a:fld>
            <a:endParaRPr lang="en-IN"/>
          </a:p>
        </p:txBody>
      </p:sp>
    </p:spTree>
    <p:extLst>
      <p:ext uri="{BB962C8B-B14F-4D97-AF65-F5344CB8AC3E}">
        <p14:creationId xmlns:p14="http://schemas.microsoft.com/office/powerpoint/2010/main" val="3041769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48AFA1-98C8-2668-8AFF-003F7C999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C307E-FF50-7450-CB38-4A893EB8DE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70765-AB67-9EC2-85DD-12303794BF89}"/>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4641EB1-016F-6D09-35CA-E1AA083EC378}"/>
              </a:ext>
            </a:extLst>
          </p:cNvPr>
          <p:cNvSpPr>
            <a:spLocks noGrp="1"/>
          </p:cNvSpPr>
          <p:nvPr>
            <p:ph type="sldNum" sz="quarter" idx="5"/>
          </p:nvPr>
        </p:nvSpPr>
        <p:spPr/>
        <p:txBody>
          <a:bodyPr/>
          <a:lstStyle/>
          <a:p>
            <a:fld id="{05B4CDD7-DF13-469E-8DDE-5EE15A6A9AF5}" type="slidenum">
              <a:rPr lang="en-IN" smtClean="0"/>
              <a:t>9</a:t>
            </a:fld>
            <a:endParaRPr lang="en-IN"/>
          </a:p>
        </p:txBody>
      </p:sp>
    </p:spTree>
    <p:extLst>
      <p:ext uri="{BB962C8B-B14F-4D97-AF65-F5344CB8AC3E}">
        <p14:creationId xmlns:p14="http://schemas.microsoft.com/office/powerpoint/2010/main" val="8440128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F6689-A531-A3F1-D466-C1DF87221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E7F7C8-45CE-5107-9E86-0B6558343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4B8E9-D77A-4FEA-E293-22894041E89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C801DB8-9AD2-1D85-301A-310CEA8D2C01}"/>
              </a:ext>
            </a:extLst>
          </p:cNvPr>
          <p:cNvSpPr>
            <a:spLocks noGrp="1"/>
          </p:cNvSpPr>
          <p:nvPr>
            <p:ph type="sldNum" sz="quarter" idx="5"/>
          </p:nvPr>
        </p:nvSpPr>
        <p:spPr/>
        <p:txBody>
          <a:bodyPr/>
          <a:lstStyle/>
          <a:p>
            <a:fld id="{05B4CDD7-DF13-469E-8DDE-5EE15A6A9AF5}" type="slidenum">
              <a:rPr lang="en-IN" smtClean="0"/>
              <a:t>10</a:t>
            </a:fld>
            <a:endParaRPr lang="en-IN"/>
          </a:p>
        </p:txBody>
      </p:sp>
    </p:spTree>
    <p:extLst>
      <p:ext uri="{BB962C8B-B14F-4D97-AF65-F5344CB8AC3E}">
        <p14:creationId xmlns:p14="http://schemas.microsoft.com/office/powerpoint/2010/main" val="163199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C1E26-4CFD-CDCB-F373-03927B1A68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76EA0E-7C5E-4C45-2542-E386B60F76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81A5E-DDF4-1AD6-67FA-B508EA57AA3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6461342-E88D-9005-C4F0-65CD0B5D59DC}"/>
              </a:ext>
            </a:extLst>
          </p:cNvPr>
          <p:cNvSpPr>
            <a:spLocks noGrp="1"/>
          </p:cNvSpPr>
          <p:nvPr>
            <p:ph type="sldNum" sz="quarter" idx="5"/>
          </p:nvPr>
        </p:nvSpPr>
        <p:spPr/>
        <p:txBody>
          <a:bodyPr/>
          <a:lstStyle/>
          <a:p>
            <a:fld id="{05B4CDD7-DF13-469E-8DDE-5EE15A6A9AF5}" type="slidenum">
              <a:rPr lang="en-IN" smtClean="0"/>
              <a:t>11</a:t>
            </a:fld>
            <a:endParaRPr lang="en-IN"/>
          </a:p>
        </p:txBody>
      </p:sp>
    </p:spTree>
    <p:extLst>
      <p:ext uri="{BB962C8B-B14F-4D97-AF65-F5344CB8AC3E}">
        <p14:creationId xmlns:p14="http://schemas.microsoft.com/office/powerpoint/2010/main" val="2396972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30C9-0C69-E9D3-3AC4-F533B8251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998A5-C7EB-26A6-3849-A277B0E65A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874F7-084F-B7D3-4292-C21E98FB889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F98330D-48C3-D6A3-7D86-B91235FAF18E}"/>
              </a:ext>
            </a:extLst>
          </p:cNvPr>
          <p:cNvSpPr>
            <a:spLocks noGrp="1"/>
          </p:cNvSpPr>
          <p:nvPr>
            <p:ph type="sldNum" sz="quarter" idx="5"/>
          </p:nvPr>
        </p:nvSpPr>
        <p:spPr/>
        <p:txBody>
          <a:bodyPr/>
          <a:lstStyle/>
          <a:p>
            <a:fld id="{05B4CDD7-DF13-469E-8DDE-5EE15A6A9AF5}" type="slidenum">
              <a:rPr lang="en-IN" smtClean="0"/>
              <a:t>12</a:t>
            </a:fld>
            <a:endParaRPr lang="en-IN"/>
          </a:p>
        </p:txBody>
      </p:sp>
    </p:spTree>
    <p:extLst>
      <p:ext uri="{BB962C8B-B14F-4D97-AF65-F5344CB8AC3E}">
        <p14:creationId xmlns:p14="http://schemas.microsoft.com/office/powerpoint/2010/main" val="1871001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4139A-4CA0-A534-D432-6536FDAB4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4573E-988A-DBB3-73AC-F9FB42FFC0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86E76-4D90-5CF4-8915-98812807248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FFF853A-4F07-E1B6-82E0-B7EBB46D853D}"/>
              </a:ext>
            </a:extLst>
          </p:cNvPr>
          <p:cNvSpPr>
            <a:spLocks noGrp="1"/>
          </p:cNvSpPr>
          <p:nvPr>
            <p:ph type="sldNum" sz="quarter" idx="5"/>
          </p:nvPr>
        </p:nvSpPr>
        <p:spPr/>
        <p:txBody>
          <a:bodyPr/>
          <a:lstStyle/>
          <a:p>
            <a:fld id="{05B4CDD7-DF13-469E-8DDE-5EE15A6A9AF5}" type="slidenum">
              <a:rPr lang="en-IN" smtClean="0"/>
              <a:t>13</a:t>
            </a:fld>
            <a:endParaRPr lang="en-IN"/>
          </a:p>
        </p:txBody>
      </p:sp>
    </p:spTree>
    <p:extLst>
      <p:ext uri="{BB962C8B-B14F-4D97-AF65-F5344CB8AC3E}">
        <p14:creationId xmlns:p14="http://schemas.microsoft.com/office/powerpoint/2010/main" val="3502082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69F51-FDD0-1138-41B0-711B6F240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B13345-34F4-97ED-DF14-8CBA7C456C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F4802-163F-CC7E-13AC-3AC724D3715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6A068C9-E6D5-14D2-9677-7802F53E7488}"/>
              </a:ext>
            </a:extLst>
          </p:cNvPr>
          <p:cNvSpPr>
            <a:spLocks noGrp="1"/>
          </p:cNvSpPr>
          <p:nvPr>
            <p:ph type="sldNum" sz="quarter" idx="5"/>
          </p:nvPr>
        </p:nvSpPr>
        <p:spPr/>
        <p:txBody>
          <a:bodyPr/>
          <a:lstStyle/>
          <a:p>
            <a:fld id="{05B4CDD7-DF13-469E-8DDE-5EE15A6A9AF5}" type="slidenum">
              <a:rPr lang="en-IN" smtClean="0"/>
              <a:t>14</a:t>
            </a:fld>
            <a:endParaRPr lang="en-IN"/>
          </a:p>
        </p:txBody>
      </p:sp>
    </p:spTree>
    <p:extLst>
      <p:ext uri="{BB962C8B-B14F-4D97-AF65-F5344CB8AC3E}">
        <p14:creationId xmlns:p14="http://schemas.microsoft.com/office/powerpoint/2010/main" val="3441486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702A-7379-950B-B0BB-D31FB5BFE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FEB04-B583-9A37-11A6-31FF6FA344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E8B1E-6FB9-A5D6-1A13-C49B4734EC8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65F51B9-07BD-1239-AA08-632720626DBC}"/>
              </a:ext>
            </a:extLst>
          </p:cNvPr>
          <p:cNvSpPr>
            <a:spLocks noGrp="1"/>
          </p:cNvSpPr>
          <p:nvPr>
            <p:ph type="sldNum" sz="quarter" idx="5"/>
          </p:nvPr>
        </p:nvSpPr>
        <p:spPr/>
        <p:txBody>
          <a:bodyPr/>
          <a:lstStyle/>
          <a:p>
            <a:fld id="{05B4CDD7-DF13-469E-8DDE-5EE15A6A9AF5}" type="slidenum">
              <a:rPr lang="en-IN" smtClean="0"/>
              <a:t>15</a:t>
            </a:fld>
            <a:endParaRPr lang="en-IN"/>
          </a:p>
        </p:txBody>
      </p:sp>
    </p:spTree>
    <p:extLst>
      <p:ext uri="{BB962C8B-B14F-4D97-AF65-F5344CB8AC3E}">
        <p14:creationId xmlns:p14="http://schemas.microsoft.com/office/powerpoint/2010/main" val="11745023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3573-51D3-08E1-1F27-BCC9A6D78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84641-9300-9F9A-7AAB-47E4E5081D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D2712-3C7C-E4F6-89CC-0E3E47E1976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61AB371-AA48-0CD3-7A6F-0588897EF17B}"/>
              </a:ext>
            </a:extLst>
          </p:cNvPr>
          <p:cNvSpPr>
            <a:spLocks noGrp="1"/>
          </p:cNvSpPr>
          <p:nvPr>
            <p:ph type="sldNum" sz="quarter" idx="5"/>
          </p:nvPr>
        </p:nvSpPr>
        <p:spPr/>
        <p:txBody>
          <a:bodyPr/>
          <a:lstStyle/>
          <a:p>
            <a:fld id="{05B4CDD7-DF13-469E-8DDE-5EE15A6A9AF5}" type="slidenum">
              <a:rPr lang="en-IN" smtClean="0"/>
              <a:t>16</a:t>
            </a:fld>
            <a:endParaRPr lang="en-IN"/>
          </a:p>
        </p:txBody>
      </p:sp>
    </p:spTree>
    <p:extLst>
      <p:ext uri="{BB962C8B-B14F-4D97-AF65-F5344CB8AC3E}">
        <p14:creationId xmlns:p14="http://schemas.microsoft.com/office/powerpoint/2010/main" val="845059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B5352-5BB9-57F6-E7C4-93FB74D5B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7D8F7B-99A7-08B0-DE91-72FCAB10C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E2C3C-7602-4B4D-8935-D18D4A2985EE}"/>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62CB0DB-B058-1908-5D24-FCCC2A016094}"/>
              </a:ext>
            </a:extLst>
          </p:cNvPr>
          <p:cNvSpPr>
            <a:spLocks noGrp="1"/>
          </p:cNvSpPr>
          <p:nvPr>
            <p:ph type="sldNum" sz="quarter" idx="5"/>
          </p:nvPr>
        </p:nvSpPr>
        <p:spPr/>
        <p:txBody>
          <a:bodyPr/>
          <a:lstStyle/>
          <a:p>
            <a:fld id="{05B4CDD7-DF13-469E-8DDE-5EE15A6A9AF5}" type="slidenum">
              <a:rPr lang="en-IN" smtClean="0"/>
              <a:t>17</a:t>
            </a:fld>
            <a:endParaRPr lang="en-IN"/>
          </a:p>
        </p:txBody>
      </p:sp>
    </p:spTree>
    <p:extLst>
      <p:ext uri="{BB962C8B-B14F-4D97-AF65-F5344CB8AC3E}">
        <p14:creationId xmlns:p14="http://schemas.microsoft.com/office/powerpoint/2010/main" val="1869365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1737584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15371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42333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393383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5C56A4-0C86-457D-A116-F75C26DC01C6}" type="datetimeFigureOut">
              <a:rPr lang="en-IN" smtClean="0"/>
              <a:t>15-04-2026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1901985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5C56A4-0C86-457D-A116-F75C26DC01C6}" type="datetimeFigureOut">
              <a:rPr lang="en-IN" smtClean="0"/>
              <a:t>15-04-2026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849069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5C56A4-0C86-457D-A116-F75C26DC01C6}" type="datetimeFigureOut">
              <a:rPr lang="en-IN" smtClean="0"/>
              <a:t>15-04-2026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8754754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4028144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295C56A4-0C86-457D-A116-F75C26DC01C6}" type="datetimeFigureOut">
              <a:rPr lang="en-IN" smtClean="0"/>
              <a:t>15-04-2026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644318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78041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5C56A4-0C86-457D-A116-F75C26DC01C6}" type="datetimeFigureOut">
              <a:rPr lang="en-IN" smtClean="0"/>
              <a:t>15-04-2026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FEBED60-C533-4253-8319-C94FD87FFCAF}" type="slidenum">
              <a:rPr lang="en-IN" smtClean="0"/>
              <a:t>‹#›</a:t>
            </a:fld>
            <a:endParaRPr lang="en-IN"/>
          </a:p>
        </p:txBody>
      </p:sp>
    </p:spTree>
    <p:extLst>
      <p:ext uri="{BB962C8B-B14F-4D97-AF65-F5344CB8AC3E}">
        <p14:creationId xmlns:p14="http://schemas.microsoft.com/office/powerpoint/2010/main" val="2212693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295C56A4-0C86-457D-A116-F75C26DC01C6}" type="datetimeFigureOut">
              <a:rPr lang="en-IN" smtClean="0"/>
              <a:t>15-04-2026</a:t>
            </a:fld>
            <a:endParaRPr lang="en-IN"/>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EFEBED60-C533-4253-8319-C94FD87FFCAF}" type="slidenum">
              <a:rPr lang="en-IN" smtClean="0"/>
              <a:t>‹#›</a:t>
            </a:fld>
            <a:endParaRPr lang="en-IN"/>
          </a:p>
        </p:txBody>
      </p:sp>
    </p:spTree>
    <p:extLst>
      <p:ext uri="{BB962C8B-B14F-4D97-AF65-F5344CB8AC3E}">
        <p14:creationId xmlns:p14="http://schemas.microsoft.com/office/powerpoint/2010/main" val="665083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F242DA-860C-BD0F-FB2A-3217C16643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E8BFE56-1900-BB8A-2E79-FF8C40A537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50D04FAA-93D0-EA77-D5A8-17F4E4655A5B}"/>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050190A5-E6E7-AF1D-6545-67517F2D6D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4769E086-5FF2-56A8-C93A-AF826D955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pic>
        <p:nvPicPr>
          <p:cNvPr id="19" name="Picture 18">
            <a:extLst>
              <a:ext uri="{FF2B5EF4-FFF2-40B4-BE49-F238E27FC236}">
                <a16:creationId xmlns:a16="http://schemas.microsoft.com/office/drawing/2014/main" id="{5708D6A8-1AD7-C2CF-C9EA-A297EAEB4D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57436" y="1314549"/>
            <a:ext cx="2143125" cy="2143125"/>
          </a:xfrm>
          <a:prstGeom prst="rect">
            <a:avLst/>
          </a:prstGeom>
        </p:spPr>
      </p:pic>
      <p:sp>
        <p:nvSpPr>
          <p:cNvPr id="21" name="TextBox 20">
            <a:extLst>
              <a:ext uri="{FF2B5EF4-FFF2-40B4-BE49-F238E27FC236}">
                <a16:creationId xmlns:a16="http://schemas.microsoft.com/office/drawing/2014/main" id="{E9CCDD73-1954-8CF5-73F9-10D13FD25F9E}"/>
              </a:ext>
            </a:extLst>
          </p:cNvPr>
          <p:cNvSpPr txBox="1"/>
          <p:nvPr/>
        </p:nvSpPr>
        <p:spPr>
          <a:xfrm>
            <a:off x="804254" y="3534672"/>
            <a:ext cx="5249488"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YENEPOYA INSTITUTE OF ARTS, SCIENCE, COMMERCE AND MANAGEMENT</a:t>
            </a:r>
            <a:endParaRPr lang="en-IN" b="1" dirty="0">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42764D3-126E-2638-E2FD-CD792417F251}"/>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3" name="TextBox 22">
            <a:extLst>
              <a:ext uri="{FF2B5EF4-FFF2-40B4-BE49-F238E27FC236}">
                <a16:creationId xmlns:a16="http://schemas.microsoft.com/office/drawing/2014/main" id="{07F0023C-80C3-ED40-A94B-25C693B423ED}"/>
              </a:ext>
            </a:extLst>
          </p:cNvPr>
          <p:cNvSpPr txBox="1"/>
          <p:nvPr/>
        </p:nvSpPr>
        <p:spPr>
          <a:xfrm>
            <a:off x="627609" y="4669793"/>
            <a:ext cx="5602778" cy="1207831"/>
          </a:xfrm>
          <a:prstGeom prst="rect">
            <a:avLst/>
          </a:prstGeom>
          <a:noFill/>
        </p:spPr>
        <p:txBody>
          <a:bodyPr wrap="square" rtlCol="0">
            <a:spAutoFit/>
          </a:bodyPr>
          <a:lstStyle/>
          <a:p>
            <a:pPr algn="ctr">
              <a:lnSpc>
                <a:spcPct val="150000"/>
              </a:lnSpc>
            </a:pPr>
            <a:r>
              <a:rPr lang="en-US" dirty="0">
                <a:latin typeface="Times New Roman" panose="02020603050405020304" pitchFamily="18" charset="0"/>
                <a:cs typeface="Times New Roman" panose="02020603050405020304" pitchFamily="18" charset="0"/>
              </a:rPr>
              <a:t>Project – High Level Design </a:t>
            </a:r>
          </a:p>
          <a:p>
            <a:pPr algn="ctr">
              <a:lnSpc>
                <a:spcPct val="150000"/>
              </a:lnSpc>
            </a:pPr>
            <a:r>
              <a:rPr lang="en-US" dirty="0">
                <a:latin typeface="Times New Roman" panose="02020603050405020304" pitchFamily="18" charset="0"/>
                <a:cs typeface="Times New Roman" panose="02020603050405020304" pitchFamily="18" charset="0"/>
              </a:rPr>
              <a:t>On</a:t>
            </a:r>
          </a:p>
          <a:p>
            <a:pPr algn="ctr">
              <a:lnSpc>
                <a:spcPct val="150000"/>
              </a:lnSpc>
            </a:pPr>
            <a:r>
              <a:rPr lang="en-US" sz="1400" dirty="0">
                <a:latin typeface="Times New Roman" panose="02020603050405020304" pitchFamily="18" charset="0"/>
                <a:cs typeface="Times New Roman" panose="02020603050405020304" pitchFamily="18" charset="0"/>
              </a:rPr>
              <a:t>VISUAL THREAT HUNTING FOR E-COMMERCE NETWORKS</a:t>
            </a:r>
            <a:endParaRPr lang="en-IN" sz="14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0BACFD08-F1ED-A33C-F0C6-354A6F5F6158}"/>
              </a:ext>
            </a:extLst>
          </p:cNvPr>
          <p:cNvSpPr txBox="1"/>
          <p:nvPr/>
        </p:nvSpPr>
        <p:spPr>
          <a:xfrm>
            <a:off x="500840" y="6180202"/>
            <a:ext cx="5856316" cy="1289071"/>
          </a:xfrm>
          <a:prstGeom prst="rect">
            <a:avLst/>
          </a:prstGeom>
          <a:noFill/>
        </p:spPr>
        <p:txBody>
          <a:bodyPr wrap="square" rtlCol="0">
            <a:spAutoFit/>
          </a:bodyPr>
          <a:lstStyle/>
          <a:p>
            <a:pPr algn="ctr">
              <a:lnSpc>
                <a:spcPct val="150000"/>
              </a:lnSpc>
            </a:pPr>
            <a:r>
              <a:rPr lang="en-US" b="1" dirty="0">
                <a:latin typeface="Times New Roman" panose="02020603050405020304" pitchFamily="18" charset="0"/>
                <a:cs typeface="Times New Roman" panose="02020603050405020304" pitchFamily="18" charset="0"/>
              </a:rPr>
              <a:t>SUBMITTED BY</a:t>
            </a:r>
          </a:p>
          <a:p>
            <a:pPr algn="ctr">
              <a:lnSpc>
                <a:spcPct val="150000"/>
              </a:lnSpc>
            </a:pPr>
            <a:r>
              <a:rPr lang="en-US" dirty="0">
                <a:latin typeface="Times New Roman" panose="02020603050405020304" pitchFamily="18" charset="0"/>
                <a:cs typeface="Times New Roman" panose="02020603050405020304" pitchFamily="18" charset="0"/>
              </a:rPr>
              <a:t> Muhammed Dhanish - 23BCCDD035</a:t>
            </a:r>
          </a:p>
          <a:p>
            <a:pPr algn="ctr">
              <a:lnSpc>
                <a:spcPct val="150000"/>
              </a:lnSpc>
            </a:pPr>
            <a:r>
              <a:rPr lang="en-US" dirty="0">
                <a:latin typeface="Times New Roman" panose="02020603050405020304" pitchFamily="18" charset="0"/>
                <a:cs typeface="Times New Roman" panose="02020603050405020304" pitchFamily="18" charset="0"/>
              </a:rPr>
              <a:t>BCA(Cybersecurity, Digital Forensic and Data Science)</a:t>
            </a:r>
            <a:endParaRPr lang="en-IN" dirty="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882AB837-47C4-08FC-4F93-44F5223BD099}"/>
              </a:ext>
            </a:extLst>
          </p:cNvPr>
          <p:cNvSpPr txBox="1"/>
          <p:nvPr/>
        </p:nvSpPr>
        <p:spPr>
          <a:xfrm>
            <a:off x="1631071" y="7881580"/>
            <a:ext cx="3595856" cy="1704569"/>
          </a:xfrm>
          <a:prstGeom prst="rect">
            <a:avLst/>
          </a:prstGeom>
          <a:noFill/>
        </p:spPr>
        <p:txBody>
          <a:bodyPr wrap="none" rtlCol="0">
            <a:spAutoFit/>
          </a:bodyPr>
          <a:lstStyle/>
          <a:p>
            <a:pPr algn="ctr">
              <a:lnSpc>
                <a:spcPct val="150000"/>
              </a:lnSpc>
            </a:pPr>
            <a:r>
              <a:rPr lang="en-IN" dirty="0">
                <a:latin typeface="Times New Roman" panose="02020603050405020304" pitchFamily="18" charset="0"/>
                <a:cs typeface="Times New Roman" panose="02020603050405020304" pitchFamily="18" charset="0"/>
              </a:rPr>
              <a:t>UNDER THE GUIDANCE OF</a:t>
            </a:r>
          </a:p>
          <a:p>
            <a:pPr algn="ctr">
              <a:lnSpc>
                <a:spcPct val="150000"/>
              </a:lnSpc>
            </a:pPr>
            <a:r>
              <a:rPr lang="en-US" dirty="0">
                <a:latin typeface="Times New Roman" panose="02020603050405020304" pitchFamily="18" charset="0"/>
                <a:cs typeface="Times New Roman" panose="02020603050405020304" pitchFamily="18" charset="0"/>
              </a:rPr>
              <a:t>Industry Mentor: Shashank </a:t>
            </a:r>
            <a:r>
              <a:rPr lang="en-US" dirty="0" err="1">
                <a:latin typeface="Times New Roman" panose="02020603050405020304" pitchFamily="18" charset="0"/>
                <a:cs typeface="Times New Roman" panose="02020603050405020304" pitchFamily="18" charset="0"/>
              </a:rPr>
              <a:t>Korrram</a:t>
            </a:r>
            <a:endParaRPr lang="en-US" dirty="0">
              <a:latin typeface="Times New Roman" panose="02020603050405020304" pitchFamily="18" charset="0"/>
              <a:cs typeface="Times New Roman" panose="02020603050405020304" pitchFamily="18" charset="0"/>
            </a:endParaRPr>
          </a:p>
          <a:p>
            <a:pPr algn="ctr">
              <a:lnSpc>
                <a:spcPct val="150000"/>
              </a:lnSpc>
            </a:pPr>
            <a:r>
              <a:rPr lang="en-US" dirty="0">
                <a:latin typeface="Times New Roman" panose="02020603050405020304" pitchFamily="18" charset="0"/>
                <a:cs typeface="Times New Roman" panose="02020603050405020304" pitchFamily="18" charset="0"/>
              </a:rPr>
              <a:t>Guided by: Suzana Sharol Prabhakar</a:t>
            </a:r>
            <a:endParaRPr lang="en-US" b="1" dirty="0"/>
          </a:p>
          <a:p>
            <a:pPr algn="ctr">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5405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0184E-284E-F169-C5E8-8B82082FE6B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C0210CC-93F7-CF63-F5AE-36D77E67AE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952D9808-C333-FB3A-B4A4-1450BCE8C2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68DA86E1-3BAD-3621-99F4-2A274B9ACBE2}"/>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06982E39-6E59-97F8-F04D-A1D3516D4A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E48ED41-3F71-2F5D-9EB7-4066058656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28F75C8-1661-A3A1-61B6-5E1ACCBDF6D8}"/>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23FE1D0F-4E74-1449-9C94-20973D02D1F3}"/>
              </a:ext>
            </a:extLst>
          </p:cNvPr>
          <p:cNvSpPr txBox="1"/>
          <p:nvPr/>
        </p:nvSpPr>
        <p:spPr>
          <a:xfrm>
            <a:off x="2166089" y="1519121"/>
            <a:ext cx="2525820" cy="369332"/>
          </a:xfrm>
          <a:prstGeom prst="rect">
            <a:avLst/>
          </a:prstGeom>
          <a:noFill/>
        </p:spPr>
        <p:txBody>
          <a:bodyPr wrap="none" rtlCol="0">
            <a:spAutoFit/>
          </a:bodyPr>
          <a:lstStyle/>
          <a:p>
            <a:pPr algn="ctr"/>
            <a:r>
              <a:rPr lang="en-US" dirty="0">
                <a:latin typeface="Times New Roman" panose="02020603050405020304" pitchFamily="18" charset="0"/>
                <a:cs typeface="Times New Roman" panose="02020603050405020304" pitchFamily="18" charset="0"/>
              </a:rPr>
              <a:t>TABLE OF CONTENTS</a:t>
            </a:r>
            <a:endParaRPr lang="en-IN"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37A0AA6-90AE-8E7C-5DD1-5707C5445914}"/>
              </a:ext>
            </a:extLst>
          </p:cNvPr>
          <p:cNvSpPr txBox="1"/>
          <p:nvPr/>
        </p:nvSpPr>
        <p:spPr>
          <a:xfrm>
            <a:off x="442341" y="2121852"/>
            <a:ext cx="5973317" cy="8768041"/>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 1.  Introduction ................................................ 03</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2.  Scope of the Document ....................................... 03</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3.  Intended Audience ........................................... 04</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4.  System Overview ............................................. 04</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  System Design ............................................... 05</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5.1  Application Design ..................................... 05</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5.2  Process Flow ........................................... 06</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5.3  Information Flow ....................................... 08</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5.4  Components Design ...................................... 09</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5.5  Key Design Considerations .............................. 12</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6.  API Catalogue ............................................... 13</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7.  Data Design ................................................. 13</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7.1  Data Model ............................................. 13</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7.2  Data Access Mechanism .................................. 14</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7.3  Data Retention Policies ................................ 14</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7.4  Data Migration ......................................... 15</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8.  Interfaces .................................................. 15</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9.  State and Session Management ................................ 17</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10.  Caching .................................................... 17</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11.  Non-Functional Requirements ................................ 18</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12.  References ................................................. 19</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520BF47B-1A0E-46BE-25F0-E9D52AAED489}"/>
              </a:ext>
            </a:extLst>
          </p:cNvPr>
          <p:cNvSpPr txBox="1"/>
          <p:nvPr/>
        </p:nvSpPr>
        <p:spPr>
          <a:xfrm>
            <a:off x="6338451" y="11597697"/>
            <a:ext cx="295106" cy="369332"/>
          </a:xfrm>
          <a:prstGeom prst="rect">
            <a:avLst/>
          </a:prstGeom>
          <a:noFill/>
        </p:spPr>
        <p:txBody>
          <a:bodyPr wrap="square" rtlCol="0">
            <a:spAutoFit/>
          </a:bodyPr>
          <a:lstStyle/>
          <a:p>
            <a:r>
              <a:rPr lang="en-US" dirty="0"/>
              <a:t>1</a:t>
            </a:r>
            <a:endParaRPr lang="en-IN" dirty="0"/>
          </a:p>
        </p:txBody>
      </p:sp>
    </p:spTree>
    <p:extLst>
      <p:ext uri="{BB962C8B-B14F-4D97-AF65-F5344CB8AC3E}">
        <p14:creationId xmlns:p14="http://schemas.microsoft.com/office/powerpoint/2010/main" val="92675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E549-036C-338C-880F-43825BC3C6D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441A62-D4B2-452B-E2A6-A588F6F22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237CDADB-72B7-9D09-85EC-6BEA9879E9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A210BB34-4930-1FBC-0F95-EC86F3F2AB6F}"/>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D83C1790-D0C6-C232-BFFE-ABD80EA553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CADA506D-1774-5C7C-9B8C-1F921F4A3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ED79733-8C03-28E9-867B-D15E3EA5DFC5}"/>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3" name="TextBox 2">
            <a:extLst>
              <a:ext uri="{FF2B5EF4-FFF2-40B4-BE49-F238E27FC236}">
                <a16:creationId xmlns:a16="http://schemas.microsoft.com/office/drawing/2014/main" id="{D78AACC2-DB63-282F-F6E9-3DC0952D392C}"/>
              </a:ext>
            </a:extLst>
          </p:cNvPr>
          <p:cNvSpPr txBox="1"/>
          <p:nvPr/>
        </p:nvSpPr>
        <p:spPr>
          <a:xfrm>
            <a:off x="6284566" y="11593439"/>
            <a:ext cx="349134" cy="369332"/>
          </a:xfrm>
          <a:prstGeom prst="rect">
            <a:avLst/>
          </a:prstGeom>
          <a:noFill/>
        </p:spPr>
        <p:txBody>
          <a:bodyPr wrap="square" rtlCol="0">
            <a:spAutoFit/>
          </a:bodyPr>
          <a:lstStyle/>
          <a:p>
            <a:r>
              <a:rPr lang="en-US" dirty="0"/>
              <a:t>2</a:t>
            </a:r>
            <a:endParaRPr lang="en-IN" dirty="0"/>
          </a:p>
        </p:txBody>
      </p:sp>
      <p:sp>
        <p:nvSpPr>
          <p:cNvPr id="4" name="TextBox 3">
            <a:extLst>
              <a:ext uri="{FF2B5EF4-FFF2-40B4-BE49-F238E27FC236}">
                <a16:creationId xmlns:a16="http://schemas.microsoft.com/office/drawing/2014/main" id="{710FB84D-B897-F217-E03C-706675D640E9}"/>
              </a:ext>
            </a:extLst>
          </p:cNvPr>
          <p:cNvSpPr txBox="1"/>
          <p:nvPr/>
        </p:nvSpPr>
        <p:spPr>
          <a:xfrm>
            <a:off x="415638" y="990498"/>
            <a:ext cx="6026724" cy="11035713"/>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1. INTRODUCTION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a:t>
            </a:r>
            <a:r>
              <a:rPr lang="en-US" sz="1600" b="1" dirty="0">
                <a:latin typeface="Times New Roman" panose="02020603050405020304" pitchFamily="18" charset="0"/>
                <a:cs typeface="Times New Roman" panose="02020603050405020304" pitchFamily="18" charset="0"/>
              </a:rPr>
              <a:t>Visual Threat Hunting for E-commerce Networks</a:t>
            </a:r>
            <a:r>
              <a:rPr lang="en-US" sz="1600" dirty="0">
                <a:latin typeface="Times New Roman" panose="02020603050405020304" pitchFamily="18" charset="0"/>
                <a:cs typeface="Times New Roman" panose="02020603050405020304" pitchFamily="18" charset="0"/>
              </a:rPr>
              <a:t> project is a cybersecurity analytics system designed to detect, visualize, and report anomalous network traffic patterns in e-commerce web server logs. Built on top of a pre-cleaned dataset of over 10 million Apache access log records from a real Iranian e-commerce platform (</a:t>
            </a:r>
            <a:r>
              <a:rPr lang="en-US" sz="1600" b="1" dirty="0" err="1">
                <a:latin typeface="Times New Roman" panose="02020603050405020304" pitchFamily="18" charset="0"/>
                <a:cs typeface="Times New Roman" panose="02020603050405020304" pitchFamily="18" charset="0"/>
              </a:rPr>
              <a:t>Zanbil</a:t>
            </a:r>
            <a:r>
              <a:rPr lang="en-US" sz="1600" b="1" dirty="0">
                <a:latin typeface="Times New Roman" panose="02020603050405020304" pitchFamily="18" charset="0"/>
                <a:cs typeface="Times New Roman" panose="02020603050405020304" pitchFamily="18" charset="0"/>
              </a:rPr>
              <a:t>, January 2019</a:t>
            </a:r>
            <a:r>
              <a:rPr lang="en-US" sz="1600" dirty="0">
                <a:latin typeface="Times New Roman" panose="02020603050405020304" pitchFamily="18" charset="0"/>
                <a:cs typeface="Times New Roman" panose="02020603050405020304" pitchFamily="18" charset="0"/>
              </a:rPr>
              <a:t>), this system applies statistical modeling and interactive dashboarding to enable security analysts to identify potential cyber threats such as DDoS attacks, traffic burst anomalies, and suspicious behavior patterns.</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High Level Design (HLD) document describes the overall system architecture, the analytical components that operate on clean data, the feature engineering strategy, the anomaly detection engine, alert generation logic, and the final Power BI dashboard interface. It defines </a:t>
            </a:r>
            <a:r>
              <a:rPr lang="en-US" sz="1600" b="1" dirty="0">
                <a:latin typeface="Times New Roman" panose="02020603050405020304" pitchFamily="18" charset="0"/>
                <a:cs typeface="Times New Roman" panose="02020603050405020304" pitchFamily="18" charset="0"/>
              </a:rPr>
              <a:t>WHAT</a:t>
            </a:r>
            <a:r>
              <a:rPr lang="en-US" sz="1600" dirty="0">
                <a:latin typeface="Times New Roman" panose="02020603050405020304" pitchFamily="18" charset="0"/>
                <a:cs typeface="Times New Roman" panose="02020603050405020304" pitchFamily="18" charset="0"/>
              </a:rPr>
              <a:t> the system does and </a:t>
            </a:r>
            <a:r>
              <a:rPr lang="en-US" sz="1600" b="1" dirty="0">
                <a:latin typeface="Times New Roman" panose="02020603050405020304" pitchFamily="18" charset="0"/>
                <a:cs typeface="Times New Roman" panose="02020603050405020304" pitchFamily="18" charset="0"/>
              </a:rPr>
              <a:t>WHY</a:t>
            </a:r>
            <a:r>
              <a:rPr lang="en-US" sz="1600" dirty="0">
                <a:latin typeface="Times New Roman" panose="02020603050405020304" pitchFamily="18" charset="0"/>
                <a:cs typeface="Times New Roman" panose="02020603050405020304" pitchFamily="18" charset="0"/>
              </a:rPr>
              <a:t>, while the Low Level Design (LLD) covers the </a:t>
            </a:r>
            <a:r>
              <a:rPr lang="en-US" sz="1600" b="1" dirty="0">
                <a:latin typeface="Times New Roman" panose="02020603050405020304" pitchFamily="18" charset="0"/>
                <a:cs typeface="Times New Roman" panose="02020603050405020304" pitchFamily="18" charset="0"/>
              </a:rPr>
              <a:t>HOW</a:t>
            </a:r>
            <a:r>
              <a:rPr lang="en-US" sz="1600" dirty="0">
                <a:latin typeface="Times New Roman" panose="02020603050405020304" pitchFamily="18" charset="0"/>
                <a:cs typeface="Times New Roman" panose="02020603050405020304" pitchFamily="18" charset="0"/>
              </a:rPr>
              <a:t> of data ingestion and cleaning.</a:t>
            </a:r>
          </a:p>
          <a:p>
            <a:pPr>
              <a:lnSpc>
                <a:spcPct val="150000"/>
              </a:lnSpc>
            </a:pPr>
            <a:endParaRPr lang="en-IN" sz="1600" dirty="0">
              <a:latin typeface="Times New Roman" panose="02020603050405020304" pitchFamily="18" charset="0"/>
              <a:cs typeface="Times New Roman" panose="02020603050405020304" pitchFamily="18" charset="0"/>
            </a:endParaRPr>
          </a:p>
          <a:p>
            <a:pPr>
              <a:lnSpc>
                <a:spcPct val="150000"/>
              </a:lnSpc>
            </a:pPr>
            <a:r>
              <a:rPr lang="en-US" sz="2000" b="1" dirty="0">
                <a:latin typeface="Times New Roman" panose="02020603050405020304" pitchFamily="18" charset="0"/>
                <a:cs typeface="Times New Roman" panose="02020603050405020304" pitchFamily="18" charset="0"/>
              </a:rPr>
              <a:t>2. SCOPE OF THE DOCUMENT</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2.1  In Scope:</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Overall system architecture and component relationships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Feature engineering design (rolling statistics, Z-score computation, dynamic thresholds)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Anomaly detection engine: algorithm selection, threshold design, alert classification</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Suspicious window analysis and risk scoring methodology</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Power BI dashboard architecture</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export and inter-component data contracts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Non-functional requirements: performance, security, scalability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6321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37602-DA6D-0888-B9BF-66AA8D6AC0C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40FC50-31AD-810C-7DA9-B259464362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8290399-3AEC-1E4D-7791-49C0682ED7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BADBE7C-849B-87F3-B678-D176E8D9B75D}"/>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BDD2127C-1365-6DCA-4063-901FB6FD63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7F2C7909-106E-B65D-E35A-90448A51FA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A3EBC562-41CC-2F07-F6A8-F9BC1263B270}"/>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81582A75-0390-AC40-C01E-E333C92D3820}"/>
              </a:ext>
            </a:extLst>
          </p:cNvPr>
          <p:cNvSpPr txBox="1"/>
          <p:nvPr/>
        </p:nvSpPr>
        <p:spPr>
          <a:xfrm>
            <a:off x="6311982" y="11594468"/>
            <a:ext cx="315884" cy="369332"/>
          </a:xfrm>
          <a:prstGeom prst="rect">
            <a:avLst/>
          </a:prstGeom>
          <a:noFill/>
        </p:spPr>
        <p:txBody>
          <a:bodyPr wrap="square" rtlCol="0">
            <a:spAutoFit/>
          </a:bodyPr>
          <a:lstStyle/>
          <a:p>
            <a:r>
              <a:rPr lang="en-US" dirty="0"/>
              <a:t>3</a:t>
            </a:r>
            <a:endParaRPr lang="en-IN" dirty="0"/>
          </a:p>
        </p:txBody>
      </p:sp>
      <p:sp>
        <p:nvSpPr>
          <p:cNvPr id="10" name="TextBox 9">
            <a:extLst>
              <a:ext uri="{FF2B5EF4-FFF2-40B4-BE49-F238E27FC236}">
                <a16:creationId xmlns:a16="http://schemas.microsoft.com/office/drawing/2014/main" id="{BA5FE39C-B15A-523E-9ABB-C725B29F88D0}"/>
              </a:ext>
            </a:extLst>
          </p:cNvPr>
          <p:cNvSpPr txBox="1"/>
          <p:nvPr/>
        </p:nvSpPr>
        <p:spPr>
          <a:xfrm>
            <a:off x="415638" y="1036531"/>
            <a:ext cx="6026724" cy="1940916"/>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2.2  Out of Scope (Covered in LLD):</a:t>
            </a:r>
            <a:endParaRPr lang="en-IN"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Raw log file loading and reading</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Line-by-line regex parsing logic</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Data type conversion mechanics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Exploratory Data Analysis (EDA) and basic statistical summaries</a:t>
            </a:r>
            <a:endParaRPr lang="en-IN" sz="16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C2F7088-DDEE-5C35-50DB-5B231E162D36}"/>
              </a:ext>
            </a:extLst>
          </p:cNvPr>
          <p:cNvSpPr txBox="1"/>
          <p:nvPr/>
        </p:nvSpPr>
        <p:spPr>
          <a:xfrm>
            <a:off x="415638" y="3143697"/>
            <a:ext cx="3221010"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 INTENDED AUDIENCE</a:t>
            </a:r>
            <a:endParaRPr lang="en-IN" sz="2000"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9286A0F6-FBC0-542D-4A4C-A9D3B0B33868}"/>
              </a:ext>
            </a:extLst>
          </p:cNvPr>
          <p:cNvGraphicFramePr>
            <a:graphicFrameLocks noGrp="1"/>
          </p:cNvGraphicFramePr>
          <p:nvPr>
            <p:extLst>
              <p:ext uri="{D42A27DB-BD31-4B8C-83A1-F6EECF244321}">
                <p14:modId xmlns:p14="http://schemas.microsoft.com/office/powerpoint/2010/main" val="3549697532"/>
              </p:ext>
            </p:extLst>
          </p:nvPr>
        </p:nvGraphicFramePr>
        <p:xfrm>
          <a:off x="415638" y="3624159"/>
          <a:ext cx="6026724" cy="2850264"/>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752404116"/>
                    </a:ext>
                  </a:extLst>
                </a:gridCol>
                <a:gridCol w="3013362">
                  <a:extLst>
                    <a:ext uri="{9D8B030D-6E8A-4147-A177-3AD203B41FA5}">
                      <a16:colId xmlns:a16="http://schemas.microsoft.com/office/drawing/2014/main" val="618335653"/>
                    </a:ext>
                  </a:extLst>
                </a:gridCol>
              </a:tblGrid>
              <a:tr h="189489">
                <a:tc>
                  <a:txBody>
                    <a:bodyPr/>
                    <a:lstStyle/>
                    <a:p>
                      <a:pPr algn="ctr">
                        <a:lnSpc>
                          <a:spcPct val="150000"/>
                        </a:lnSpc>
                        <a:spcAft>
                          <a:spcPts val="1000"/>
                        </a:spcAft>
                        <a:buNone/>
                      </a:pPr>
                      <a:r>
                        <a:rPr lang="en-US" sz="1200">
                          <a:effectLst/>
                        </a:rPr>
                        <a:t>Audience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Purpose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63875351"/>
                  </a:ext>
                </a:extLst>
              </a:tr>
              <a:tr h="390484">
                <a:tc>
                  <a:txBody>
                    <a:bodyPr/>
                    <a:lstStyle/>
                    <a:p>
                      <a:pPr>
                        <a:lnSpc>
                          <a:spcPct val="150000"/>
                        </a:lnSpc>
                        <a:spcAft>
                          <a:spcPts val="1000"/>
                        </a:spcAft>
                        <a:buNone/>
                      </a:pPr>
                      <a:r>
                        <a:rPr lang="en-US" sz="1200">
                          <a:effectLst/>
                        </a:rPr>
                        <a:t>Academic Evaluators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Assess architectural design quality and system thinking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02203637"/>
                  </a:ext>
                </a:extLst>
              </a:tr>
              <a:tr h="189489">
                <a:tc>
                  <a:txBody>
                    <a:bodyPr/>
                    <a:lstStyle/>
                    <a:p>
                      <a:pPr>
                        <a:lnSpc>
                          <a:spcPct val="150000"/>
                        </a:lnSpc>
                        <a:spcAft>
                          <a:spcPts val="1000"/>
                        </a:spcAft>
                        <a:buNone/>
                      </a:pPr>
                      <a:r>
                        <a:rPr lang="en-US" sz="1200">
                          <a:effectLst/>
                        </a:rPr>
                        <a:t>Project Supervisors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Review alignment with stated project objectives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58680316"/>
                  </a:ext>
                </a:extLst>
              </a:tr>
              <a:tr h="390484">
                <a:tc>
                  <a:txBody>
                    <a:bodyPr/>
                    <a:lstStyle/>
                    <a:p>
                      <a:pPr>
                        <a:lnSpc>
                          <a:spcPct val="150000"/>
                        </a:lnSpc>
                        <a:spcAft>
                          <a:spcPts val="1000"/>
                        </a:spcAft>
                        <a:buNone/>
                      </a:pPr>
                      <a:r>
                        <a:rPr lang="en-US" sz="1200">
                          <a:effectLst/>
                        </a:rPr>
                        <a:t>Security Analysts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Understand the threat detection methodology and alert logic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71084861"/>
                  </a:ext>
                </a:extLst>
              </a:tr>
              <a:tr h="390484">
                <a:tc>
                  <a:txBody>
                    <a:bodyPr/>
                    <a:lstStyle/>
                    <a:p>
                      <a:pPr>
                        <a:lnSpc>
                          <a:spcPct val="150000"/>
                        </a:lnSpc>
                        <a:spcAft>
                          <a:spcPts val="1000"/>
                        </a:spcAft>
                        <a:buNone/>
                      </a:pPr>
                      <a:r>
                        <a:rPr lang="en-US" sz="1200" dirty="0">
                          <a:effectLst/>
                        </a:rPr>
                        <a:t>Dashboard Consumers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Understand the Power BI interface and interpret outputs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52363958"/>
                  </a:ext>
                </a:extLst>
              </a:tr>
              <a:tr h="390484">
                <a:tc>
                  <a:txBody>
                    <a:bodyPr/>
                    <a:lstStyle/>
                    <a:p>
                      <a:pPr>
                        <a:lnSpc>
                          <a:spcPct val="150000"/>
                        </a:lnSpc>
                        <a:spcAft>
                          <a:spcPts val="1000"/>
                        </a:spcAft>
                        <a:buNone/>
                      </a:pPr>
                      <a:r>
                        <a:rPr lang="en-US" sz="1200" dirty="0">
                          <a:effectLst/>
                        </a:rPr>
                        <a:t>Future Developers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Extend the detection model or integrate with production systems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962504937"/>
                  </a:ext>
                </a:extLst>
              </a:tr>
            </a:tbl>
          </a:graphicData>
        </a:graphic>
      </p:graphicFrame>
      <p:sp>
        <p:nvSpPr>
          <p:cNvPr id="15" name="TextBox 14">
            <a:extLst>
              <a:ext uri="{FF2B5EF4-FFF2-40B4-BE49-F238E27FC236}">
                <a16:creationId xmlns:a16="http://schemas.microsoft.com/office/drawing/2014/main" id="{5054834A-54E9-AB90-8AD6-C0B1F91E4FEC}"/>
              </a:ext>
            </a:extLst>
          </p:cNvPr>
          <p:cNvSpPr txBox="1"/>
          <p:nvPr/>
        </p:nvSpPr>
        <p:spPr>
          <a:xfrm>
            <a:off x="415639" y="6524673"/>
            <a:ext cx="6026724" cy="4664739"/>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4. SYSTEM OVERVIEW</a:t>
            </a:r>
            <a:endParaRPr lang="en-IN" sz="2000"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4.1  Project Goal:</a:t>
            </a:r>
            <a:endParaRPr lang="en-I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To build a visual threat hunting system that automatically:</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Takes a clean, structured web traffic dataset (output of the LLD pipeline)</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Computes a statistical baseline of normal traffic behavior</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Flags time intervals that deviate significantly from the baseline as anomalies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Aggregates flagged intervals into 30-minute suspicious windows</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Assigns a quantitative Risk Score to each suspicious window</a:t>
            </a:r>
            <a:endParaRPr lang="en-IN" sz="1600" dirty="0">
              <a:latin typeface="Times New Roman" panose="02020603050405020304" pitchFamily="18" charset="0"/>
              <a:cs typeface="Times New Roman" panose="02020603050405020304" pitchFamily="18" charset="0"/>
            </a:endParaRPr>
          </a:p>
          <a:p>
            <a:pPr marL="285750" lvl="0" indent="-285750">
              <a:lnSpc>
                <a:spcPct val="150000"/>
              </a:lnSpc>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Presents all findings through an interactive Power BI dashboard</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5467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4F87-B044-8FEC-2EBA-769D2CFA5C5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36AFC49-B973-F008-C8C2-FFD6A60029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55998646-FA5F-512E-B921-B23721F1E2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F325493-4DFD-FF77-616B-563580CC93F5}"/>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DCBCF2D6-723B-8AA2-BC7B-29C61839AD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34DF9B3-A481-C78B-8FF1-D491945824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A264AA9B-0648-D3E4-4F88-E1EE123EC138}"/>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3" name="TextBox 2">
            <a:extLst>
              <a:ext uri="{FF2B5EF4-FFF2-40B4-BE49-F238E27FC236}">
                <a16:creationId xmlns:a16="http://schemas.microsoft.com/office/drawing/2014/main" id="{88F63932-4DB1-01F8-74C3-39C680366BF5}"/>
              </a:ext>
            </a:extLst>
          </p:cNvPr>
          <p:cNvSpPr txBox="1"/>
          <p:nvPr/>
        </p:nvSpPr>
        <p:spPr>
          <a:xfrm>
            <a:off x="6370024" y="11602692"/>
            <a:ext cx="266008" cy="369332"/>
          </a:xfrm>
          <a:prstGeom prst="rect">
            <a:avLst/>
          </a:prstGeom>
          <a:noFill/>
        </p:spPr>
        <p:txBody>
          <a:bodyPr wrap="square" rtlCol="0">
            <a:spAutoFit/>
          </a:bodyPr>
          <a:lstStyle/>
          <a:p>
            <a:r>
              <a:rPr lang="en-US" dirty="0"/>
              <a:t>4</a:t>
            </a:r>
            <a:endParaRPr lang="en-IN" dirty="0"/>
          </a:p>
        </p:txBody>
      </p:sp>
      <p:sp>
        <p:nvSpPr>
          <p:cNvPr id="4" name="TextBox 3">
            <a:extLst>
              <a:ext uri="{FF2B5EF4-FFF2-40B4-BE49-F238E27FC236}">
                <a16:creationId xmlns:a16="http://schemas.microsoft.com/office/drawing/2014/main" id="{5C45A4D0-1873-2518-2176-5AA5FD183356}"/>
              </a:ext>
            </a:extLst>
          </p:cNvPr>
          <p:cNvSpPr txBox="1"/>
          <p:nvPr/>
        </p:nvSpPr>
        <p:spPr>
          <a:xfrm>
            <a:off x="415638" y="1090252"/>
            <a:ext cx="3178178"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4.2  System Context Diagram:</a:t>
            </a:r>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9541C80-A507-D9F7-C2A0-5C689F690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638" y="1545052"/>
            <a:ext cx="6026724" cy="2585715"/>
          </a:xfrm>
          <a:prstGeom prst="rect">
            <a:avLst/>
          </a:prstGeom>
        </p:spPr>
      </p:pic>
      <p:sp>
        <p:nvSpPr>
          <p:cNvPr id="15" name="TextBox 14">
            <a:extLst>
              <a:ext uri="{FF2B5EF4-FFF2-40B4-BE49-F238E27FC236}">
                <a16:creationId xmlns:a16="http://schemas.microsoft.com/office/drawing/2014/main" id="{881F9234-EA94-2039-4001-6E39B501188E}"/>
              </a:ext>
            </a:extLst>
          </p:cNvPr>
          <p:cNvSpPr txBox="1"/>
          <p:nvPr/>
        </p:nvSpPr>
        <p:spPr>
          <a:xfrm>
            <a:off x="415637" y="3605486"/>
            <a:ext cx="265329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4.3  Key Output Metrics:</a:t>
            </a:r>
            <a:endParaRPr lang="en-IN" dirty="0">
              <a:latin typeface="Times New Roman" panose="02020603050405020304" pitchFamily="18"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A1FCE642-7872-D8D0-3930-79CB4502DDDF}"/>
              </a:ext>
            </a:extLst>
          </p:cNvPr>
          <p:cNvGraphicFramePr>
            <a:graphicFrameLocks noGrp="1"/>
          </p:cNvGraphicFramePr>
          <p:nvPr>
            <p:extLst>
              <p:ext uri="{D42A27DB-BD31-4B8C-83A1-F6EECF244321}">
                <p14:modId xmlns:p14="http://schemas.microsoft.com/office/powerpoint/2010/main" val="988778529"/>
              </p:ext>
            </p:extLst>
          </p:nvPr>
        </p:nvGraphicFramePr>
        <p:xfrm>
          <a:off x="415636" y="4101242"/>
          <a:ext cx="6026724" cy="1752984"/>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454104754"/>
                    </a:ext>
                  </a:extLst>
                </a:gridCol>
                <a:gridCol w="3013362">
                  <a:extLst>
                    <a:ext uri="{9D8B030D-6E8A-4147-A177-3AD203B41FA5}">
                      <a16:colId xmlns:a16="http://schemas.microsoft.com/office/drawing/2014/main" val="1695285244"/>
                    </a:ext>
                  </a:extLst>
                </a:gridCol>
              </a:tblGrid>
              <a:tr h="235272">
                <a:tc>
                  <a:txBody>
                    <a:bodyPr/>
                    <a:lstStyle/>
                    <a:p>
                      <a:pPr algn="ctr">
                        <a:lnSpc>
                          <a:spcPct val="150000"/>
                        </a:lnSpc>
                        <a:spcAft>
                          <a:spcPts val="1000"/>
                        </a:spcAft>
                        <a:buNone/>
                      </a:pPr>
                      <a:r>
                        <a:rPr lang="en-US" sz="1200">
                          <a:effectLst/>
                        </a:rPr>
                        <a:t>Metric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897866175"/>
                  </a:ext>
                </a:extLst>
              </a:tr>
              <a:tr h="235272">
                <a:tc>
                  <a:txBody>
                    <a:bodyPr/>
                    <a:lstStyle/>
                    <a:p>
                      <a:pPr>
                        <a:lnSpc>
                          <a:spcPct val="150000"/>
                        </a:lnSpc>
                        <a:spcAft>
                          <a:spcPts val="1000"/>
                        </a:spcAft>
                        <a:buNone/>
                      </a:pPr>
                      <a:r>
                        <a:rPr lang="en-US" sz="1200">
                          <a:effectLst/>
                        </a:rPr>
                        <a:t>Time intervals analyzed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6,686 (1-minute granularity, ~4.6 days)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5195423"/>
                  </a:ext>
                </a:extLst>
              </a:tr>
              <a:tr h="235272">
                <a:tc>
                  <a:txBody>
                    <a:bodyPr/>
                    <a:lstStyle/>
                    <a:p>
                      <a:pPr>
                        <a:lnSpc>
                          <a:spcPct val="150000"/>
                        </a:lnSpc>
                        <a:spcAft>
                          <a:spcPts val="1000"/>
                        </a:spcAft>
                        <a:buNone/>
                      </a:pPr>
                      <a:r>
                        <a:rPr lang="en-US" sz="1200">
                          <a:effectLst/>
                        </a:rPr>
                        <a:t>Anomaly alerts generated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870 (13.01% alert rate)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72186448"/>
                  </a:ext>
                </a:extLst>
              </a:tr>
              <a:tr h="235272">
                <a:tc>
                  <a:txBody>
                    <a:bodyPr/>
                    <a:lstStyle/>
                    <a:p>
                      <a:pPr>
                        <a:lnSpc>
                          <a:spcPct val="150000"/>
                        </a:lnSpc>
                        <a:spcAft>
                          <a:spcPts val="1000"/>
                        </a:spcAft>
                        <a:buNone/>
                      </a:pPr>
                      <a:r>
                        <a:rPr lang="en-US" sz="1200">
                          <a:effectLst/>
                        </a:rPr>
                        <a:t>Most critical 30-min 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Jan 22, 14:00 — 9 alerts, Z = 2.09</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20054667"/>
                  </a:ext>
                </a:extLst>
              </a:tr>
              <a:tr h="235272">
                <a:tc>
                  <a:txBody>
                    <a:bodyPr/>
                    <a:lstStyle/>
                    <a:p>
                      <a:pPr>
                        <a:lnSpc>
                          <a:spcPct val="150000"/>
                        </a:lnSpc>
                        <a:spcAft>
                          <a:spcPts val="1000"/>
                        </a:spcAft>
                        <a:buNone/>
                      </a:pPr>
                      <a:r>
                        <a:rPr lang="en-US" sz="1200">
                          <a:effectLst/>
                        </a:rPr>
                        <a:t>Highest Risk Score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678.99 (Critical severity)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92529853"/>
                  </a:ext>
                </a:extLst>
              </a:tr>
              <a:tr h="484830">
                <a:tc>
                  <a:txBody>
                    <a:bodyPr/>
                    <a:lstStyle/>
                    <a:p>
                      <a:pPr>
                        <a:lnSpc>
                          <a:spcPct val="150000"/>
                        </a:lnSpc>
                        <a:spcAft>
                          <a:spcPts val="1000"/>
                        </a:spcAft>
                        <a:buNone/>
                      </a:pPr>
                      <a:r>
                        <a:rPr lang="en-US" sz="1200">
                          <a:effectLst/>
                        </a:rPr>
                        <a:t>Dashboard pages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3 (Threat Overview, Alert Analytics, Suspicious Windows)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06821634"/>
                  </a:ext>
                </a:extLst>
              </a:tr>
            </a:tbl>
          </a:graphicData>
        </a:graphic>
      </p:graphicFrame>
      <p:sp>
        <p:nvSpPr>
          <p:cNvPr id="17" name="TextBox 16">
            <a:extLst>
              <a:ext uri="{FF2B5EF4-FFF2-40B4-BE49-F238E27FC236}">
                <a16:creationId xmlns:a16="http://schemas.microsoft.com/office/drawing/2014/main" id="{3E5B5983-092C-9C07-0741-CA0BFD9B2544}"/>
              </a:ext>
            </a:extLst>
          </p:cNvPr>
          <p:cNvSpPr txBox="1"/>
          <p:nvPr/>
        </p:nvSpPr>
        <p:spPr>
          <a:xfrm>
            <a:off x="415636" y="6094895"/>
            <a:ext cx="2545890"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5. SYSTEM DESIGN</a:t>
            </a:r>
            <a:endParaRPr lang="en-I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95C0341-EEF4-90E1-96E8-3D0419342752}"/>
              </a:ext>
            </a:extLst>
          </p:cNvPr>
          <p:cNvSpPr txBox="1"/>
          <p:nvPr/>
        </p:nvSpPr>
        <p:spPr>
          <a:xfrm>
            <a:off x="415636" y="6415481"/>
            <a:ext cx="6026724" cy="1571584"/>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5.1  Application Design: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HLD pipeline consists of six major components operating sequentially on the clean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produced by the LLD:</a:t>
            </a:r>
            <a:endParaRPr lang="en-IN" sz="1600" dirty="0">
              <a:latin typeface="Times New Roman" panose="02020603050405020304" pitchFamily="18" charset="0"/>
              <a:cs typeface="Times New Roman" panose="02020603050405020304" pitchFamily="18" charset="0"/>
            </a:endParaRP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885A400-90FC-B3F3-0860-DB5FB8182B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636" y="7651089"/>
            <a:ext cx="6168189" cy="4729800"/>
          </a:xfrm>
          <a:prstGeom prst="rect">
            <a:avLst/>
          </a:prstGeom>
        </p:spPr>
      </p:pic>
    </p:spTree>
    <p:extLst>
      <p:ext uri="{BB962C8B-B14F-4D97-AF65-F5344CB8AC3E}">
        <p14:creationId xmlns:p14="http://schemas.microsoft.com/office/powerpoint/2010/main" val="1122881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B1320-D0E7-3C31-10DE-49F3A29EC28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E92D38-6AAF-275B-623B-45761E03D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0DE08839-B0A1-68D6-8702-F2C64EA771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A19A4A03-C0A9-4961-59C3-CBF5F23EF98E}"/>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45600113-5E3B-B9D4-FB7E-16802F01A4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FDCC58E0-57B9-D551-9063-8A34DD10F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058B0757-3182-0371-8682-AC02A864B933}"/>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10" name="TextBox 9">
            <a:extLst>
              <a:ext uri="{FF2B5EF4-FFF2-40B4-BE49-F238E27FC236}">
                <a16:creationId xmlns:a16="http://schemas.microsoft.com/office/drawing/2014/main" id="{434CD738-B1A3-B0EC-5925-F49C7E3790DE}"/>
              </a:ext>
            </a:extLst>
          </p:cNvPr>
          <p:cNvSpPr txBox="1"/>
          <p:nvPr/>
        </p:nvSpPr>
        <p:spPr>
          <a:xfrm>
            <a:off x="6317673" y="11621185"/>
            <a:ext cx="349135" cy="369332"/>
          </a:xfrm>
          <a:prstGeom prst="rect">
            <a:avLst/>
          </a:prstGeom>
          <a:noFill/>
        </p:spPr>
        <p:txBody>
          <a:bodyPr wrap="square" rtlCol="0">
            <a:spAutoFit/>
          </a:bodyPr>
          <a:lstStyle/>
          <a:p>
            <a:r>
              <a:rPr lang="en-US" dirty="0"/>
              <a:t>5</a:t>
            </a:r>
            <a:endParaRPr lang="en-IN" dirty="0"/>
          </a:p>
        </p:txBody>
      </p:sp>
      <p:sp>
        <p:nvSpPr>
          <p:cNvPr id="2" name="TextBox 1">
            <a:extLst>
              <a:ext uri="{FF2B5EF4-FFF2-40B4-BE49-F238E27FC236}">
                <a16:creationId xmlns:a16="http://schemas.microsoft.com/office/drawing/2014/main" id="{55CAF9F4-22F5-F5DF-151F-AFDE3CC54782}"/>
              </a:ext>
            </a:extLst>
          </p:cNvPr>
          <p:cNvSpPr txBox="1"/>
          <p:nvPr/>
        </p:nvSpPr>
        <p:spPr>
          <a:xfrm>
            <a:off x="415639" y="1026605"/>
            <a:ext cx="6026724" cy="120225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5.2  Process Flow:</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following flowchart shows the complete high-level process from clean data input to final dashboard output.</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C70B46C-DBEF-E17F-329F-6EA5A9B1F1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637" y="2311982"/>
            <a:ext cx="5902036" cy="3656554"/>
          </a:xfrm>
          <a:prstGeom prst="rect">
            <a:avLst/>
          </a:prstGeom>
        </p:spPr>
      </p:pic>
      <p:sp>
        <p:nvSpPr>
          <p:cNvPr id="6" name="TextBox 5">
            <a:extLst>
              <a:ext uri="{FF2B5EF4-FFF2-40B4-BE49-F238E27FC236}">
                <a16:creationId xmlns:a16="http://schemas.microsoft.com/office/drawing/2014/main" id="{DDE98EB7-6BEF-B416-8432-F64CE022BBEB}"/>
              </a:ext>
            </a:extLst>
          </p:cNvPr>
          <p:cNvSpPr txBox="1"/>
          <p:nvPr/>
        </p:nvSpPr>
        <p:spPr>
          <a:xfrm>
            <a:off x="415637" y="5744890"/>
            <a:ext cx="6026724" cy="120225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5.3  Information Flow:</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diagram below shows the data lineage from clean input to dashboard output.</a:t>
            </a:r>
            <a:endParaRPr lang="en-IN"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92602A9C-015E-189A-682C-4D832A8A19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638" y="7268795"/>
            <a:ext cx="6026724" cy="3111255"/>
          </a:xfrm>
          <a:prstGeom prst="rect">
            <a:avLst/>
          </a:prstGeom>
        </p:spPr>
      </p:pic>
    </p:spTree>
    <p:extLst>
      <p:ext uri="{BB962C8B-B14F-4D97-AF65-F5344CB8AC3E}">
        <p14:creationId xmlns:p14="http://schemas.microsoft.com/office/powerpoint/2010/main" val="2637150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4D455-D0AF-A192-65D5-55BB096E35E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A7B010B-A646-0247-7EF2-9F69C2BFF9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165DB06-715B-4817-26F5-289927C328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02E9A037-22EA-F241-1F07-12B16FE1D549}"/>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8C143E4D-8B5F-8D0A-302C-BBF913D2EC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3AA8073-F0E5-CC08-5635-B1C717F59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B3965556-264C-0724-0008-8B2CD2E9CFE9}"/>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4" name="TextBox 3">
            <a:extLst>
              <a:ext uri="{FF2B5EF4-FFF2-40B4-BE49-F238E27FC236}">
                <a16:creationId xmlns:a16="http://schemas.microsoft.com/office/drawing/2014/main" id="{B75C508D-DFC8-8CC7-6A98-420F8349D221}"/>
              </a:ext>
            </a:extLst>
          </p:cNvPr>
          <p:cNvSpPr txBox="1"/>
          <p:nvPr/>
        </p:nvSpPr>
        <p:spPr>
          <a:xfrm>
            <a:off x="6367692" y="11603883"/>
            <a:ext cx="266008" cy="369332"/>
          </a:xfrm>
          <a:prstGeom prst="rect">
            <a:avLst/>
          </a:prstGeom>
          <a:noFill/>
        </p:spPr>
        <p:txBody>
          <a:bodyPr wrap="square" rtlCol="0">
            <a:spAutoFit/>
          </a:bodyPr>
          <a:lstStyle/>
          <a:p>
            <a:r>
              <a:rPr lang="en-US" dirty="0"/>
              <a:t>6</a:t>
            </a:r>
            <a:endParaRPr lang="en-IN" dirty="0"/>
          </a:p>
        </p:txBody>
      </p:sp>
      <p:sp>
        <p:nvSpPr>
          <p:cNvPr id="2" name="TextBox 1">
            <a:extLst>
              <a:ext uri="{FF2B5EF4-FFF2-40B4-BE49-F238E27FC236}">
                <a16:creationId xmlns:a16="http://schemas.microsoft.com/office/drawing/2014/main" id="{532BBB25-F2E0-4047-4E7A-F77DC12C7C60}"/>
              </a:ext>
            </a:extLst>
          </p:cNvPr>
          <p:cNvSpPr txBox="1"/>
          <p:nvPr/>
        </p:nvSpPr>
        <p:spPr>
          <a:xfrm>
            <a:off x="438231" y="1040377"/>
            <a:ext cx="3987374" cy="784830"/>
          </a:xfrm>
          <a:prstGeom prst="rect">
            <a:avLst/>
          </a:prstGeom>
          <a:noFill/>
        </p:spPr>
        <p:txBody>
          <a:bodyPr wrap="none" rtlCol="0">
            <a:spAutoFit/>
          </a:bodyPr>
          <a:lstStyle/>
          <a:p>
            <a:pPr>
              <a:lnSpc>
                <a:spcPct val="150000"/>
              </a:lnSpc>
            </a:pPr>
            <a:r>
              <a:rPr lang="en-US" b="1" dirty="0">
                <a:latin typeface="Times New Roman" panose="02020603050405020304" pitchFamily="18" charset="0"/>
                <a:cs typeface="Times New Roman" panose="02020603050405020304" pitchFamily="18" charset="0"/>
              </a:rPr>
              <a:t>5.4  Components Design:</a:t>
            </a:r>
            <a:endParaRPr lang="en-IN"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Component 1: Time-Series Aggregator</a:t>
            </a:r>
            <a:endParaRPr lang="en-IN"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954C3C7-A3D0-674D-4359-C5C67D5ADBD2}"/>
              </a:ext>
            </a:extLst>
          </p:cNvPr>
          <p:cNvGraphicFramePr>
            <a:graphicFrameLocks noGrp="1"/>
          </p:cNvGraphicFramePr>
          <p:nvPr>
            <p:extLst>
              <p:ext uri="{D42A27DB-BD31-4B8C-83A1-F6EECF244321}">
                <p14:modId xmlns:p14="http://schemas.microsoft.com/office/powerpoint/2010/main" val="1991929243"/>
              </p:ext>
            </p:extLst>
          </p:nvPr>
        </p:nvGraphicFramePr>
        <p:xfrm>
          <a:off x="415638" y="1827680"/>
          <a:ext cx="6026724" cy="2575944"/>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1991734544"/>
                    </a:ext>
                  </a:extLst>
                </a:gridCol>
                <a:gridCol w="3013362">
                  <a:extLst>
                    <a:ext uri="{9D8B030D-6E8A-4147-A177-3AD203B41FA5}">
                      <a16:colId xmlns:a16="http://schemas.microsoft.com/office/drawing/2014/main" val="4027896172"/>
                    </a:ext>
                  </a:extLst>
                </a:gridCol>
              </a:tblGrid>
              <a:tr h="219178">
                <a:tc>
                  <a:txBody>
                    <a:bodyPr/>
                    <a:lstStyle/>
                    <a:p>
                      <a:pPr algn="ctr">
                        <a:lnSpc>
                          <a:spcPct val="150000"/>
                        </a:lnSpc>
                        <a:spcAft>
                          <a:spcPts val="1000"/>
                        </a:spcAft>
                        <a:buNone/>
                      </a:pPr>
                      <a:r>
                        <a:rPr lang="en-US" sz="1200">
                          <a:effectLst/>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Detail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61694526"/>
                  </a:ext>
                </a:extLst>
              </a:tr>
              <a:tr h="219178">
                <a:tc>
                  <a:txBody>
                    <a:bodyPr/>
                    <a:lstStyle/>
                    <a:p>
                      <a:pPr>
                        <a:lnSpc>
                          <a:spcPct val="150000"/>
                        </a:lnSpc>
                        <a:spcAft>
                          <a:spcPts val="1000"/>
                        </a:spcAft>
                        <a:buNone/>
                      </a:pPr>
                      <a:r>
                        <a:rPr lang="en-US" sz="1200">
                          <a:effectLst/>
                        </a:rPr>
                        <a:t>Input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Clean DataFrame: timestamp, bytes columns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91553291"/>
                  </a:ext>
                </a:extLst>
              </a:tr>
              <a:tr h="219178">
                <a:tc>
                  <a:txBody>
                    <a:bodyPr/>
                    <a:lstStyle/>
                    <a:p>
                      <a:pPr>
                        <a:lnSpc>
                          <a:spcPct val="150000"/>
                        </a:lnSpc>
                        <a:spcAft>
                          <a:spcPts val="1000"/>
                        </a:spcAft>
                        <a:buNone/>
                      </a:pPr>
                      <a:r>
                        <a:rPr lang="en-US" sz="1200">
                          <a:effectLst/>
                        </a:rPr>
                        <a:t>Operation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GroupBy 1-minute window, SUM bytes_sent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5372166"/>
                  </a:ext>
                </a:extLst>
              </a:tr>
              <a:tr h="451666">
                <a:tc>
                  <a:txBody>
                    <a:bodyPr/>
                    <a:lstStyle/>
                    <a:p>
                      <a:pPr>
                        <a:lnSpc>
                          <a:spcPct val="150000"/>
                        </a:lnSpc>
                        <a:spcAft>
                          <a:spcPts val="1000"/>
                        </a:spcAft>
                        <a:buNone/>
                      </a:pPr>
                      <a:r>
                        <a:rPr lang="en-US" sz="1200" dirty="0">
                          <a:effectLst/>
                        </a:rPr>
                        <a:t>Key Code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df.groupby(pd.Grouper(key="Time", freq="1min"))["bytes"].sum()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38199691"/>
                  </a:ext>
                </a:extLst>
              </a:tr>
              <a:tr h="219178">
                <a:tc>
                  <a:txBody>
                    <a:bodyPr/>
                    <a:lstStyle/>
                    <a:p>
                      <a:pPr>
                        <a:lnSpc>
                          <a:spcPct val="150000"/>
                        </a:lnSpc>
                        <a:spcAft>
                          <a:spcPts val="1000"/>
                        </a:spcAft>
                        <a:buNone/>
                      </a:pPr>
                      <a:r>
                        <a:rPr lang="en-US" sz="1200">
                          <a:effectLst/>
                        </a:rPr>
                        <a:t>Output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traffic </a:t>
                      </a:r>
                      <a:r>
                        <a:rPr lang="en-US" sz="1200" dirty="0" err="1">
                          <a:effectLst/>
                        </a:rPr>
                        <a:t>DataFrame</a:t>
                      </a:r>
                      <a:r>
                        <a:rPr lang="en-US" sz="1200" dirty="0">
                          <a:effectLst/>
                        </a:rPr>
                        <a:t>: 6,686 rows x [Time, </a:t>
                      </a:r>
                      <a:r>
                        <a:rPr lang="en-US" sz="1200" dirty="0" err="1">
                          <a:effectLst/>
                        </a:rPr>
                        <a:t>Bytes_Sent</a:t>
                      </a:r>
                      <a:r>
                        <a:rPr lang="en-US" sz="1200" dirty="0">
                          <a:effectLst/>
                        </a:rPr>
                        <a: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67153263"/>
                  </a:ext>
                </a:extLst>
              </a:tr>
              <a:tr h="451666">
                <a:tc>
                  <a:txBody>
                    <a:bodyPr/>
                    <a:lstStyle/>
                    <a:p>
                      <a:pPr>
                        <a:lnSpc>
                          <a:spcPct val="150000"/>
                        </a:lnSpc>
                        <a:spcAft>
                          <a:spcPts val="1000"/>
                        </a:spcAft>
                        <a:buNone/>
                      </a:pPr>
                      <a:r>
                        <a:rPr lang="en-US" sz="1200">
                          <a:effectLst/>
                        </a:rPr>
                        <a:t>Rationale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1-minute resolution balances detection granularity with noise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4432693"/>
                  </a:ext>
                </a:extLst>
              </a:tr>
            </a:tbl>
          </a:graphicData>
        </a:graphic>
      </p:graphicFrame>
      <p:sp>
        <p:nvSpPr>
          <p:cNvPr id="6" name="TextBox 5">
            <a:extLst>
              <a:ext uri="{FF2B5EF4-FFF2-40B4-BE49-F238E27FC236}">
                <a16:creationId xmlns:a16="http://schemas.microsoft.com/office/drawing/2014/main" id="{CA6472B6-60C5-0B73-EA4A-5219CF280D82}"/>
              </a:ext>
            </a:extLst>
          </p:cNvPr>
          <p:cNvSpPr txBox="1"/>
          <p:nvPr/>
        </p:nvSpPr>
        <p:spPr>
          <a:xfrm>
            <a:off x="415637" y="4587054"/>
            <a:ext cx="6026724" cy="2314544"/>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Why 1-minute aggregation?</a:t>
            </a:r>
            <a:r>
              <a:rPr lang="en-US" sz="1600" dirty="0">
                <a:latin typeface="Times New Roman" panose="02020603050405020304" pitchFamily="18" charset="0"/>
                <a:cs typeface="Times New Roman" panose="02020603050405020304" pitchFamily="18" charset="0"/>
              </a:rPr>
              <a:t> The raw data has ~2,500 individual requests per minute. Individual request-level bytes are too granular for pattern detection. 1-minute aggregation reveals traffic volume waves needed for Z-score baseline modeling, while remaining sensitive enough to detect short DDoS bursts.</a:t>
            </a:r>
          </a:p>
          <a:p>
            <a:pPr>
              <a:lnSpc>
                <a:spcPct val="150000"/>
              </a:lnSpc>
            </a:pPr>
            <a:r>
              <a:rPr lang="en-US" b="1" dirty="0">
                <a:latin typeface="Times New Roman" panose="02020603050405020304" pitchFamily="18" charset="0"/>
                <a:cs typeface="Times New Roman" panose="02020603050405020304" pitchFamily="18" charset="0"/>
              </a:rPr>
              <a:t>Component 2: Feature Engineering Engine</a:t>
            </a:r>
            <a:endParaRPr lang="en-IN" b="1"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6897C52-5E72-E2BC-FDB0-2BB4F3C77675}"/>
              </a:ext>
            </a:extLst>
          </p:cNvPr>
          <p:cNvGraphicFramePr>
            <a:graphicFrameLocks noGrp="1"/>
          </p:cNvGraphicFramePr>
          <p:nvPr>
            <p:extLst>
              <p:ext uri="{D42A27DB-BD31-4B8C-83A1-F6EECF244321}">
                <p14:modId xmlns:p14="http://schemas.microsoft.com/office/powerpoint/2010/main" val="13115922"/>
              </p:ext>
            </p:extLst>
          </p:nvPr>
        </p:nvGraphicFramePr>
        <p:xfrm>
          <a:off x="415636" y="7051778"/>
          <a:ext cx="6026724" cy="3124584"/>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1907918261"/>
                    </a:ext>
                  </a:extLst>
                </a:gridCol>
                <a:gridCol w="1506681">
                  <a:extLst>
                    <a:ext uri="{9D8B030D-6E8A-4147-A177-3AD203B41FA5}">
                      <a16:colId xmlns:a16="http://schemas.microsoft.com/office/drawing/2014/main" val="1290981313"/>
                    </a:ext>
                  </a:extLst>
                </a:gridCol>
                <a:gridCol w="1506681">
                  <a:extLst>
                    <a:ext uri="{9D8B030D-6E8A-4147-A177-3AD203B41FA5}">
                      <a16:colId xmlns:a16="http://schemas.microsoft.com/office/drawing/2014/main" val="3318307139"/>
                    </a:ext>
                  </a:extLst>
                </a:gridCol>
                <a:gridCol w="1506681">
                  <a:extLst>
                    <a:ext uri="{9D8B030D-6E8A-4147-A177-3AD203B41FA5}">
                      <a16:colId xmlns:a16="http://schemas.microsoft.com/office/drawing/2014/main" val="1090118467"/>
                    </a:ext>
                  </a:extLst>
                </a:gridCol>
              </a:tblGrid>
              <a:tr h="191681">
                <a:tc>
                  <a:txBody>
                    <a:bodyPr/>
                    <a:lstStyle/>
                    <a:p>
                      <a:pPr algn="ctr">
                        <a:lnSpc>
                          <a:spcPct val="150000"/>
                        </a:lnSpc>
                        <a:spcAft>
                          <a:spcPts val="1000"/>
                        </a:spcAft>
                        <a:buNone/>
                      </a:pPr>
                      <a:r>
                        <a:rPr lang="en-US" sz="1200">
                          <a:effectLst/>
                        </a:rPr>
                        <a:t>Feature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Formula</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Purpose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61497734"/>
                  </a:ext>
                </a:extLst>
              </a:tr>
              <a:tr h="395001">
                <a:tc>
                  <a:txBody>
                    <a:bodyPr/>
                    <a:lstStyle/>
                    <a:p>
                      <a:pPr>
                        <a:lnSpc>
                          <a:spcPct val="150000"/>
                        </a:lnSpc>
                        <a:spcAft>
                          <a:spcPts val="1000"/>
                        </a:spcAft>
                        <a:buNone/>
                      </a:pPr>
                      <a:r>
                        <a:rPr lang="en-US" sz="1200">
                          <a:effectLst/>
                        </a:rPr>
                        <a:t>rolling_mean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Bytes_Sent.rolling(10).mean()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10 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Adaptive traffic baseline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00611436"/>
                  </a:ext>
                </a:extLst>
              </a:tr>
              <a:tr h="395001">
                <a:tc>
                  <a:txBody>
                    <a:bodyPr/>
                    <a:lstStyle/>
                    <a:p>
                      <a:pPr>
                        <a:lnSpc>
                          <a:spcPct val="150000"/>
                        </a:lnSpc>
                        <a:spcAft>
                          <a:spcPts val="1000"/>
                        </a:spcAft>
                        <a:buNone/>
                      </a:pPr>
                      <a:r>
                        <a:rPr lang="en-US" sz="1200">
                          <a:effectLst/>
                        </a:rPr>
                        <a:t>rolling_std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Bytes_Sent.rolling(10).std()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10 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Measures normal variability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55985070"/>
                  </a:ext>
                </a:extLst>
              </a:tr>
              <a:tr h="598321">
                <a:tc>
                  <a:txBody>
                    <a:bodyPr/>
                    <a:lstStyle/>
                    <a:p>
                      <a:pPr>
                        <a:lnSpc>
                          <a:spcPct val="150000"/>
                        </a:lnSpc>
                        <a:spcAft>
                          <a:spcPts val="1000"/>
                        </a:spcAft>
                        <a:buNone/>
                      </a:pPr>
                      <a:r>
                        <a:rPr lang="en-US" sz="1200">
                          <a:effectLst/>
                        </a:rPr>
                        <a:t>z_score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a:t>
                      </a:r>
                      <a:r>
                        <a:rPr lang="en-US" sz="1200" dirty="0" err="1">
                          <a:effectLst/>
                        </a:rPr>
                        <a:t>Bytes_Sent</a:t>
                      </a:r>
                      <a:r>
                        <a:rPr lang="en-US" sz="1200" dirty="0">
                          <a:effectLst/>
                        </a:rPr>
                        <a:t> - </a:t>
                      </a:r>
                      <a:r>
                        <a:rPr lang="en-US" sz="1200" dirty="0" err="1">
                          <a:effectLst/>
                        </a:rPr>
                        <a:t>rolling_mean</a:t>
                      </a:r>
                      <a:r>
                        <a:rPr lang="en-US" sz="1200" dirty="0">
                          <a:effectLst/>
                        </a:rPr>
                        <a:t>) / </a:t>
                      </a:r>
                      <a:r>
                        <a:rPr lang="en-US" sz="1200" dirty="0" err="1">
                          <a:effectLst/>
                        </a:rPr>
                        <a:t>rolling_std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Standardized deviation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30119373"/>
                  </a:ext>
                </a:extLst>
              </a:tr>
              <a:tr h="395001">
                <a:tc>
                  <a:txBody>
                    <a:bodyPr/>
                    <a:lstStyle/>
                    <a:p>
                      <a:pPr>
                        <a:lnSpc>
                          <a:spcPct val="150000"/>
                        </a:lnSpc>
                        <a:spcAft>
                          <a:spcPts val="1000"/>
                        </a:spcAft>
                        <a:buNone/>
                      </a:pPr>
                      <a:r>
                        <a:rPr lang="en-US" sz="1200">
                          <a:effectLst/>
                        </a:rPr>
                        <a:t>dynamic_threshold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rolling_mean + (3 x rolling_std)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10 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Upper safe boundary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230756635"/>
                  </a:ext>
                </a:extLst>
              </a:tr>
              <a:tr h="395001">
                <a:tc>
                  <a:txBody>
                    <a:bodyPr/>
                    <a:lstStyle/>
                    <a:p>
                      <a:pPr>
                        <a:lnSpc>
                          <a:spcPct val="150000"/>
                        </a:lnSpc>
                        <a:spcAft>
                          <a:spcPts val="1000"/>
                        </a:spcAft>
                        <a:buNone/>
                      </a:pPr>
                      <a:r>
                        <a:rPr lang="en-US" sz="1200">
                          <a:effectLst/>
                        </a:rPr>
                        <a:t>pct_change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Bytes_Sent.pct_change()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 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Captures burst transitions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7144805"/>
                  </a:ext>
                </a:extLst>
              </a:tr>
            </a:tbl>
          </a:graphicData>
        </a:graphic>
      </p:graphicFrame>
    </p:spTree>
    <p:extLst>
      <p:ext uri="{BB962C8B-B14F-4D97-AF65-F5344CB8AC3E}">
        <p14:creationId xmlns:p14="http://schemas.microsoft.com/office/powerpoint/2010/main" val="2822041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D5CE-6F53-C529-1586-567D0C0686C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B58307-83C6-B0C7-3DF1-62BD79C405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B3E306AF-5216-9EAD-F438-BF365AFBF2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7AF9A742-2FFE-6435-E291-572461F9FB44}"/>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D639BD52-781C-7505-7812-BF15BD92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F545F526-7C75-6E3B-09BA-DBEC39CA5D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BB44F11-28AE-5EE8-2293-C31F0756EDB6}"/>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4" name="TextBox 3">
            <a:extLst>
              <a:ext uri="{FF2B5EF4-FFF2-40B4-BE49-F238E27FC236}">
                <a16:creationId xmlns:a16="http://schemas.microsoft.com/office/drawing/2014/main" id="{721EBB9F-164E-A468-AE87-A2FD7D2873FD}"/>
              </a:ext>
            </a:extLst>
          </p:cNvPr>
          <p:cNvSpPr txBox="1"/>
          <p:nvPr/>
        </p:nvSpPr>
        <p:spPr>
          <a:xfrm>
            <a:off x="6367692" y="11603883"/>
            <a:ext cx="266008" cy="369332"/>
          </a:xfrm>
          <a:prstGeom prst="rect">
            <a:avLst/>
          </a:prstGeom>
          <a:noFill/>
        </p:spPr>
        <p:txBody>
          <a:bodyPr wrap="square" rtlCol="0">
            <a:spAutoFit/>
          </a:bodyPr>
          <a:lstStyle/>
          <a:p>
            <a:r>
              <a:rPr lang="en-US" dirty="0"/>
              <a:t>6</a:t>
            </a:r>
            <a:endParaRPr lang="en-IN" dirty="0"/>
          </a:p>
        </p:txBody>
      </p:sp>
      <p:sp>
        <p:nvSpPr>
          <p:cNvPr id="2" name="TextBox 1">
            <a:extLst>
              <a:ext uri="{FF2B5EF4-FFF2-40B4-BE49-F238E27FC236}">
                <a16:creationId xmlns:a16="http://schemas.microsoft.com/office/drawing/2014/main" id="{FF9F456B-CC60-6C5E-9015-C674354435EE}"/>
              </a:ext>
            </a:extLst>
          </p:cNvPr>
          <p:cNvSpPr txBox="1"/>
          <p:nvPr/>
        </p:nvSpPr>
        <p:spPr>
          <a:xfrm>
            <a:off x="415638" y="1040377"/>
            <a:ext cx="3313728"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Why a rolling window of 10 minutes?</a:t>
            </a:r>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4B93858-6B7E-F92B-DF58-8F2B09FD1A0A}"/>
              </a:ext>
            </a:extLst>
          </p:cNvPr>
          <p:cNvGraphicFramePr>
            <a:graphicFrameLocks noGrp="1"/>
          </p:cNvGraphicFramePr>
          <p:nvPr>
            <p:extLst>
              <p:ext uri="{D42A27DB-BD31-4B8C-83A1-F6EECF244321}">
                <p14:modId xmlns:p14="http://schemas.microsoft.com/office/powerpoint/2010/main" val="1427950889"/>
              </p:ext>
            </p:extLst>
          </p:nvPr>
        </p:nvGraphicFramePr>
        <p:xfrm>
          <a:off x="415638" y="1469245"/>
          <a:ext cx="6026724" cy="1808736"/>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2121074671"/>
                    </a:ext>
                  </a:extLst>
                </a:gridCol>
                <a:gridCol w="3013362">
                  <a:extLst>
                    <a:ext uri="{9D8B030D-6E8A-4147-A177-3AD203B41FA5}">
                      <a16:colId xmlns:a16="http://schemas.microsoft.com/office/drawing/2014/main" val="3079776542"/>
                    </a:ext>
                  </a:extLst>
                </a:gridCol>
              </a:tblGrid>
              <a:tr h="232933">
                <a:tc>
                  <a:txBody>
                    <a:bodyPr/>
                    <a:lstStyle/>
                    <a:p>
                      <a:pPr algn="ctr">
                        <a:lnSpc>
                          <a:spcPct val="150000"/>
                        </a:lnSpc>
                        <a:spcAft>
                          <a:spcPts val="1000"/>
                        </a:spcAft>
                        <a:buNone/>
                      </a:pPr>
                      <a:r>
                        <a:rPr lang="en-US" sz="1200">
                          <a:effectLst/>
                        </a:rPr>
                        <a:t>Window Size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Problem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89851830"/>
                  </a:ext>
                </a:extLst>
              </a:tr>
              <a:tr h="480011">
                <a:tc>
                  <a:txBody>
                    <a:bodyPr/>
                    <a:lstStyle/>
                    <a:p>
                      <a:pPr>
                        <a:lnSpc>
                          <a:spcPct val="150000"/>
                        </a:lnSpc>
                        <a:spcAft>
                          <a:spcPts val="1000"/>
                        </a:spcAft>
                        <a:buNone/>
                      </a:pPr>
                      <a:r>
                        <a:rPr lang="en-US" sz="1200">
                          <a:effectLst/>
                        </a:rPr>
                        <a:t>3 minutes (too small)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Baseline reacts too fast; each spike inflates mean; next anomaly invisible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75543984"/>
                  </a:ext>
                </a:extLst>
              </a:tr>
              <a:tr h="480011">
                <a:tc>
                  <a:txBody>
                    <a:bodyPr/>
                    <a:lstStyle/>
                    <a:p>
                      <a:pPr>
                        <a:lnSpc>
                          <a:spcPct val="150000"/>
                        </a:lnSpc>
                        <a:spcAft>
                          <a:spcPts val="1000"/>
                        </a:spcAft>
                        <a:buNone/>
                      </a:pPr>
                      <a:r>
                        <a:rPr lang="en-US" sz="1200">
                          <a:effectLst/>
                        </a:rPr>
                        <a:t>10 minutes (chosen)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Balanced: responsive for detection, stable enough not to chase spikes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32404809"/>
                  </a:ext>
                </a:extLst>
              </a:tr>
              <a:tr h="480011">
                <a:tc>
                  <a:txBody>
                    <a:bodyPr/>
                    <a:lstStyle/>
                    <a:p>
                      <a:pPr>
                        <a:lnSpc>
                          <a:spcPct val="150000"/>
                        </a:lnSpc>
                        <a:spcAft>
                          <a:spcPts val="1000"/>
                        </a:spcAft>
                        <a:buNone/>
                      </a:pPr>
                      <a:r>
                        <a:rPr lang="en-US" sz="1200">
                          <a:effectLst/>
                        </a:rPr>
                        <a:t>30 minutes (too large)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Adapts too slowly; sustained 30-min attacks may not trigger alerts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00295486"/>
                  </a:ext>
                </a:extLst>
              </a:tr>
            </a:tbl>
          </a:graphicData>
        </a:graphic>
      </p:graphicFrame>
      <p:sp>
        <p:nvSpPr>
          <p:cNvPr id="6" name="TextBox 5">
            <a:extLst>
              <a:ext uri="{FF2B5EF4-FFF2-40B4-BE49-F238E27FC236}">
                <a16:creationId xmlns:a16="http://schemas.microsoft.com/office/drawing/2014/main" id="{692B35A2-8849-40D3-D6FB-E045CE35430B}"/>
              </a:ext>
            </a:extLst>
          </p:cNvPr>
          <p:cNvSpPr txBox="1"/>
          <p:nvPr/>
        </p:nvSpPr>
        <p:spPr>
          <a:xfrm>
            <a:off x="415639" y="3340003"/>
            <a:ext cx="6026723" cy="2264081"/>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Why Z-score instead of a fixed byte threshold?</a:t>
            </a:r>
            <a:r>
              <a:rPr lang="en-US" sz="1600" dirty="0">
                <a:latin typeface="Times New Roman" panose="02020603050405020304" pitchFamily="18" charset="0"/>
                <a:cs typeface="Times New Roman" panose="02020603050405020304" pitchFamily="18" charset="0"/>
              </a:rPr>
              <a:t> A fixed threshold (e.g., &gt;50 MB/min = alert) fails because normal peak-hour traffic may naturally exceed it (false positives), and off-peak traffic makes moderate spikes significant (false negatives missed). Z-score normalizes against the current local 10-minute baseline, making detection time-aware and self-calibrating.</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B720E29-20D7-AD6E-34E6-95488F2740AB}"/>
              </a:ext>
            </a:extLst>
          </p:cNvPr>
          <p:cNvSpPr txBox="1"/>
          <p:nvPr/>
        </p:nvSpPr>
        <p:spPr>
          <a:xfrm>
            <a:off x="415638" y="5604084"/>
            <a:ext cx="3823354"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Component 3: Anomaly Detection Engine</a:t>
            </a:r>
            <a:endParaRPr lang="en-IN" sz="1600"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D509B11C-2D44-5F78-A766-6CC765061370}"/>
              </a:ext>
            </a:extLst>
          </p:cNvPr>
          <p:cNvGraphicFramePr>
            <a:graphicFrameLocks noGrp="1"/>
          </p:cNvGraphicFramePr>
          <p:nvPr>
            <p:extLst>
              <p:ext uri="{D42A27DB-BD31-4B8C-83A1-F6EECF244321}">
                <p14:modId xmlns:p14="http://schemas.microsoft.com/office/powerpoint/2010/main" val="1265485605"/>
              </p:ext>
            </p:extLst>
          </p:nvPr>
        </p:nvGraphicFramePr>
        <p:xfrm>
          <a:off x="415638" y="6004027"/>
          <a:ext cx="5952054" cy="2615126"/>
        </p:xfrm>
        <a:graphic>
          <a:graphicData uri="http://schemas.openxmlformats.org/drawingml/2006/table">
            <a:tbl>
              <a:tblPr firstRow="1" firstCol="1" bandRow="1">
                <a:tableStyleId>{3B4B98B0-60AC-42C2-AFA5-B58CD77FA1E5}</a:tableStyleId>
              </a:tblPr>
              <a:tblGrid>
                <a:gridCol w="2976027">
                  <a:extLst>
                    <a:ext uri="{9D8B030D-6E8A-4147-A177-3AD203B41FA5}">
                      <a16:colId xmlns:a16="http://schemas.microsoft.com/office/drawing/2014/main" val="2327601755"/>
                    </a:ext>
                  </a:extLst>
                </a:gridCol>
                <a:gridCol w="2976027">
                  <a:extLst>
                    <a:ext uri="{9D8B030D-6E8A-4147-A177-3AD203B41FA5}">
                      <a16:colId xmlns:a16="http://schemas.microsoft.com/office/drawing/2014/main" val="4218196213"/>
                    </a:ext>
                  </a:extLst>
                </a:gridCol>
              </a:tblGrid>
              <a:tr h="266035">
                <a:tc>
                  <a:txBody>
                    <a:bodyPr/>
                    <a:lstStyle/>
                    <a:p>
                      <a:pPr algn="ctr">
                        <a:lnSpc>
                          <a:spcPct val="150000"/>
                        </a:lnSpc>
                        <a:spcAft>
                          <a:spcPts val="1000"/>
                        </a:spcAft>
                        <a:buNone/>
                      </a:pPr>
                      <a:r>
                        <a:rPr lang="en-US" sz="1200">
                          <a:effectLst/>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Detail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33660519"/>
                  </a:ext>
                </a:extLst>
              </a:tr>
              <a:tr h="266035">
                <a:tc>
                  <a:txBody>
                    <a:bodyPr/>
                    <a:lstStyle/>
                    <a:p>
                      <a:pPr>
                        <a:lnSpc>
                          <a:spcPct val="150000"/>
                        </a:lnSpc>
                        <a:spcAft>
                          <a:spcPts val="1000"/>
                        </a:spcAft>
                        <a:buNone/>
                      </a:pPr>
                      <a:r>
                        <a:rPr lang="en-US" sz="1200">
                          <a:effectLst/>
                        </a:rPr>
                        <a:t>Algorithm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Statistical Z-score thresholding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51256176"/>
                  </a:ext>
                </a:extLst>
              </a:tr>
              <a:tr h="266035">
                <a:tc>
                  <a:txBody>
                    <a:bodyPr/>
                    <a:lstStyle/>
                    <a:p>
                      <a:pPr>
                        <a:lnSpc>
                          <a:spcPct val="150000"/>
                        </a:lnSpc>
                        <a:spcAft>
                          <a:spcPts val="1000"/>
                        </a:spcAft>
                        <a:buNone/>
                      </a:pPr>
                      <a:r>
                        <a:rPr lang="en-US" sz="1200" dirty="0">
                          <a:effectLst/>
                        </a:rPr>
                        <a:t>Threshold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Z_THRESHOLD = 1.5 (absolute value of Z-score)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43681941"/>
                  </a:ext>
                </a:extLst>
              </a:tr>
              <a:tr h="266035">
                <a:tc>
                  <a:txBody>
                    <a:bodyPr/>
                    <a:lstStyle/>
                    <a:p>
                      <a:pPr>
                        <a:lnSpc>
                          <a:spcPct val="150000"/>
                        </a:lnSpc>
                        <a:spcAft>
                          <a:spcPts val="1000"/>
                        </a:spcAft>
                        <a:buNone/>
                      </a:pPr>
                      <a:r>
                        <a:rPr lang="en-US" sz="1200">
                          <a:effectLst/>
                        </a:rPr>
                        <a:t>Detection direction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Bidirectional: catches both traffic spikes AND drops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52222792"/>
                  </a:ext>
                </a:extLst>
              </a:tr>
              <a:tr h="266035">
                <a:tc>
                  <a:txBody>
                    <a:bodyPr/>
                    <a:lstStyle/>
                    <a:p>
                      <a:pPr>
                        <a:lnSpc>
                          <a:spcPct val="150000"/>
                        </a:lnSpc>
                        <a:spcAft>
                          <a:spcPts val="1000"/>
                        </a:spcAft>
                        <a:buNone/>
                      </a:pPr>
                      <a:r>
                        <a:rPr lang="en-US" sz="1200">
                          <a:effectLst/>
                        </a:rPr>
                        <a:t>Output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alert </a:t>
                      </a:r>
                      <a:r>
                        <a:rPr lang="en-US" sz="1200" dirty="0" err="1">
                          <a:effectLst/>
                        </a:rPr>
                        <a:t>boolean</a:t>
                      </a:r>
                      <a:r>
                        <a:rPr lang="en-US" sz="1200" dirty="0">
                          <a:effectLst/>
                        </a:rPr>
                        <a:t> column added to traffic </a:t>
                      </a:r>
                      <a:r>
                        <a:rPr lang="en-US" sz="1200" dirty="0" err="1">
                          <a:effectLst/>
                        </a:rPr>
                        <a:t>DataFrame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59597844"/>
                  </a:ext>
                </a:extLst>
              </a:tr>
              <a:tr h="266035">
                <a:tc>
                  <a:txBody>
                    <a:bodyPr/>
                    <a:lstStyle/>
                    <a:p>
                      <a:pPr>
                        <a:lnSpc>
                          <a:spcPct val="150000"/>
                        </a:lnSpc>
                        <a:spcAft>
                          <a:spcPts val="1000"/>
                        </a:spcAft>
                        <a:buNone/>
                      </a:pPr>
                      <a:r>
                        <a:rPr lang="en-US" sz="1200">
                          <a:effectLst/>
                        </a:rPr>
                        <a:t>Result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870 alerts out of 6,686 intervals = 13.01% alert rate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63693813"/>
                  </a:ext>
                </a:extLst>
              </a:tr>
            </a:tbl>
          </a:graphicData>
        </a:graphic>
      </p:graphicFrame>
      <p:sp>
        <p:nvSpPr>
          <p:cNvPr id="11" name="TextBox 10">
            <a:extLst>
              <a:ext uri="{FF2B5EF4-FFF2-40B4-BE49-F238E27FC236}">
                <a16:creationId xmlns:a16="http://schemas.microsoft.com/office/drawing/2014/main" id="{DD1C8A7F-CDE2-CCF8-0C00-EBEC169143B6}"/>
              </a:ext>
            </a:extLst>
          </p:cNvPr>
          <p:cNvSpPr txBox="1"/>
          <p:nvPr/>
        </p:nvSpPr>
        <p:spPr>
          <a:xfrm>
            <a:off x="415638" y="8660991"/>
            <a:ext cx="2529860" cy="338554"/>
          </a:xfrm>
          <a:prstGeom prst="rect">
            <a:avLst/>
          </a:prstGeom>
          <a:noFill/>
        </p:spPr>
        <p:txBody>
          <a:bodyPr wrap="none" rtlCol="0">
            <a:spAutoFit/>
          </a:bodyPr>
          <a:lstStyle/>
          <a:p>
            <a:r>
              <a:rPr lang="en-US" sz="1600" b="1" dirty="0">
                <a:latin typeface="Times New Roman" panose="02020603050405020304" pitchFamily="18" charset="0"/>
                <a:cs typeface="Times New Roman" panose="02020603050405020304" pitchFamily="18" charset="0"/>
              </a:rPr>
              <a:t>Z-Threshold Justification:</a:t>
            </a:r>
            <a:endParaRPr lang="en-IN" sz="1600" dirty="0">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43A8EFE3-8EC6-265E-C1F9-475CF1D2EFEC}"/>
              </a:ext>
            </a:extLst>
          </p:cNvPr>
          <p:cNvGraphicFramePr>
            <a:graphicFrameLocks noGrp="1"/>
          </p:cNvGraphicFramePr>
          <p:nvPr>
            <p:extLst>
              <p:ext uri="{D42A27DB-BD31-4B8C-83A1-F6EECF244321}">
                <p14:modId xmlns:p14="http://schemas.microsoft.com/office/powerpoint/2010/main" val="88316861"/>
              </p:ext>
            </p:extLst>
          </p:nvPr>
        </p:nvGraphicFramePr>
        <p:xfrm>
          <a:off x="415638" y="9070812"/>
          <a:ext cx="5952054" cy="2331476"/>
        </p:xfrm>
        <a:graphic>
          <a:graphicData uri="http://schemas.openxmlformats.org/drawingml/2006/table">
            <a:tbl>
              <a:tblPr firstRow="1" firstCol="1" bandRow="1">
                <a:tableStyleId>{3B4B98B0-60AC-42C2-AFA5-B58CD77FA1E5}</a:tableStyleId>
              </a:tblPr>
              <a:tblGrid>
                <a:gridCol w="1984018">
                  <a:extLst>
                    <a:ext uri="{9D8B030D-6E8A-4147-A177-3AD203B41FA5}">
                      <a16:colId xmlns:a16="http://schemas.microsoft.com/office/drawing/2014/main" val="2869492294"/>
                    </a:ext>
                  </a:extLst>
                </a:gridCol>
                <a:gridCol w="1984018">
                  <a:extLst>
                    <a:ext uri="{9D8B030D-6E8A-4147-A177-3AD203B41FA5}">
                      <a16:colId xmlns:a16="http://schemas.microsoft.com/office/drawing/2014/main" val="2540074338"/>
                    </a:ext>
                  </a:extLst>
                </a:gridCol>
                <a:gridCol w="1984018">
                  <a:extLst>
                    <a:ext uri="{9D8B030D-6E8A-4147-A177-3AD203B41FA5}">
                      <a16:colId xmlns:a16="http://schemas.microsoft.com/office/drawing/2014/main" val="3202324049"/>
                    </a:ext>
                  </a:extLst>
                </a:gridCol>
              </a:tblGrid>
              <a:tr h="248420">
                <a:tc>
                  <a:txBody>
                    <a:bodyPr/>
                    <a:lstStyle/>
                    <a:p>
                      <a:pPr algn="ctr">
                        <a:lnSpc>
                          <a:spcPct val="150000"/>
                        </a:lnSpc>
                        <a:spcAft>
                          <a:spcPts val="1000"/>
                        </a:spcAft>
                        <a:buNone/>
                      </a:pPr>
                      <a:r>
                        <a:rPr lang="en-US" sz="1200">
                          <a:effectLst/>
                        </a:rPr>
                        <a:t>Threshold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dirty="0">
                          <a:effectLst/>
                        </a:rPr>
                        <a:t>% of Normal Captured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Effect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23677847"/>
                  </a:ext>
                </a:extLst>
              </a:tr>
              <a:tr h="511926">
                <a:tc>
                  <a:txBody>
                    <a:bodyPr/>
                    <a:lstStyle/>
                    <a:p>
                      <a:pPr>
                        <a:lnSpc>
                          <a:spcPct val="150000"/>
                        </a:lnSpc>
                        <a:spcAft>
                          <a:spcPts val="1000"/>
                        </a:spcAft>
                        <a:buNone/>
                      </a:pPr>
                      <a:r>
                        <a:rPr lang="en-US" sz="1200">
                          <a:effectLst/>
                        </a:rPr>
                        <a:t>Z = 1.0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68.3%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Too sensitive — excessive false positives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84610216"/>
                  </a:ext>
                </a:extLst>
              </a:tr>
              <a:tr h="511926">
                <a:tc>
                  <a:txBody>
                    <a:bodyPr/>
                    <a:lstStyle/>
                    <a:p>
                      <a:pPr>
                        <a:lnSpc>
                          <a:spcPct val="150000"/>
                        </a:lnSpc>
                        <a:spcAft>
                          <a:spcPts val="1000"/>
                        </a:spcAft>
                        <a:buNone/>
                      </a:pPr>
                      <a:r>
                        <a:rPr lang="en-US" sz="1200">
                          <a:effectLst/>
                        </a:rPr>
                        <a:t>Z = 1.5 (chosen)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86.6%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Balanced: moderate anomalies captured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92685994"/>
                  </a:ext>
                </a:extLst>
              </a:tr>
              <a:tr h="511926">
                <a:tc>
                  <a:txBody>
                    <a:bodyPr/>
                    <a:lstStyle/>
                    <a:p>
                      <a:pPr>
                        <a:lnSpc>
                          <a:spcPct val="150000"/>
                        </a:lnSpc>
                        <a:spcAft>
                          <a:spcPts val="1000"/>
                        </a:spcAft>
                        <a:buNone/>
                      </a:pPr>
                      <a:r>
                        <a:rPr lang="en-US" sz="1200">
                          <a:effectLst/>
                        </a:rPr>
                        <a:t>Z = 2.0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95.4%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Too lenient — moderate attacks missed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85474454"/>
                  </a:ext>
                </a:extLst>
              </a:tr>
              <a:tr h="511926">
                <a:tc>
                  <a:txBody>
                    <a:bodyPr/>
                    <a:lstStyle/>
                    <a:p>
                      <a:pPr>
                        <a:lnSpc>
                          <a:spcPct val="150000"/>
                        </a:lnSpc>
                        <a:spcAft>
                          <a:spcPts val="1000"/>
                        </a:spcAft>
                        <a:buNone/>
                      </a:pPr>
                      <a:r>
                        <a:rPr lang="en-US" sz="1200">
                          <a:effectLst/>
                        </a:rPr>
                        <a:t>Z = 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99.7%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Extreme events only — most threats missed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42762689"/>
                  </a:ext>
                </a:extLst>
              </a:tr>
            </a:tbl>
          </a:graphicData>
        </a:graphic>
      </p:graphicFrame>
    </p:spTree>
    <p:extLst>
      <p:ext uri="{BB962C8B-B14F-4D97-AF65-F5344CB8AC3E}">
        <p14:creationId xmlns:p14="http://schemas.microsoft.com/office/powerpoint/2010/main" val="1447128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7397-4D3B-4B4C-08E6-0040E406F2D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2DD5A43-3BBE-9577-995B-1E7011E5A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3EFD7332-C87C-9B21-2C2C-9A94A17CF3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569393A-4017-C639-C754-8DF5AFC1BA84}"/>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6CCE839B-D203-EE6D-E8E2-A82DDF9E41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658AA222-F63E-FAE1-8909-BB7ED65AA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B3B93085-0AEC-CCCB-DE10-95C808A3D287}"/>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4" name="TextBox 3">
            <a:extLst>
              <a:ext uri="{FF2B5EF4-FFF2-40B4-BE49-F238E27FC236}">
                <a16:creationId xmlns:a16="http://schemas.microsoft.com/office/drawing/2014/main" id="{112C0BE5-D13A-FACA-9070-98D3B8A1F9A6}"/>
              </a:ext>
            </a:extLst>
          </p:cNvPr>
          <p:cNvSpPr txBox="1"/>
          <p:nvPr/>
        </p:nvSpPr>
        <p:spPr>
          <a:xfrm>
            <a:off x="6367692" y="11603883"/>
            <a:ext cx="266008" cy="369332"/>
          </a:xfrm>
          <a:prstGeom prst="rect">
            <a:avLst/>
          </a:prstGeom>
          <a:noFill/>
        </p:spPr>
        <p:txBody>
          <a:bodyPr wrap="square" rtlCol="0">
            <a:spAutoFit/>
          </a:bodyPr>
          <a:lstStyle/>
          <a:p>
            <a:r>
              <a:rPr lang="en-US" dirty="0"/>
              <a:t>6</a:t>
            </a:r>
            <a:endParaRPr lang="en-IN" dirty="0"/>
          </a:p>
        </p:txBody>
      </p:sp>
      <p:sp>
        <p:nvSpPr>
          <p:cNvPr id="2" name="TextBox 1">
            <a:extLst>
              <a:ext uri="{FF2B5EF4-FFF2-40B4-BE49-F238E27FC236}">
                <a16:creationId xmlns:a16="http://schemas.microsoft.com/office/drawing/2014/main" id="{EC89166E-EB7F-9247-6D04-47DD8635E28B}"/>
              </a:ext>
            </a:extLst>
          </p:cNvPr>
          <p:cNvSpPr txBox="1"/>
          <p:nvPr/>
        </p:nvSpPr>
        <p:spPr>
          <a:xfrm>
            <a:off x="415638" y="1040377"/>
            <a:ext cx="246093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Severity Classification:</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421FD88-429A-B6C5-6331-6C28D79E2E6F}"/>
              </a:ext>
            </a:extLst>
          </p:cNvPr>
          <p:cNvGraphicFramePr>
            <a:graphicFrameLocks noGrp="1"/>
          </p:cNvGraphicFramePr>
          <p:nvPr>
            <p:extLst>
              <p:ext uri="{D42A27DB-BD31-4B8C-83A1-F6EECF244321}">
                <p14:modId xmlns:p14="http://schemas.microsoft.com/office/powerpoint/2010/main" val="2053375622"/>
              </p:ext>
            </p:extLst>
          </p:nvPr>
        </p:nvGraphicFramePr>
        <p:xfrm>
          <a:off x="415638" y="1527063"/>
          <a:ext cx="6026724" cy="1245176"/>
        </p:xfrm>
        <a:graphic>
          <a:graphicData uri="http://schemas.openxmlformats.org/drawingml/2006/table">
            <a:tbl>
              <a:tblPr firstRow="1" firstCol="1" bandRow="1">
                <a:tableStyleId>{3B4B98B0-60AC-42C2-AFA5-B58CD77FA1E5}</a:tableStyleId>
              </a:tblPr>
              <a:tblGrid>
                <a:gridCol w="1506681">
                  <a:extLst>
                    <a:ext uri="{9D8B030D-6E8A-4147-A177-3AD203B41FA5}">
                      <a16:colId xmlns:a16="http://schemas.microsoft.com/office/drawing/2014/main" val="3840972326"/>
                    </a:ext>
                  </a:extLst>
                </a:gridCol>
                <a:gridCol w="1506681">
                  <a:extLst>
                    <a:ext uri="{9D8B030D-6E8A-4147-A177-3AD203B41FA5}">
                      <a16:colId xmlns:a16="http://schemas.microsoft.com/office/drawing/2014/main" val="3123491675"/>
                    </a:ext>
                  </a:extLst>
                </a:gridCol>
                <a:gridCol w="1506681">
                  <a:extLst>
                    <a:ext uri="{9D8B030D-6E8A-4147-A177-3AD203B41FA5}">
                      <a16:colId xmlns:a16="http://schemas.microsoft.com/office/drawing/2014/main" val="1169326776"/>
                    </a:ext>
                  </a:extLst>
                </a:gridCol>
                <a:gridCol w="1506681">
                  <a:extLst>
                    <a:ext uri="{9D8B030D-6E8A-4147-A177-3AD203B41FA5}">
                      <a16:colId xmlns:a16="http://schemas.microsoft.com/office/drawing/2014/main" val="2948480476"/>
                    </a:ext>
                  </a:extLst>
                </a:gridCol>
              </a:tblGrid>
              <a:tr h="311294">
                <a:tc>
                  <a:txBody>
                    <a:bodyPr/>
                    <a:lstStyle/>
                    <a:p>
                      <a:pPr algn="ctr">
                        <a:lnSpc>
                          <a:spcPct val="150000"/>
                        </a:lnSpc>
                        <a:spcAft>
                          <a:spcPts val="1000"/>
                        </a:spcAft>
                        <a:buNone/>
                      </a:pPr>
                      <a:r>
                        <a:rPr lang="en-US" sz="1200">
                          <a:effectLst/>
                        </a:rPr>
                        <a:t>Severity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Z-Score Range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Alert Count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Share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97131492"/>
                  </a:ext>
                </a:extLst>
              </a:tr>
              <a:tr h="311294">
                <a:tc>
                  <a:txBody>
                    <a:bodyPr/>
                    <a:lstStyle/>
                    <a:p>
                      <a:pPr>
                        <a:lnSpc>
                          <a:spcPct val="150000"/>
                        </a:lnSpc>
                        <a:spcAft>
                          <a:spcPts val="1000"/>
                        </a:spcAft>
                        <a:buNone/>
                      </a:pPr>
                      <a:r>
                        <a:rPr lang="en-US" sz="1200">
                          <a:effectLst/>
                        </a:rPr>
                        <a:t>Low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1.5 &lt;= abs(Z) &lt; 2.0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671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77%</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28287420"/>
                  </a:ext>
                </a:extLst>
              </a:tr>
              <a:tr h="311294">
                <a:tc>
                  <a:txBody>
                    <a:bodyPr/>
                    <a:lstStyle/>
                    <a:p>
                      <a:pPr>
                        <a:lnSpc>
                          <a:spcPct val="150000"/>
                        </a:lnSpc>
                        <a:spcAft>
                          <a:spcPts val="1000"/>
                        </a:spcAft>
                        <a:buNone/>
                      </a:pPr>
                      <a:r>
                        <a:rPr lang="en-US" sz="1200">
                          <a:effectLst/>
                        </a:rPr>
                        <a:t>Medium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2.0 &lt;= abs(Z) &lt; 2.5</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199</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23%</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2555255"/>
                  </a:ext>
                </a:extLst>
              </a:tr>
              <a:tr h="311294">
                <a:tc>
                  <a:txBody>
                    <a:bodyPr/>
                    <a:lstStyle/>
                    <a:p>
                      <a:pPr>
                        <a:lnSpc>
                          <a:spcPct val="150000"/>
                        </a:lnSpc>
                        <a:spcAft>
                          <a:spcPts val="1000"/>
                        </a:spcAft>
                        <a:buNone/>
                      </a:pPr>
                      <a:r>
                        <a:rPr lang="en-US" sz="1200">
                          <a:effectLst/>
                        </a:rPr>
                        <a:t>High</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abs(Z) &gt;= 2.5</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Rare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&lt;1%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94483451"/>
                  </a:ext>
                </a:extLst>
              </a:tr>
            </a:tbl>
          </a:graphicData>
        </a:graphic>
      </p:graphicFrame>
      <p:sp>
        <p:nvSpPr>
          <p:cNvPr id="6" name="TextBox 5">
            <a:extLst>
              <a:ext uri="{FF2B5EF4-FFF2-40B4-BE49-F238E27FC236}">
                <a16:creationId xmlns:a16="http://schemas.microsoft.com/office/drawing/2014/main" id="{331C4ADB-AE35-FA13-C5C6-F396E632D280}"/>
              </a:ext>
            </a:extLst>
          </p:cNvPr>
          <p:cNvSpPr txBox="1"/>
          <p:nvPr/>
        </p:nvSpPr>
        <p:spPr>
          <a:xfrm>
            <a:off x="415638" y="2914296"/>
            <a:ext cx="5952054" cy="1156086"/>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Component 4: Suspicious Window Aggregator</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Purpose:</a:t>
            </a:r>
            <a:r>
              <a:rPr lang="en-US" sz="1600" dirty="0">
                <a:latin typeface="Times New Roman" panose="02020603050405020304" pitchFamily="18" charset="0"/>
                <a:cs typeface="Times New Roman" panose="02020603050405020304" pitchFamily="18" charset="0"/>
              </a:rPr>
              <a:t> Group per-minute alerts into 30-minute threat windows to distinguish sustained attack campaigns from isolated random spikes.</a:t>
            </a:r>
            <a:endParaRPr lang="en-IN" sz="16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DAFBCFEF-67E5-F6B0-AF6C-891DEB295B5C}"/>
              </a:ext>
            </a:extLst>
          </p:cNvPr>
          <p:cNvGraphicFramePr>
            <a:graphicFrameLocks noGrp="1"/>
          </p:cNvGraphicFramePr>
          <p:nvPr>
            <p:extLst>
              <p:ext uri="{D42A27DB-BD31-4B8C-83A1-F6EECF244321}">
                <p14:modId xmlns:p14="http://schemas.microsoft.com/office/powerpoint/2010/main" val="3887188356"/>
              </p:ext>
            </p:extLst>
          </p:nvPr>
        </p:nvGraphicFramePr>
        <p:xfrm>
          <a:off x="415637" y="4215601"/>
          <a:ext cx="6026724" cy="1570054"/>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08890244"/>
                    </a:ext>
                  </a:extLst>
                </a:gridCol>
                <a:gridCol w="3013362">
                  <a:extLst>
                    <a:ext uri="{9D8B030D-6E8A-4147-A177-3AD203B41FA5}">
                      <a16:colId xmlns:a16="http://schemas.microsoft.com/office/drawing/2014/main" val="4291494617"/>
                    </a:ext>
                  </a:extLst>
                </a:gridCol>
              </a:tblGrid>
              <a:tr h="259054">
                <a:tc>
                  <a:txBody>
                    <a:bodyPr/>
                    <a:lstStyle/>
                    <a:p>
                      <a:pPr algn="ctr">
                        <a:lnSpc>
                          <a:spcPct val="150000"/>
                        </a:lnSpc>
                        <a:spcAft>
                          <a:spcPts val="1000"/>
                        </a:spcAft>
                        <a:buNone/>
                      </a:pPr>
                      <a:r>
                        <a:rPr lang="en-US" sz="1200">
                          <a:effectLst/>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Detail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61094197"/>
                  </a:ext>
                </a:extLst>
              </a:tr>
              <a:tr h="259054">
                <a:tc>
                  <a:txBody>
                    <a:bodyPr/>
                    <a:lstStyle/>
                    <a:p>
                      <a:pPr>
                        <a:lnSpc>
                          <a:spcPct val="150000"/>
                        </a:lnSpc>
                        <a:spcAft>
                          <a:spcPts val="1000"/>
                        </a:spcAft>
                        <a:buNone/>
                      </a:pPr>
                      <a:r>
                        <a:rPr lang="en-US" sz="1200">
                          <a:effectLst/>
                        </a:rPr>
                        <a:t>Window size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30 minutes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82057809"/>
                  </a:ext>
                </a:extLst>
              </a:tr>
              <a:tr h="259054">
                <a:tc>
                  <a:txBody>
                    <a:bodyPr/>
                    <a:lstStyle/>
                    <a:p>
                      <a:pPr>
                        <a:lnSpc>
                          <a:spcPct val="150000"/>
                        </a:lnSpc>
                        <a:spcAft>
                          <a:spcPts val="1000"/>
                        </a:spcAft>
                        <a:buNone/>
                      </a:pPr>
                      <a:r>
                        <a:rPr lang="en-US" sz="1200">
                          <a:effectLst/>
                        </a:rPr>
                        <a:t>Grouping method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pd.Grouper(key="Time", freq="30min")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48543671"/>
                  </a:ext>
                </a:extLst>
              </a:tr>
              <a:tr h="533838">
                <a:tc>
                  <a:txBody>
                    <a:bodyPr/>
                    <a:lstStyle/>
                    <a:p>
                      <a:pPr>
                        <a:lnSpc>
                          <a:spcPct val="150000"/>
                        </a:lnSpc>
                        <a:spcAft>
                          <a:spcPts val="1000"/>
                        </a:spcAft>
                        <a:buNone/>
                      </a:pPr>
                      <a:r>
                        <a:rPr lang="en-US" sz="1200">
                          <a:effectLst/>
                        </a:rPr>
                        <a:t>Metrics per 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err="1">
                          <a:effectLst/>
                        </a:rPr>
                        <a:t>Alert_Count</a:t>
                      </a:r>
                      <a:r>
                        <a:rPr lang="en-US" sz="1200" dirty="0">
                          <a:effectLst/>
                        </a:rPr>
                        <a:t>, </a:t>
                      </a:r>
                      <a:r>
                        <a:rPr lang="en-US" sz="1200" dirty="0" err="1">
                          <a:effectLst/>
                        </a:rPr>
                        <a:t>Total_Intervals</a:t>
                      </a:r>
                      <a:r>
                        <a:rPr lang="en-US" sz="1200" dirty="0">
                          <a:effectLst/>
                        </a:rPr>
                        <a:t>, </a:t>
                      </a:r>
                      <a:r>
                        <a:rPr lang="en-US" sz="1200" dirty="0" err="1">
                          <a:effectLst/>
                        </a:rPr>
                        <a:t>Alert_Rate</a:t>
                      </a:r>
                      <a:r>
                        <a:rPr lang="en-US" sz="1200" dirty="0">
                          <a:effectLst/>
                        </a:rPr>
                        <a:t>_%, </a:t>
                      </a:r>
                      <a:r>
                        <a:rPr lang="en-US" sz="1200" dirty="0" err="1">
                          <a:effectLst/>
                        </a:rPr>
                        <a:t>Max_Abs_Z</a:t>
                      </a:r>
                      <a:r>
                        <a:rPr lang="en-US" sz="1200" dirty="0">
                          <a:effectLst/>
                        </a:rPr>
                        <a:t>, </a:t>
                      </a:r>
                      <a:r>
                        <a:rPr lang="en-US" sz="1200" dirty="0" err="1">
                          <a:effectLst/>
                        </a:rPr>
                        <a:t>Peak_Bytes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07305096"/>
                  </a:ext>
                </a:extLst>
              </a:tr>
              <a:tr h="259054">
                <a:tc>
                  <a:txBody>
                    <a:bodyPr/>
                    <a:lstStyle/>
                    <a:p>
                      <a:pPr>
                        <a:lnSpc>
                          <a:spcPct val="150000"/>
                        </a:lnSpc>
                        <a:spcAft>
                          <a:spcPts val="1000"/>
                        </a:spcAft>
                        <a:buNone/>
                      </a:pPr>
                      <a:r>
                        <a:rPr lang="en-US" sz="1200">
                          <a:effectLst/>
                        </a:rPr>
                        <a:t>Sort order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err="1">
                          <a:effectLst/>
                        </a:rPr>
                        <a:t>Alert_Count</a:t>
                      </a:r>
                      <a:r>
                        <a:rPr lang="en-US" sz="1200" dirty="0">
                          <a:effectLst/>
                        </a:rPr>
                        <a:t> DESC, then </a:t>
                      </a:r>
                      <a:r>
                        <a:rPr lang="en-US" sz="1200" dirty="0" err="1">
                          <a:effectLst/>
                        </a:rPr>
                        <a:t>Max_Abs_Z</a:t>
                      </a:r>
                      <a:r>
                        <a:rPr lang="en-US" sz="1200" dirty="0">
                          <a:effectLst/>
                        </a:rPr>
                        <a:t> DESC</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65833600"/>
                  </a:ext>
                </a:extLst>
              </a:tr>
            </a:tbl>
          </a:graphicData>
        </a:graphic>
      </p:graphicFrame>
      <p:sp>
        <p:nvSpPr>
          <p:cNvPr id="10" name="TextBox 9">
            <a:extLst>
              <a:ext uri="{FF2B5EF4-FFF2-40B4-BE49-F238E27FC236}">
                <a16:creationId xmlns:a16="http://schemas.microsoft.com/office/drawing/2014/main" id="{C0922B7D-2DF2-CC38-5E93-7655C00DA829}"/>
              </a:ext>
            </a:extLst>
          </p:cNvPr>
          <p:cNvSpPr txBox="1"/>
          <p:nvPr/>
        </p:nvSpPr>
        <p:spPr>
          <a:xfrm>
            <a:off x="415637" y="5962364"/>
            <a:ext cx="4240520"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Top 10 Suspicious 30-Minute Windows:</a:t>
            </a:r>
            <a:endParaRPr lang="en-IN" dirty="0">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5380195C-0045-F8BC-20A7-99C19997A480}"/>
              </a:ext>
            </a:extLst>
          </p:cNvPr>
          <p:cNvGraphicFramePr>
            <a:graphicFrameLocks noGrp="1"/>
          </p:cNvGraphicFramePr>
          <p:nvPr>
            <p:extLst>
              <p:ext uri="{D42A27DB-BD31-4B8C-83A1-F6EECF244321}">
                <p14:modId xmlns:p14="http://schemas.microsoft.com/office/powerpoint/2010/main" val="1245480727"/>
              </p:ext>
            </p:extLst>
          </p:nvPr>
        </p:nvGraphicFramePr>
        <p:xfrm>
          <a:off x="415636" y="6403590"/>
          <a:ext cx="6026725" cy="3840480"/>
        </p:xfrm>
        <a:graphic>
          <a:graphicData uri="http://schemas.openxmlformats.org/drawingml/2006/table">
            <a:tbl>
              <a:tblPr firstRow="1" firstCol="1" bandRow="1">
                <a:tableStyleId>{3B4B98B0-60AC-42C2-AFA5-B58CD77FA1E5}</a:tableStyleId>
              </a:tblPr>
              <a:tblGrid>
                <a:gridCol w="1205345">
                  <a:extLst>
                    <a:ext uri="{9D8B030D-6E8A-4147-A177-3AD203B41FA5}">
                      <a16:colId xmlns:a16="http://schemas.microsoft.com/office/drawing/2014/main" val="143049574"/>
                    </a:ext>
                  </a:extLst>
                </a:gridCol>
                <a:gridCol w="1205345">
                  <a:extLst>
                    <a:ext uri="{9D8B030D-6E8A-4147-A177-3AD203B41FA5}">
                      <a16:colId xmlns:a16="http://schemas.microsoft.com/office/drawing/2014/main" val="935015340"/>
                    </a:ext>
                  </a:extLst>
                </a:gridCol>
                <a:gridCol w="1205345">
                  <a:extLst>
                    <a:ext uri="{9D8B030D-6E8A-4147-A177-3AD203B41FA5}">
                      <a16:colId xmlns:a16="http://schemas.microsoft.com/office/drawing/2014/main" val="918178621"/>
                    </a:ext>
                  </a:extLst>
                </a:gridCol>
                <a:gridCol w="1205345">
                  <a:extLst>
                    <a:ext uri="{9D8B030D-6E8A-4147-A177-3AD203B41FA5}">
                      <a16:colId xmlns:a16="http://schemas.microsoft.com/office/drawing/2014/main" val="3380889190"/>
                    </a:ext>
                  </a:extLst>
                </a:gridCol>
                <a:gridCol w="1205345">
                  <a:extLst>
                    <a:ext uri="{9D8B030D-6E8A-4147-A177-3AD203B41FA5}">
                      <a16:colId xmlns:a16="http://schemas.microsoft.com/office/drawing/2014/main" val="1487360272"/>
                    </a:ext>
                  </a:extLst>
                </a:gridCol>
              </a:tblGrid>
              <a:tr h="166725">
                <a:tc>
                  <a:txBody>
                    <a:bodyPr/>
                    <a:lstStyle/>
                    <a:p>
                      <a:pPr algn="ctr">
                        <a:lnSpc>
                          <a:spcPct val="100000"/>
                        </a:lnSpc>
                        <a:spcAft>
                          <a:spcPts val="1000"/>
                        </a:spcAft>
                        <a:buNone/>
                      </a:pPr>
                      <a:r>
                        <a:rPr lang="en-US" sz="1200">
                          <a:effectLst/>
                        </a:rPr>
                        <a:t>Rank</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rPr>
                        <a:t>Window Start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rPr>
                        <a:t>Alerts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rPr>
                        <a:t>Alert Rate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00000"/>
                        </a:lnSpc>
                        <a:spcAft>
                          <a:spcPts val="1000"/>
                        </a:spcAft>
                        <a:buNone/>
                      </a:pPr>
                      <a:r>
                        <a:rPr lang="en-US" sz="1200">
                          <a:effectLst/>
                        </a:rPr>
                        <a:t>Max Z</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53317245"/>
                  </a:ext>
                </a:extLst>
              </a:tr>
              <a:tr h="329807">
                <a:tc>
                  <a:txBody>
                    <a:bodyPr/>
                    <a:lstStyle/>
                    <a:p>
                      <a:pPr>
                        <a:lnSpc>
                          <a:spcPct val="100000"/>
                        </a:lnSpc>
                        <a:spcAft>
                          <a:spcPts val="1000"/>
                        </a:spcAft>
                        <a:buNone/>
                      </a:pPr>
                      <a:r>
                        <a:rPr lang="en-US" sz="1200">
                          <a:effectLst/>
                        </a:rPr>
                        <a:t>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2019-01-22 14:00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9</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30.00%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2.09</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49174916"/>
                  </a:ext>
                </a:extLst>
              </a:tr>
              <a:tr h="329807">
                <a:tc>
                  <a:txBody>
                    <a:bodyPr/>
                    <a:lstStyle/>
                    <a:p>
                      <a:pPr>
                        <a:lnSpc>
                          <a:spcPct val="100000"/>
                        </a:lnSpc>
                        <a:spcAft>
                          <a:spcPts val="1000"/>
                        </a:spcAft>
                        <a:buNone/>
                      </a:pPr>
                      <a:r>
                        <a:rPr lang="en-US" sz="1200">
                          <a:effectLst/>
                        </a:rPr>
                        <a:t>2</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2019-01-23 06:30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7</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23.33%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2.38</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73960658"/>
                  </a:ext>
                </a:extLst>
              </a:tr>
              <a:tr h="329807">
                <a:tc>
                  <a:txBody>
                    <a:bodyPr/>
                    <a:lstStyle/>
                    <a:p>
                      <a:pPr>
                        <a:lnSpc>
                          <a:spcPct val="100000"/>
                        </a:lnSpc>
                        <a:spcAft>
                          <a:spcPts val="1000"/>
                        </a:spcAft>
                        <a:buNone/>
                      </a:pPr>
                      <a:r>
                        <a:rPr lang="en-US" sz="1200">
                          <a:effectLst/>
                        </a:rPr>
                        <a:t>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2019-01-26 20:00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23.33%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2.23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23621703"/>
                  </a:ext>
                </a:extLst>
              </a:tr>
              <a:tr h="329807">
                <a:tc>
                  <a:txBody>
                    <a:bodyPr/>
                    <a:lstStyle/>
                    <a:p>
                      <a:pPr>
                        <a:lnSpc>
                          <a:spcPct val="100000"/>
                        </a:lnSpc>
                        <a:spcAft>
                          <a:spcPts val="1000"/>
                        </a:spcAft>
                        <a:buNone/>
                      </a:pPr>
                      <a:r>
                        <a:rPr lang="en-US" sz="1200">
                          <a:effectLst/>
                        </a:rPr>
                        <a:t>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2019-01-23 17:00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23.33%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2.22</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03689036"/>
                  </a:ext>
                </a:extLst>
              </a:tr>
              <a:tr h="329807">
                <a:tc>
                  <a:txBody>
                    <a:bodyPr/>
                    <a:lstStyle/>
                    <a:p>
                      <a:pPr>
                        <a:lnSpc>
                          <a:spcPct val="100000"/>
                        </a:lnSpc>
                        <a:spcAft>
                          <a:spcPts val="1000"/>
                        </a:spcAft>
                        <a:buNone/>
                      </a:pPr>
                      <a:r>
                        <a:rPr lang="en-US" sz="1200">
                          <a:effectLst/>
                        </a:rPr>
                        <a:t>5</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2019-01-25 11:30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23.33%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2.11</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95311390"/>
                  </a:ext>
                </a:extLst>
              </a:tr>
              <a:tr h="329807">
                <a:tc>
                  <a:txBody>
                    <a:bodyPr/>
                    <a:lstStyle/>
                    <a:p>
                      <a:pPr>
                        <a:lnSpc>
                          <a:spcPct val="100000"/>
                        </a:lnSpc>
                        <a:spcAft>
                          <a:spcPts val="1000"/>
                        </a:spcAft>
                        <a:buNone/>
                      </a:pPr>
                      <a:r>
                        <a:rPr lang="en-US" sz="1200">
                          <a:effectLst/>
                        </a:rPr>
                        <a:t>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2019-01-24 14:00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7</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23.33%</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1.86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17326142"/>
                  </a:ext>
                </a:extLst>
              </a:tr>
              <a:tr h="329807">
                <a:tc>
                  <a:txBody>
                    <a:bodyPr/>
                    <a:lstStyle/>
                    <a:p>
                      <a:pPr>
                        <a:lnSpc>
                          <a:spcPct val="100000"/>
                        </a:lnSpc>
                        <a:spcAft>
                          <a:spcPts val="1000"/>
                        </a:spcAft>
                        <a:buNone/>
                      </a:pPr>
                      <a:r>
                        <a:rPr lang="en-US" sz="1200" dirty="0">
                          <a:effectLst/>
                        </a:rPr>
                        <a:t>7</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2019-01-25 06:00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7</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23.33%</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1.82</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10011189"/>
                  </a:ext>
                </a:extLst>
              </a:tr>
              <a:tr h="329807">
                <a:tc>
                  <a:txBody>
                    <a:bodyPr/>
                    <a:lstStyle/>
                    <a:p>
                      <a:pPr>
                        <a:lnSpc>
                          <a:spcPct val="100000"/>
                        </a:lnSpc>
                        <a:spcAft>
                          <a:spcPts val="1000"/>
                        </a:spcAft>
                        <a:buNone/>
                      </a:pPr>
                      <a:r>
                        <a:rPr lang="en-US" sz="1200" dirty="0">
                          <a:effectLst/>
                        </a:rPr>
                        <a:t>8</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2019-01-25 02:00</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2.46</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54971085"/>
                  </a:ext>
                </a:extLst>
              </a:tr>
              <a:tr h="329807">
                <a:tc>
                  <a:txBody>
                    <a:bodyPr/>
                    <a:lstStyle/>
                    <a:p>
                      <a:pPr>
                        <a:lnSpc>
                          <a:spcPct val="100000"/>
                        </a:lnSpc>
                        <a:spcAft>
                          <a:spcPts val="1000"/>
                        </a:spcAft>
                        <a:buNone/>
                      </a:pPr>
                      <a:r>
                        <a:rPr lang="en-US" sz="1200">
                          <a:effectLst/>
                        </a:rPr>
                        <a:t>9</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2019-01-26 08:30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2.34</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9784203"/>
                  </a:ext>
                </a:extLst>
              </a:tr>
              <a:tr h="329807">
                <a:tc>
                  <a:txBody>
                    <a:bodyPr/>
                    <a:lstStyle/>
                    <a:p>
                      <a:pPr>
                        <a:lnSpc>
                          <a:spcPct val="100000"/>
                        </a:lnSpc>
                        <a:spcAft>
                          <a:spcPts val="1000"/>
                        </a:spcAft>
                        <a:buNone/>
                      </a:pPr>
                      <a:r>
                        <a:rPr lang="en-US" sz="1200">
                          <a:effectLst/>
                        </a:rPr>
                        <a:t>10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2019-01-26 17:30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6</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a:effectLst/>
                        </a:rPr>
                        <a:t>20.00%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200" dirty="0">
                          <a:effectLst/>
                        </a:rPr>
                        <a:t>2.25</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05307717"/>
                  </a:ext>
                </a:extLst>
              </a:tr>
            </a:tbl>
          </a:graphicData>
        </a:graphic>
      </p:graphicFrame>
    </p:spTree>
    <p:extLst>
      <p:ext uri="{BB962C8B-B14F-4D97-AF65-F5344CB8AC3E}">
        <p14:creationId xmlns:p14="http://schemas.microsoft.com/office/powerpoint/2010/main" val="876851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62174-B0F4-20FD-A992-034C4EA80F6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CDD2F3D-924C-A80B-CDCC-D8565C3F6E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1BC47BF9-FE39-A1A4-5C0D-CD788AF180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8F8154AE-5BAE-7AEB-786D-9D6F138A439B}"/>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710C6441-D277-AF6E-FAAB-1C8074C514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B2FB397F-3A91-2D50-FEC4-90EF46F64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A29A182-EBD3-9F0A-25DC-9A193C395DDB}"/>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4" name="TextBox 3">
            <a:extLst>
              <a:ext uri="{FF2B5EF4-FFF2-40B4-BE49-F238E27FC236}">
                <a16:creationId xmlns:a16="http://schemas.microsoft.com/office/drawing/2014/main" id="{6EE367DD-F59C-CA5A-2C77-1EC635354162}"/>
              </a:ext>
            </a:extLst>
          </p:cNvPr>
          <p:cNvSpPr txBox="1"/>
          <p:nvPr/>
        </p:nvSpPr>
        <p:spPr>
          <a:xfrm>
            <a:off x="6367692" y="11603883"/>
            <a:ext cx="266008" cy="369332"/>
          </a:xfrm>
          <a:prstGeom prst="rect">
            <a:avLst/>
          </a:prstGeom>
          <a:noFill/>
        </p:spPr>
        <p:txBody>
          <a:bodyPr wrap="square" rtlCol="0">
            <a:spAutoFit/>
          </a:bodyPr>
          <a:lstStyle/>
          <a:p>
            <a:r>
              <a:rPr lang="en-US" dirty="0"/>
              <a:t>6</a:t>
            </a:r>
            <a:endParaRPr lang="en-IN" dirty="0"/>
          </a:p>
        </p:txBody>
      </p:sp>
      <p:sp>
        <p:nvSpPr>
          <p:cNvPr id="2" name="TextBox 1">
            <a:extLst>
              <a:ext uri="{FF2B5EF4-FFF2-40B4-BE49-F238E27FC236}">
                <a16:creationId xmlns:a16="http://schemas.microsoft.com/office/drawing/2014/main" id="{37456AFF-4AC4-5AF5-8B8F-E853FB224B1D}"/>
              </a:ext>
            </a:extLst>
          </p:cNvPr>
          <p:cNvSpPr txBox="1"/>
          <p:nvPr/>
        </p:nvSpPr>
        <p:spPr>
          <a:xfrm>
            <a:off x="347679" y="1040377"/>
            <a:ext cx="6094683" cy="2264081"/>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Component 5: Risk Score Generator</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Risk Score Formula:</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err="1">
                <a:latin typeface="Times New Roman" panose="02020603050405020304" pitchFamily="18" charset="0"/>
                <a:cs typeface="Times New Roman" panose="02020603050405020304" pitchFamily="18" charset="0"/>
              </a:rPr>
              <a:t>Risk_Score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Alert_Count</a:t>
            </a:r>
            <a:r>
              <a:rPr lang="en-US" sz="1600" dirty="0">
                <a:latin typeface="Times New Roman" panose="02020603050405020304" pitchFamily="18" charset="0"/>
                <a:cs typeface="Times New Roman" panose="02020603050405020304" pitchFamily="18" charset="0"/>
              </a:rPr>
              <a:t>  x  </a:t>
            </a:r>
            <a:r>
              <a:rPr lang="en-US" sz="1600" dirty="0" err="1">
                <a:latin typeface="Times New Roman" panose="02020603050405020304" pitchFamily="18" charset="0"/>
                <a:cs typeface="Times New Roman" panose="02020603050405020304" pitchFamily="18" charset="0"/>
              </a:rPr>
              <a:t>Max_Abs_Z</a:t>
            </a:r>
            <a:r>
              <a:rPr lang="en-US" sz="1600" dirty="0">
                <a:latin typeface="Times New Roman" panose="02020603050405020304" pitchFamily="18" charset="0"/>
                <a:cs typeface="Times New Roman" panose="02020603050405020304" pitchFamily="18" charset="0"/>
              </a:rPr>
              <a:t>  x  log10(</a:t>
            </a:r>
            <a:r>
              <a:rPr lang="en-US" sz="1600" dirty="0" err="1">
                <a:latin typeface="Times New Roman" panose="02020603050405020304" pitchFamily="18" charset="0"/>
                <a:cs typeface="Times New Roman" panose="02020603050405020304" pitchFamily="18" charset="0"/>
              </a:rPr>
              <a:t>Peak_Bytes</a:t>
            </a:r>
            <a:r>
              <a:rPr lang="en-US" sz="1600" dirty="0">
                <a:latin typeface="Times New Roman" panose="02020603050405020304" pitchFamily="18" charset="0"/>
                <a:cs typeface="Times New Roman" panose="02020603050405020304" pitchFamily="18" charset="0"/>
              </a:rPr>
              <a:t> + 1)</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Formula design rationale: </a:t>
            </a:r>
            <a:r>
              <a:rPr lang="en-US" sz="1600" b="1" dirty="0" err="1">
                <a:latin typeface="Times New Roman" panose="02020603050405020304" pitchFamily="18" charset="0"/>
                <a:cs typeface="Times New Roman" panose="02020603050405020304" pitchFamily="18" charset="0"/>
              </a:rPr>
              <a:t>Alert_Count</a:t>
            </a:r>
            <a:r>
              <a:rPr lang="en-US" sz="1600" dirty="0">
                <a:latin typeface="Times New Roman" panose="02020603050405020304" pitchFamily="18" charset="0"/>
                <a:cs typeface="Times New Roman" panose="02020603050405020304" pitchFamily="18" charset="0"/>
              </a:rPr>
              <a:t> captures sustained patterns; </a:t>
            </a:r>
            <a:r>
              <a:rPr lang="en-US" sz="1600" b="1" dirty="0" err="1">
                <a:latin typeface="Times New Roman" panose="02020603050405020304" pitchFamily="18" charset="0"/>
                <a:cs typeface="Times New Roman" panose="02020603050405020304" pitchFamily="18" charset="0"/>
              </a:rPr>
              <a:t>Max_Abs_Z</a:t>
            </a:r>
            <a:r>
              <a:rPr lang="en-US" sz="1600" dirty="0">
                <a:latin typeface="Times New Roman" panose="02020603050405020304" pitchFamily="18" charset="0"/>
                <a:cs typeface="Times New Roman" panose="02020603050405020304" pitchFamily="18" charset="0"/>
              </a:rPr>
              <a:t> captures severity of deviation; </a:t>
            </a:r>
            <a:r>
              <a:rPr lang="en-US" sz="1600" b="1" dirty="0">
                <a:latin typeface="Times New Roman" panose="02020603050405020304" pitchFamily="18" charset="0"/>
                <a:cs typeface="Times New Roman" panose="02020603050405020304" pitchFamily="18" charset="0"/>
              </a:rPr>
              <a:t>log10(Peak_Bytes+1)</a:t>
            </a:r>
            <a:r>
              <a:rPr lang="en-US" sz="1600" dirty="0">
                <a:latin typeface="Times New Roman" panose="02020603050405020304" pitchFamily="18" charset="0"/>
                <a:cs typeface="Times New Roman" panose="02020603050405020304" pitchFamily="18" charset="0"/>
              </a:rPr>
              <a:t> captures traffic volume while dampening extreme outliers.</a:t>
            </a:r>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8ABB78E-C837-E069-CC86-4D1BA7869361}"/>
              </a:ext>
            </a:extLst>
          </p:cNvPr>
          <p:cNvGraphicFramePr>
            <a:graphicFrameLocks noGrp="1"/>
          </p:cNvGraphicFramePr>
          <p:nvPr>
            <p:extLst>
              <p:ext uri="{D42A27DB-BD31-4B8C-83A1-F6EECF244321}">
                <p14:modId xmlns:p14="http://schemas.microsoft.com/office/powerpoint/2010/main" val="2680140469"/>
              </p:ext>
            </p:extLst>
          </p:nvPr>
        </p:nvGraphicFramePr>
        <p:xfrm>
          <a:off x="347679" y="3474554"/>
          <a:ext cx="6020013" cy="1416614"/>
        </p:xfrm>
        <a:graphic>
          <a:graphicData uri="http://schemas.openxmlformats.org/drawingml/2006/table">
            <a:tbl>
              <a:tblPr firstRow="1" firstCol="1" bandRow="1">
                <a:tableStyleId>{3B4B98B0-60AC-42C2-AFA5-B58CD77FA1E5}</a:tableStyleId>
              </a:tblPr>
              <a:tblGrid>
                <a:gridCol w="2006671">
                  <a:extLst>
                    <a:ext uri="{9D8B030D-6E8A-4147-A177-3AD203B41FA5}">
                      <a16:colId xmlns:a16="http://schemas.microsoft.com/office/drawing/2014/main" val="3100148582"/>
                    </a:ext>
                  </a:extLst>
                </a:gridCol>
                <a:gridCol w="2006671">
                  <a:extLst>
                    <a:ext uri="{9D8B030D-6E8A-4147-A177-3AD203B41FA5}">
                      <a16:colId xmlns:a16="http://schemas.microsoft.com/office/drawing/2014/main" val="3268669926"/>
                    </a:ext>
                  </a:extLst>
                </a:gridCol>
                <a:gridCol w="2006671">
                  <a:extLst>
                    <a:ext uri="{9D8B030D-6E8A-4147-A177-3AD203B41FA5}">
                      <a16:colId xmlns:a16="http://schemas.microsoft.com/office/drawing/2014/main" val="76702537"/>
                    </a:ext>
                  </a:extLst>
                </a:gridCol>
              </a:tblGrid>
              <a:tr h="251966">
                <a:tc>
                  <a:txBody>
                    <a:bodyPr/>
                    <a:lstStyle/>
                    <a:p>
                      <a:pPr algn="ctr">
                        <a:lnSpc>
                          <a:spcPct val="115000"/>
                        </a:lnSpc>
                        <a:spcAft>
                          <a:spcPts val="1000"/>
                        </a:spcAft>
                        <a:buNone/>
                      </a:pPr>
                      <a:r>
                        <a:rPr lang="en-US" sz="1200">
                          <a:effectLst/>
                        </a:rPr>
                        <a:t>Band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Score Range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Required Action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94617627"/>
                  </a:ext>
                </a:extLst>
              </a:tr>
              <a:tr h="251966">
                <a:tc>
                  <a:txBody>
                    <a:bodyPr/>
                    <a:lstStyle/>
                    <a:p>
                      <a:pPr>
                        <a:lnSpc>
                          <a:spcPct val="115000"/>
                        </a:lnSpc>
                        <a:spcAft>
                          <a:spcPts val="1000"/>
                        </a:spcAft>
                        <a:buNone/>
                      </a:pPr>
                      <a:r>
                        <a:rPr lang="en-US" sz="1200">
                          <a:effectLst/>
                        </a:rPr>
                        <a:t>Low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0 — 100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Log and monitor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14143520"/>
                  </a:ext>
                </a:extLst>
              </a:tr>
              <a:tr h="251966">
                <a:tc>
                  <a:txBody>
                    <a:bodyPr/>
                    <a:lstStyle/>
                    <a:p>
                      <a:pPr>
                        <a:lnSpc>
                          <a:spcPct val="115000"/>
                        </a:lnSpc>
                        <a:spcAft>
                          <a:spcPts val="1000"/>
                        </a:spcAft>
                        <a:buNone/>
                      </a:pPr>
                      <a:r>
                        <a:rPr lang="en-US" sz="1200">
                          <a:effectLst/>
                        </a:rPr>
                        <a:t>Medium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100 — 300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Assign for investigation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19838930"/>
                  </a:ext>
                </a:extLst>
              </a:tr>
              <a:tr h="251966">
                <a:tc>
                  <a:txBody>
                    <a:bodyPr/>
                    <a:lstStyle/>
                    <a:p>
                      <a:pPr>
                        <a:lnSpc>
                          <a:spcPct val="115000"/>
                        </a:lnSpc>
                        <a:spcAft>
                          <a:spcPts val="1000"/>
                        </a:spcAft>
                        <a:buNone/>
                      </a:pPr>
                      <a:r>
                        <a:rPr lang="en-US" sz="1200">
                          <a:effectLst/>
                        </a:rPr>
                        <a:t>High</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300 — 500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Active response required</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610445366"/>
                  </a:ext>
                </a:extLst>
              </a:tr>
              <a:tr h="251966">
                <a:tc>
                  <a:txBody>
                    <a:bodyPr/>
                    <a:lstStyle/>
                    <a:p>
                      <a:pPr>
                        <a:lnSpc>
                          <a:spcPct val="115000"/>
                        </a:lnSpc>
                        <a:spcAft>
                          <a:spcPts val="1000"/>
                        </a:spcAft>
                        <a:buNone/>
                      </a:pPr>
                      <a:r>
                        <a:rPr lang="en-US" sz="1200">
                          <a:effectLst/>
                        </a:rPr>
                        <a:t>Critical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&gt; 500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Immediate incident response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45330938"/>
                  </a:ext>
                </a:extLst>
              </a:tr>
            </a:tbl>
          </a:graphicData>
        </a:graphic>
      </p:graphicFrame>
      <p:sp>
        <p:nvSpPr>
          <p:cNvPr id="6" name="TextBox 5">
            <a:extLst>
              <a:ext uri="{FF2B5EF4-FFF2-40B4-BE49-F238E27FC236}">
                <a16:creationId xmlns:a16="http://schemas.microsoft.com/office/drawing/2014/main" id="{3D0AD1F5-A102-43E8-8B5D-9F9D8851ADB1}"/>
              </a:ext>
            </a:extLst>
          </p:cNvPr>
          <p:cNvSpPr txBox="1"/>
          <p:nvPr/>
        </p:nvSpPr>
        <p:spPr>
          <a:xfrm>
            <a:off x="415638" y="5028014"/>
            <a:ext cx="5872120"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Maximum observed: </a:t>
            </a:r>
            <a:r>
              <a:rPr lang="en-US" sz="1600" b="1" dirty="0">
                <a:latin typeface="Times New Roman" panose="02020603050405020304" pitchFamily="18" charset="0"/>
                <a:cs typeface="Times New Roman" panose="02020603050405020304" pitchFamily="18" charset="0"/>
              </a:rPr>
              <a:t>678.99</a:t>
            </a:r>
            <a:r>
              <a:rPr lang="en-US" sz="1600" dirty="0">
                <a:latin typeface="Times New Roman" panose="02020603050405020304" pitchFamily="18" charset="0"/>
                <a:cs typeface="Times New Roman" panose="02020603050405020304" pitchFamily="18" charset="0"/>
              </a:rPr>
              <a:t> -&gt; </a:t>
            </a:r>
            <a:r>
              <a:rPr lang="en-US" sz="1600" b="1" dirty="0">
                <a:latin typeface="Times New Roman" panose="02020603050405020304" pitchFamily="18" charset="0"/>
                <a:cs typeface="Times New Roman" panose="02020603050405020304" pitchFamily="18" charset="0"/>
              </a:rPr>
              <a:t>CRITICAL</a:t>
            </a:r>
            <a:r>
              <a:rPr lang="en-US" sz="1600" dirty="0">
                <a:latin typeface="Times New Roman" panose="02020603050405020304" pitchFamily="18" charset="0"/>
                <a:cs typeface="Times New Roman" panose="02020603050405020304" pitchFamily="18" charset="0"/>
              </a:rPr>
              <a:t>  (Jan 22, 14:00 window)</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E5A8D9B-6C72-C639-1CBE-38C7D7AEB107}"/>
              </a:ext>
            </a:extLst>
          </p:cNvPr>
          <p:cNvSpPr txBox="1"/>
          <p:nvPr/>
        </p:nvSpPr>
        <p:spPr>
          <a:xfrm>
            <a:off x="347679" y="5384866"/>
            <a:ext cx="6094682" cy="1525418"/>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Component 6: Power BI Dashboard:</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dashboard is a 3-page interactive report providing a comprehensive threat landscape view.</a:t>
            </a:r>
            <a:endParaRPr lang="en-IN" sz="1600" dirty="0">
              <a:latin typeface="Times New Roman" panose="02020603050405020304" pitchFamily="18" charset="0"/>
              <a:cs typeface="Times New Roman" panose="02020603050405020304" pitchFamily="18" charset="0"/>
            </a:endParaRPr>
          </a:p>
          <a:p>
            <a:pPr>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3887B88D-1BE4-C867-44CA-46E9F4D438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7679" y="6710737"/>
            <a:ext cx="6094684" cy="4559909"/>
          </a:xfrm>
          <a:prstGeom prst="rect">
            <a:avLst/>
          </a:prstGeom>
        </p:spPr>
      </p:pic>
    </p:spTree>
    <p:extLst>
      <p:ext uri="{BB962C8B-B14F-4D97-AF65-F5344CB8AC3E}">
        <p14:creationId xmlns:p14="http://schemas.microsoft.com/office/powerpoint/2010/main" val="729270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7913C-18FF-C600-DCC0-A720CFDC3A3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3365268-FBAA-EDF8-B432-C326A6FFE2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8ED3F7DB-55CF-B592-E5FD-C54009CF35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166C3CD-604D-D431-5102-B4B6E05D7665}"/>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E53764C7-13AE-7DFA-CBF9-445A3042DA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F7C20833-C9D2-E388-292D-A610DAB97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38654337-217D-F57A-1712-2FB4CB6E3927}"/>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ACEF7062-02D6-EE36-4407-8D14F05B9FFE}"/>
              </a:ext>
            </a:extLst>
          </p:cNvPr>
          <p:cNvSpPr txBox="1"/>
          <p:nvPr/>
        </p:nvSpPr>
        <p:spPr>
          <a:xfrm>
            <a:off x="6336777" y="11606538"/>
            <a:ext cx="299259" cy="369332"/>
          </a:xfrm>
          <a:prstGeom prst="rect">
            <a:avLst/>
          </a:prstGeom>
          <a:noFill/>
        </p:spPr>
        <p:txBody>
          <a:bodyPr wrap="square" rtlCol="0">
            <a:spAutoFit/>
          </a:bodyPr>
          <a:lstStyle/>
          <a:p>
            <a:r>
              <a:rPr lang="en-US" dirty="0"/>
              <a:t>7</a:t>
            </a:r>
            <a:endParaRPr lang="en-IN" dirty="0"/>
          </a:p>
        </p:txBody>
      </p:sp>
      <p:sp>
        <p:nvSpPr>
          <p:cNvPr id="2" name="TextBox 1">
            <a:extLst>
              <a:ext uri="{FF2B5EF4-FFF2-40B4-BE49-F238E27FC236}">
                <a16:creationId xmlns:a16="http://schemas.microsoft.com/office/drawing/2014/main" id="{26DA7873-41A8-B9D9-74B9-F4C96DC2D662}"/>
              </a:ext>
            </a:extLst>
          </p:cNvPr>
          <p:cNvSpPr txBox="1"/>
          <p:nvPr/>
        </p:nvSpPr>
        <p:spPr>
          <a:xfrm>
            <a:off x="415638" y="982483"/>
            <a:ext cx="3489032" cy="786754"/>
          </a:xfrm>
          <a:prstGeom prst="rect">
            <a:avLst/>
          </a:prstGeom>
          <a:noFill/>
        </p:spPr>
        <p:txBody>
          <a:bodyPr wrap="non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5.5  Key Design Considerations:</a:t>
            </a:r>
            <a:endParaRPr lang="en-IN" sz="1600" b="1"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5.5.1  Multi-Resolution Time Strategy</a:t>
            </a:r>
            <a:endParaRPr lang="en-IN" sz="1600" b="1"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4842468B-9518-E2D4-3ECF-C2C035E3309D}"/>
              </a:ext>
            </a:extLst>
          </p:cNvPr>
          <p:cNvGraphicFramePr>
            <a:graphicFrameLocks noGrp="1"/>
          </p:cNvGraphicFramePr>
          <p:nvPr>
            <p:extLst>
              <p:ext uri="{D42A27DB-BD31-4B8C-83A1-F6EECF244321}">
                <p14:modId xmlns:p14="http://schemas.microsoft.com/office/powerpoint/2010/main" val="4268600886"/>
              </p:ext>
            </p:extLst>
          </p:nvPr>
        </p:nvGraphicFramePr>
        <p:xfrm>
          <a:off x="364844" y="1908600"/>
          <a:ext cx="6077517" cy="1544925"/>
        </p:xfrm>
        <a:graphic>
          <a:graphicData uri="http://schemas.openxmlformats.org/drawingml/2006/table">
            <a:tbl>
              <a:tblPr firstRow="1" firstCol="1" bandRow="1">
                <a:tableStyleId>{3B4B98B0-60AC-42C2-AFA5-B58CD77FA1E5}</a:tableStyleId>
              </a:tblPr>
              <a:tblGrid>
                <a:gridCol w="2025839">
                  <a:extLst>
                    <a:ext uri="{9D8B030D-6E8A-4147-A177-3AD203B41FA5}">
                      <a16:colId xmlns:a16="http://schemas.microsoft.com/office/drawing/2014/main" val="3588602226"/>
                    </a:ext>
                  </a:extLst>
                </a:gridCol>
                <a:gridCol w="2025839">
                  <a:extLst>
                    <a:ext uri="{9D8B030D-6E8A-4147-A177-3AD203B41FA5}">
                      <a16:colId xmlns:a16="http://schemas.microsoft.com/office/drawing/2014/main" val="1951682813"/>
                    </a:ext>
                  </a:extLst>
                </a:gridCol>
                <a:gridCol w="2025839">
                  <a:extLst>
                    <a:ext uri="{9D8B030D-6E8A-4147-A177-3AD203B41FA5}">
                      <a16:colId xmlns:a16="http://schemas.microsoft.com/office/drawing/2014/main" val="3120310699"/>
                    </a:ext>
                  </a:extLst>
                </a:gridCol>
              </a:tblGrid>
              <a:tr h="215106">
                <a:tc>
                  <a:txBody>
                    <a:bodyPr/>
                    <a:lstStyle/>
                    <a:p>
                      <a:pPr algn="ctr">
                        <a:lnSpc>
                          <a:spcPct val="115000"/>
                        </a:lnSpc>
                        <a:spcAft>
                          <a:spcPts val="1000"/>
                        </a:spcAft>
                        <a:buNone/>
                      </a:pPr>
                      <a:r>
                        <a:rPr lang="en-US" sz="1200">
                          <a:effectLst/>
                        </a:rPr>
                        <a:t>Resolution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Used For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Rationale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97030014"/>
                  </a:ext>
                </a:extLst>
              </a:tr>
              <a:tr h="443273">
                <a:tc>
                  <a:txBody>
                    <a:bodyPr/>
                    <a:lstStyle/>
                    <a:p>
                      <a:pPr>
                        <a:lnSpc>
                          <a:spcPct val="115000"/>
                        </a:lnSpc>
                        <a:spcAft>
                          <a:spcPts val="1000"/>
                        </a:spcAft>
                        <a:buNone/>
                      </a:pPr>
                      <a:r>
                        <a:rPr lang="en-US" sz="1200">
                          <a:effectLst/>
                        </a:rPr>
                        <a:t>1-minute intervals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Alert detection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Fine-grained: catches short DDoS bursts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53655039"/>
                  </a:ext>
                </a:extLst>
              </a:tr>
              <a:tr h="443273">
                <a:tc>
                  <a:txBody>
                    <a:bodyPr/>
                    <a:lstStyle/>
                    <a:p>
                      <a:pPr>
                        <a:lnSpc>
                          <a:spcPct val="115000"/>
                        </a:lnSpc>
                        <a:spcAft>
                          <a:spcPts val="1000"/>
                        </a:spcAft>
                        <a:buNone/>
                      </a:pPr>
                      <a:r>
                        <a:rPr lang="en-US" sz="1200">
                          <a:effectLst/>
                        </a:rPr>
                        <a:t>10-minute rolling win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Baseline computation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Balances noise smoothing vs responsiveness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98064103"/>
                  </a:ext>
                </a:extLst>
              </a:tr>
              <a:tr h="443273">
                <a:tc>
                  <a:txBody>
                    <a:bodyPr/>
                    <a:lstStyle/>
                    <a:p>
                      <a:pPr>
                        <a:lnSpc>
                          <a:spcPct val="115000"/>
                        </a:lnSpc>
                        <a:spcAft>
                          <a:spcPts val="1000"/>
                        </a:spcAft>
                        <a:buNone/>
                      </a:pPr>
                      <a:r>
                        <a:rPr lang="en-US" sz="1200">
                          <a:effectLst/>
                        </a:rPr>
                        <a:t>30-minute windows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Threat reporting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Groups related alerts into analyst-friendly periods</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13195873"/>
                  </a:ext>
                </a:extLst>
              </a:tr>
            </a:tbl>
          </a:graphicData>
        </a:graphic>
      </p:graphicFrame>
      <p:sp>
        <p:nvSpPr>
          <p:cNvPr id="4" name="TextBox 3">
            <a:extLst>
              <a:ext uri="{FF2B5EF4-FFF2-40B4-BE49-F238E27FC236}">
                <a16:creationId xmlns:a16="http://schemas.microsoft.com/office/drawing/2014/main" id="{0B852663-1742-65EE-78C3-E548A5A81234}"/>
              </a:ext>
            </a:extLst>
          </p:cNvPr>
          <p:cNvSpPr txBox="1"/>
          <p:nvPr/>
        </p:nvSpPr>
        <p:spPr>
          <a:xfrm>
            <a:off x="415638" y="3427123"/>
            <a:ext cx="6026723" cy="4197559"/>
          </a:xfrm>
          <a:prstGeom prst="rect">
            <a:avLst/>
          </a:prstGeom>
          <a:noFill/>
        </p:spPr>
        <p:txBody>
          <a:bodyPr wrap="square"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A single anomalous minute could be random noise. Multiple anomalous minutes within a 30-minute window strongly indicate a sustained attack pattern.</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5.5.2  Self-Adapting Baseline:</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rolling mean automatically adjusts to:</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Time-of-day patterns (peak hours vs overnight lulls)</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Day-of-week traffic cycles</a:t>
            </a:r>
            <a:endParaRPr lang="en-IN" sz="1600" dirty="0">
              <a:latin typeface="Times New Roman" panose="02020603050405020304" pitchFamily="18" charset="0"/>
              <a:cs typeface="Times New Roman" panose="02020603050405020304" pitchFamily="18" charset="0"/>
            </a:endParaRPr>
          </a:p>
          <a:p>
            <a:pPr lvl="0">
              <a:lnSpc>
                <a:spcPct val="150000"/>
              </a:lnSpc>
            </a:pPr>
            <a:r>
              <a:rPr lang="en-US" sz="1600" dirty="0">
                <a:latin typeface="Times New Roman" panose="02020603050405020304" pitchFamily="18" charset="0"/>
                <a:cs typeface="Times New Roman" panose="02020603050405020304" pitchFamily="18" charset="0"/>
              </a:rPr>
              <a:t>Long-term gradual traffic growth</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makes the system </a:t>
            </a:r>
            <a:r>
              <a:rPr lang="en-US" sz="1600" b="1" dirty="0">
                <a:latin typeface="Times New Roman" panose="02020603050405020304" pitchFamily="18" charset="0"/>
                <a:cs typeface="Times New Roman" panose="02020603050405020304" pitchFamily="18" charset="0"/>
              </a:rPr>
              <a:t>zero-configuration</a:t>
            </a:r>
            <a:r>
              <a:rPr lang="en-US" sz="1600" dirty="0">
                <a:latin typeface="Times New Roman" panose="02020603050405020304" pitchFamily="18" charset="0"/>
                <a:cs typeface="Times New Roman" panose="02020603050405020304" pitchFamily="18" charset="0"/>
              </a:rPr>
              <a:t>: no manual threshold updates are needed.</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5.5.3  Algorithm Selection Justification:</a:t>
            </a:r>
            <a:endParaRPr lang="en-IN"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C7F86665-542A-236C-4C7A-C84E75761269}"/>
              </a:ext>
            </a:extLst>
          </p:cNvPr>
          <p:cNvGraphicFramePr>
            <a:graphicFrameLocks noGrp="1"/>
          </p:cNvGraphicFramePr>
          <p:nvPr>
            <p:extLst>
              <p:ext uri="{D42A27DB-BD31-4B8C-83A1-F6EECF244321}">
                <p14:modId xmlns:p14="http://schemas.microsoft.com/office/powerpoint/2010/main" val="3220489386"/>
              </p:ext>
            </p:extLst>
          </p:nvPr>
        </p:nvGraphicFramePr>
        <p:xfrm>
          <a:off x="364844" y="7670158"/>
          <a:ext cx="6077517" cy="2613242"/>
        </p:xfrm>
        <a:graphic>
          <a:graphicData uri="http://schemas.openxmlformats.org/drawingml/2006/table">
            <a:tbl>
              <a:tblPr firstRow="1" firstCol="1" bandRow="1">
                <a:tableStyleId>{3B4B98B0-60AC-42C2-AFA5-B58CD77FA1E5}</a:tableStyleId>
              </a:tblPr>
              <a:tblGrid>
                <a:gridCol w="2025839">
                  <a:extLst>
                    <a:ext uri="{9D8B030D-6E8A-4147-A177-3AD203B41FA5}">
                      <a16:colId xmlns:a16="http://schemas.microsoft.com/office/drawing/2014/main" val="1782618790"/>
                    </a:ext>
                  </a:extLst>
                </a:gridCol>
                <a:gridCol w="2025839">
                  <a:extLst>
                    <a:ext uri="{9D8B030D-6E8A-4147-A177-3AD203B41FA5}">
                      <a16:colId xmlns:a16="http://schemas.microsoft.com/office/drawing/2014/main" val="3536834346"/>
                    </a:ext>
                  </a:extLst>
                </a:gridCol>
                <a:gridCol w="2025839">
                  <a:extLst>
                    <a:ext uri="{9D8B030D-6E8A-4147-A177-3AD203B41FA5}">
                      <a16:colId xmlns:a16="http://schemas.microsoft.com/office/drawing/2014/main" val="3555190604"/>
                    </a:ext>
                  </a:extLst>
                </a:gridCol>
              </a:tblGrid>
              <a:tr h="282730">
                <a:tc>
                  <a:txBody>
                    <a:bodyPr/>
                    <a:lstStyle/>
                    <a:p>
                      <a:pPr algn="ctr">
                        <a:lnSpc>
                          <a:spcPct val="150000"/>
                        </a:lnSpc>
                        <a:spcAft>
                          <a:spcPts val="1000"/>
                        </a:spcAft>
                        <a:buNone/>
                      </a:pPr>
                      <a:r>
                        <a:rPr lang="en-US" sz="1200">
                          <a:effectLst/>
                        </a:rPr>
                        <a:t>Approach</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Advantage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Disadvantage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98984666"/>
                  </a:ext>
                </a:extLst>
              </a:tr>
              <a:tr h="582628">
                <a:tc>
                  <a:txBody>
                    <a:bodyPr/>
                    <a:lstStyle/>
                    <a:p>
                      <a:pPr>
                        <a:lnSpc>
                          <a:spcPct val="150000"/>
                        </a:lnSpc>
                        <a:spcAft>
                          <a:spcPts val="1000"/>
                        </a:spcAft>
                        <a:buNone/>
                      </a:pPr>
                      <a:r>
                        <a:rPr lang="en-US" sz="1200">
                          <a:effectLst/>
                        </a:rPr>
                        <a:t>Fixed threshold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Simple to implement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Fails across different traffic load levels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971397188"/>
                  </a:ext>
                </a:extLst>
              </a:tr>
              <a:tr h="582628">
                <a:tc>
                  <a:txBody>
                    <a:bodyPr/>
                    <a:lstStyle/>
                    <a:p>
                      <a:pPr>
                        <a:lnSpc>
                          <a:spcPct val="150000"/>
                        </a:lnSpc>
                        <a:spcAft>
                          <a:spcPts val="1000"/>
                        </a:spcAft>
                        <a:buNone/>
                      </a:pPr>
                      <a:r>
                        <a:rPr lang="en-US" sz="1200">
                          <a:effectLst/>
                        </a:rPr>
                        <a:t>Z-score (chosen)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Self-adapting, interpretable, no training data needed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Assumes local normality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771177133"/>
                  </a:ext>
                </a:extLst>
              </a:tr>
              <a:tr h="582628">
                <a:tc>
                  <a:txBody>
                    <a:bodyPr/>
                    <a:lstStyle/>
                    <a:p>
                      <a:pPr>
                        <a:lnSpc>
                          <a:spcPct val="150000"/>
                        </a:lnSpc>
                        <a:spcAft>
                          <a:spcPts val="1000"/>
                        </a:spcAft>
                        <a:buNone/>
                      </a:pPr>
                      <a:r>
                        <a:rPr lang="en-US" sz="1200" dirty="0">
                          <a:effectLst/>
                        </a:rPr>
                        <a:t>Isolation Forest (ML)</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Learns complex multi-dimensional patterns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Requires labelled training data</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98072078"/>
                  </a:ext>
                </a:extLst>
              </a:tr>
              <a:tr h="582628">
                <a:tc>
                  <a:txBody>
                    <a:bodyPr/>
                    <a:lstStyle/>
                    <a:p>
                      <a:pPr>
                        <a:lnSpc>
                          <a:spcPct val="150000"/>
                        </a:lnSpc>
                        <a:spcAft>
                          <a:spcPts val="1000"/>
                        </a:spcAft>
                        <a:buNone/>
                      </a:pPr>
                      <a:r>
                        <a:rPr lang="en-US" sz="1200">
                          <a:effectLst/>
                        </a:rPr>
                        <a:t>LSTM (Deep Learning)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Captures long-range temporal dependencies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Needs large labelled dataset; black-box</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2346055"/>
                  </a:ext>
                </a:extLst>
              </a:tr>
            </a:tbl>
          </a:graphicData>
        </a:graphic>
      </p:graphicFrame>
    </p:spTree>
    <p:extLst>
      <p:ext uri="{BB962C8B-B14F-4D97-AF65-F5344CB8AC3E}">
        <p14:creationId xmlns:p14="http://schemas.microsoft.com/office/powerpoint/2010/main" val="269826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15CBA-8857-357C-FEEE-5A65A6CE0C0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26A5D8-E45A-8FB3-F8B1-475322BD45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4E3FF562-AB48-5D44-C319-7766D6E2AC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7991AB80-4C70-1DCB-9D54-5DAA0A969553}"/>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C468EEF0-E91D-75B4-4D8E-30FC666B4A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E8C31BC-7C87-78C6-0977-794FE5E802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84A3B3B5-8D78-91CB-8EFE-3B9DF6D6AC4B}"/>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B58C5E07-C9C1-A28F-0699-F0B8B623BA44}"/>
              </a:ext>
            </a:extLst>
          </p:cNvPr>
          <p:cNvSpPr txBox="1"/>
          <p:nvPr/>
        </p:nvSpPr>
        <p:spPr>
          <a:xfrm>
            <a:off x="6350917" y="11597702"/>
            <a:ext cx="282635" cy="369332"/>
          </a:xfrm>
          <a:prstGeom prst="rect">
            <a:avLst/>
          </a:prstGeom>
          <a:noFill/>
        </p:spPr>
        <p:txBody>
          <a:bodyPr wrap="square" rtlCol="0">
            <a:spAutoFit/>
          </a:bodyPr>
          <a:lstStyle/>
          <a:p>
            <a:r>
              <a:rPr lang="en-US" dirty="0"/>
              <a:t>8</a:t>
            </a:r>
            <a:endParaRPr lang="en-IN" dirty="0"/>
          </a:p>
        </p:txBody>
      </p:sp>
      <p:sp>
        <p:nvSpPr>
          <p:cNvPr id="2" name="TextBox 1">
            <a:extLst>
              <a:ext uri="{FF2B5EF4-FFF2-40B4-BE49-F238E27FC236}">
                <a16:creationId xmlns:a16="http://schemas.microsoft.com/office/drawing/2014/main" id="{B299ACDD-B93F-71F0-F35A-0F51A70532CD}"/>
              </a:ext>
            </a:extLst>
          </p:cNvPr>
          <p:cNvSpPr txBox="1"/>
          <p:nvPr/>
        </p:nvSpPr>
        <p:spPr>
          <a:xfrm>
            <a:off x="415639" y="876942"/>
            <a:ext cx="6026724" cy="1987082"/>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6. API CATALOGUE</a:t>
            </a:r>
            <a:endParaRPr lang="en-IN" sz="20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This system is a self-contained batch analytics pipeline with no REST or HTTP endpoints. The following documents all functional interfaces between internal components:</a:t>
            </a:r>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309135A3-3268-9583-D6BF-BD0C19DAF142}"/>
              </a:ext>
            </a:extLst>
          </p:cNvPr>
          <p:cNvGraphicFramePr>
            <a:graphicFrameLocks noGrp="1"/>
          </p:cNvGraphicFramePr>
          <p:nvPr>
            <p:extLst>
              <p:ext uri="{D42A27DB-BD31-4B8C-83A1-F6EECF244321}">
                <p14:modId xmlns:p14="http://schemas.microsoft.com/office/powerpoint/2010/main" val="553241116"/>
              </p:ext>
            </p:extLst>
          </p:nvPr>
        </p:nvGraphicFramePr>
        <p:xfrm>
          <a:off x="415637" y="2938556"/>
          <a:ext cx="6026725" cy="3490727"/>
        </p:xfrm>
        <a:graphic>
          <a:graphicData uri="http://schemas.openxmlformats.org/drawingml/2006/table">
            <a:tbl>
              <a:tblPr firstRow="1" firstCol="1" bandRow="1">
                <a:tableStyleId>{3B4B98B0-60AC-42C2-AFA5-B58CD77FA1E5}</a:tableStyleId>
              </a:tblPr>
              <a:tblGrid>
                <a:gridCol w="1205345">
                  <a:extLst>
                    <a:ext uri="{9D8B030D-6E8A-4147-A177-3AD203B41FA5}">
                      <a16:colId xmlns:a16="http://schemas.microsoft.com/office/drawing/2014/main" val="3844965026"/>
                    </a:ext>
                  </a:extLst>
                </a:gridCol>
                <a:gridCol w="1205345">
                  <a:extLst>
                    <a:ext uri="{9D8B030D-6E8A-4147-A177-3AD203B41FA5}">
                      <a16:colId xmlns:a16="http://schemas.microsoft.com/office/drawing/2014/main" val="1961145740"/>
                    </a:ext>
                  </a:extLst>
                </a:gridCol>
                <a:gridCol w="1205345">
                  <a:extLst>
                    <a:ext uri="{9D8B030D-6E8A-4147-A177-3AD203B41FA5}">
                      <a16:colId xmlns:a16="http://schemas.microsoft.com/office/drawing/2014/main" val="742662981"/>
                    </a:ext>
                  </a:extLst>
                </a:gridCol>
                <a:gridCol w="1205345">
                  <a:extLst>
                    <a:ext uri="{9D8B030D-6E8A-4147-A177-3AD203B41FA5}">
                      <a16:colId xmlns:a16="http://schemas.microsoft.com/office/drawing/2014/main" val="3694517075"/>
                    </a:ext>
                  </a:extLst>
                </a:gridCol>
                <a:gridCol w="1205345">
                  <a:extLst>
                    <a:ext uri="{9D8B030D-6E8A-4147-A177-3AD203B41FA5}">
                      <a16:colId xmlns:a16="http://schemas.microsoft.com/office/drawing/2014/main" val="3135167319"/>
                    </a:ext>
                  </a:extLst>
                </a:gridCol>
              </a:tblGrid>
              <a:tr h="199364">
                <a:tc>
                  <a:txBody>
                    <a:bodyPr/>
                    <a:lstStyle/>
                    <a:p>
                      <a:pPr algn="ctr">
                        <a:lnSpc>
                          <a:spcPct val="115000"/>
                        </a:lnSpc>
                        <a:spcAft>
                          <a:spcPts val="1000"/>
                        </a:spcAft>
                        <a:buNone/>
                      </a:pPr>
                      <a:r>
                        <a:rPr lang="en-US" sz="1200">
                          <a:effectLst/>
                        </a:rPr>
                        <a:t>Interface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From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To</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Data Exchanged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Format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842383581"/>
                  </a:ext>
                </a:extLst>
              </a:tr>
              <a:tr h="410833">
                <a:tc>
                  <a:txBody>
                    <a:bodyPr/>
                    <a:lstStyle/>
                    <a:p>
                      <a:pPr>
                        <a:lnSpc>
                          <a:spcPct val="115000"/>
                        </a:lnSpc>
                        <a:spcAft>
                          <a:spcPts val="1000"/>
                        </a:spcAft>
                        <a:buNone/>
                      </a:pPr>
                      <a:r>
                        <a:rPr lang="en-US" sz="1200">
                          <a:effectLst/>
                        </a:rPr>
                        <a:t>Clean DataFrame handoff</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LLD Pipeline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Time-Series Aggregator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10.3M row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58020756"/>
                  </a:ext>
                </a:extLst>
              </a:tr>
              <a:tr h="410833">
                <a:tc>
                  <a:txBody>
                    <a:bodyPr/>
                    <a:lstStyle/>
                    <a:p>
                      <a:pPr>
                        <a:lnSpc>
                          <a:spcPct val="115000"/>
                        </a:lnSpc>
                        <a:spcAft>
                          <a:spcPts val="1000"/>
                        </a:spcAft>
                        <a:buNone/>
                      </a:pPr>
                      <a:r>
                        <a:rPr lang="en-US" sz="1200">
                          <a:effectLst/>
                        </a:rPr>
                        <a:t>Traffic series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Time-Series Agg.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Feature Engineer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6,686 x 2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38434548"/>
                  </a:ext>
                </a:extLst>
              </a:tr>
              <a:tr h="410833">
                <a:tc>
                  <a:txBody>
                    <a:bodyPr/>
                    <a:lstStyle/>
                    <a:p>
                      <a:pPr>
                        <a:lnSpc>
                          <a:spcPct val="115000"/>
                        </a:lnSpc>
                        <a:spcAft>
                          <a:spcPts val="1000"/>
                        </a:spcAft>
                        <a:buNone/>
                      </a:pPr>
                      <a:r>
                        <a:rPr lang="en-US" sz="1200">
                          <a:effectLst/>
                        </a:rPr>
                        <a:t>Feature matrix</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Feature Engineer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Anomaly Detector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6,686 x 7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99122309"/>
                  </a:ext>
                </a:extLst>
              </a:tr>
              <a:tr h="410833">
                <a:tc>
                  <a:txBody>
                    <a:bodyPr/>
                    <a:lstStyle/>
                    <a:p>
                      <a:pPr>
                        <a:lnSpc>
                          <a:spcPct val="115000"/>
                        </a:lnSpc>
                        <a:spcAft>
                          <a:spcPts val="1000"/>
                        </a:spcAft>
                        <a:buNone/>
                      </a:pPr>
                      <a:r>
                        <a:rPr lang="en-US" sz="1200">
                          <a:effectLst/>
                        </a:rPr>
                        <a:t>Alert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Anomaly Detector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Window Aggregator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6,686 x 8 (with alert)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25876401"/>
                  </a:ext>
                </a:extLst>
              </a:tr>
              <a:tr h="410833">
                <a:tc>
                  <a:txBody>
                    <a:bodyPr/>
                    <a:lstStyle/>
                    <a:p>
                      <a:pPr>
                        <a:lnSpc>
                          <a:spcPct val="115000"/>
                        </a:lnSpc>
                        <a:spcAft>
                          <a:spcPts val="1000"/>
                        </a:spcAft>
                        <a:buNone/>
                      </a:pPr>
                      <a:r>
                        <a:rPr lang="en-US" sz="1200">
                          <a:effectLst/>
                        </a:rPr>
                        <a:t>Window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Window Aggregator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Risk Scorer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~223 x 5 DataFrame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pandas in-memory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58263814"/>
                  </a:ext>
                </a:extLst>
              </a:tr>
              <a:tr h="199364">
                <a:tc>
                  <a:txBody>
                    <a:bodyPr/>
                    <a:lstStyle/>
                    <a:p>
                      <a:pPr>
                        <a:lnSpc>
                          <a:spcPct val="115000"/>
                        </a:lnSpc>
                        <a:spcAft>
                          <a:spcPts val="1000"/>
                        </a:spcAft>
                        <a:buNone/>
                      </a:pPr>
                      <a:r>
                        <a:rPr lang="en-US" sz="1200">
                          <a:effectLst/>
                        </a:rPr>
                        <a:t>Export to files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Risk Scorer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File System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2 XLS output files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a:t>
                      </a:r>
                      <a:r>
                        <a:rPr lang="en-US" sz="1200" dirty="0" err="1">
                          <a:effectLst/>
                        </a:rPr>
                        <a:t>xls</a:t>
                      </a:r>
                      <a:r>
                        <a:rPr lang="en-US" sz="1200" dirty="0">
                          <a:effectLst/>
                        </a:rPr>
                        <a:t> Excel format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32562527"/>
                  </a:ext>
                </a:extLst>
              </a:tr>
              <a:tr h="410833">
                <a:tc>
                  <a:txBody>
                    <a:bodyPr/>
                    <a:lstStyle/>
                    <a:p>
                      <a:pPr>
                        <a:lnSpc>
                          <a:spcPct val="115000"/>
                        </a:lnSpc>
                        <a:spcAft>
                          <a:spcPts val="1000"/>
                        </a:spcAft>
                        <a:buNone/>
                      </a:pPr>
                      <a:r>
                        <a:rPr lang="en-US" sz="1200">
                          <a:effectLst/>
                        </a:rPr>
                        <a:t>Dashboard import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File System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Power BI</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2 structured datasets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Excel file import</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46962949"/>
                  </a:ext>
                </a:extLst>
              </a:tr>
            </a:tbl>
          </a:graphicData>
        </a:graphic>
      </p:graphicFrame>
      <p:sp>
        <p:nvSpPr>
          <p:cNvPr id="4" name="TextBox 3">
            <a:extLst>
              <a:ext uri="{FF2B5EF4-FFF2-40B4-BE49-F238E27FC236}">
                <a16:creationId xmlns:a16="http://schemas.microsoft.com/office/drawing/2014/main" id="{BDD554B6-16EA-DD16-1C2D-E2E52E43F896}"/>
              </a:ext>
            </a:extLst>
          </p:cNvPr>
          <p:cNvSpPr txBox="1"/>
          <p:nvPr/>
        </p:nvSpPr>
        <p:spPr>
          <a:xfrm>
            <a:off x="415637" y="6438889"/>
            <a:ext cx="6026725" cy="2033249"/>
          </a:xfrm>
          <a:prstGeom prst="rect">
            <a:avLst/>
          </a:prstGeom>
          <a:noFill/>
        </p:spPr>
        <p:txBody>
          <a:bodyPr wrap="square" rtlCol="0">
            <a:spAutoFit/>
          </a:bodyPr>
          <a:lstStyle/>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7. DATA DESIGN</a:t>
            </a:r>
            <a:endParaRPr lang="en-IN" sz="20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7.1  Data Model:</a:t>
            </a:r>
            <a:endParaRPr lang="en-IN"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7.1.1  Feature-Engineered Traffic </a:t>
            </a:r>
            <a:r>
              <a:rPr lang="en-US" sz="1600" b="1" dirty="0" err="1">
                <a:latin typeface="Times New Roman" panose="02020603050405020304" pitchFamily="18" charset="0"/>
                <a:cs typeface="Times New Roman" panose="02020603050405020304" pitchFamily="18" charset="0"/>
              </a:rPr>
              <a:t>DataFrame</a:t>
            </a:r>
            <a:r>
              <a:rPr lang="en-US" sz="1600" b="1" dirty="0">
                <a:latin typeface="Times New Roman" panose="02020603050405020304" pitchFamily="18" charset="0"/>
                <a:cs typeface="Times New Roman" panose="02020603050405020304" pitchFamily="18" charset="0"/>
              </a:rPr>
              <a:t> (Central HLD Data Structure)</a:t>
            </a:r>
            <a:endParaRPr lang="en-IN" sz="1600" dirty="0">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0115F0F4-B1FC-267D-3FAB-FCE9D26EE9B7}"/>
              </a:ext>
            </a:extLst>
          </p:cNvPr>
          <p:cNvGraphicFramePr>
            <a:graphicFrameLocks noGrp="1"/>
          </p:cNvGraphicFramePr>
          <p:nvPr>
            <p:extLst>
              <p:ext uri="{D42A27DB-BD31-4B8C-83A1-F6EECF244321}">
                <p14:modId xmlns:p14="http://schemas.microsoft.com/office/powerpoint/2010/main" val="1419073471"/>
              </p:ext>
            </p:extLst>
          </p:nvPr>
        </p:nvGraphicFramePr>
        <p:xfrm>
          <a:off x="415637" y="8510455"/>
          <a:ext cx="6026724" cy="3258126"/>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2592215616"/>
                    </a:ext>
                  </a:extLst>
                </a:gridCol>
                <a:gridCol w="2008908">
                  <a:extLst>
                    <a:ext uri="{9D8B030D-6E8A-4147-A177-3AD203B41FA5}">
                      <a16:colId xmlns:a16="http://schemas.microsoft.com/office/drawing/2014/main" val="2112958433"/>
                    </a:ext>
                  </a:extLst>
                </a:gridCol>
                <a:gridCol w="2008908">
                  <a:extLst>
                    <a:ext uri="{9D8B030D-6E8A-4147-A177-3AD203B41FA5}">
                      <a16:colId xmlns:a16="http://schemas.microsoft.com/office/drawing/2014/main" val="3028511963"/>
                    </a:ext>
                  </a:extLst>
                </a:gridCol>
              </a:tblGrid>
              <a:tr h="0">
                <a:tc>
                  <a:txBody>
                    <a:bodyPr/>
                    <a:lstStyle/>
                    <a:p>
                      <a:pPr algn="ctr">
                        <a:lnSpc>
                          <a:spcPct val="115000"/>
                        </a:lnSpc>
                        <a:spcAft>
                          <a:spcPts val="1000"/>
                        </a:spcAft>
                        <a:buNone/>
                      </a:pPr>
                      <a:r>
                        <a:rPr lang="en-US" sz="1200">
                          <a:effectLst/>
                        </a:rPr>
                        <a:t>Column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Type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Description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11175536"/>
                  </a:ext>
                </a:extLst>
              </a:tr>
              <a:tr h="0">
                <a:tc>
                  <a:txBody>
                    <a:bodyPr/>
                    <a:lstStyle/>
                    <a:p>
                      <a:pPr>
                        <a:lnSpc>
                          <a:spcPct val="115000"/>
                        </a:lnSpc>
                        <a:spcAft>
                          <a:spcPts val="1000"/>
                        </a:spcAft>
                        <a:buNone/>
                      </a:pPr>
                      <a:r>
                        <a:rPr lang="en-US" sz="1200">
                          <a:effectLst/>
                        </a:rPr>
                        <a:t>Time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datetime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Start of 1-minute interval (UTC+03:30)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63585977"/>
                  </a:ext>
                </a:extLst>
              </a:tr>
              <a:tr h="0">
                <a:tc>
                  <a:txBody>
                    <a:bodyPr/>
                    <a:lstStyle/>
                    <a:p>
                      <a:pPr>
                        <a:lnSpc>
                          <a:spcPct val="115000"/>
                        </a:lnSpc>
                        <a:spcAft>
                          <a:spcPts val="1000"/>
                        </a:spcAft>
                        <a:buNone/>
                      </a:pPr>
                      <a:r>
                        <a:rPr lang="en-US" sz="1200">
                          <a:effectLst/>
                        </a:rPr>
                        <a:t>Bytes_Sent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Total bytes transmitted in this minute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67252515"/>
                  </a:ext>
                </a:extLst>
              </a:tr>
              <a:tr h="0">
                <a:tc>
                  <a:txBody>
                    <a:bodyPr/>
                    <a:lstStyle/>
                    <a:p>
                      <a:pPr>
                        <a:lnSpc>
                          <a:spcPct val="115000"/>
                        </a:lnSpc>
                        <a:spcAft>
                          <a:spcPts val="1000"/>
                        </a:spcAft>
                        <a:buNone/>
                      </a:pPr>
                      <a:r>
                        <a:rPr lang="en-US" sz="1200">
                          <a:effectLst/>
                        </a:rPr>
                        <a:t>rolling_mean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Mean of Bytes_Sent over previous 10 minutes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13410048"/>
                  </a:ext>
                </a:extLst>
              </a:tr>
              <a:tr h="0">
                <a:tc>
                  <a:txBody>
                    <a:bodyPr/>
                    <a:lstStyle/>
                    <a:p>
                      <a:pPr>
                        <a:lnSpc>
                          <a:spcPct val="115000"/>
                        </a:lnSpc>
                        <a:spcAft>
                          <a:spcPts val="1000"/>
                        </a:spcAft>
                        <a:buNone/>
                      </a:pPr>
                      <a:r>
                        <a:rPr lang="en-US" sz="1200">
                          <a:effectLst/>
                        </a:rPr>
                        <a:t>rolling_std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Std dev of Bytes_Sent over previous 10 minutes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502280149"/>
                  </a:ext>
                </a:extLst>
              </a:tr>
              <a:tr h="0">
                <a:tc>
                  <a:txBody>
                    <a:bodyPr/>
                    <a:lstStyle/>
                    <a:p>
                      <a:pPr>
                        <a:lnSpc>
                          <a:spcPct val="115000"/>
                        </a:lnSpc>
                        <a:spcAft>
                          <a:spcPts val="1000"/>
                        </a:spcAft>
                        <a:buNone/>
                      </a:pPr>
                      <a:r>
                        <a:rPr lang="en-US" sz="1200">
                          <a:effectLst/>
                        </a:rPr>
                        <a:t>z_score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(Bytes_Sent - rolling_mean) / rolling_std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152083263"/>
                  </a:ext>
                </a:extLst>
              </a:tr>
              <a:tr h="0">
                <a:tc>
                  <a:txBody>
                    <a:bodyPr/>
                    <a:lstStyle/>
                    <a:p>
                      <a:pPr>
                        <a:lnSpc>
                          <a:spcPct val="115000"/>
                        </a:lnSpc>
                        <a:spcAft>
                          <a:spcPts val="1000"/>
                        </a:spcAft>
                        <a:buNone/>
                      </a:pPr>
                      <a:r>
                        <a:rPr lang="en-US" sz="1200">
                          <a:effectLst/>
                        </a:rPr>
                        <a:t>dynamic_threshold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rolling_mean + 3 x rolling_std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120253024"/>
                  </a:ext>
                </a:extLst>
              </a:tr>
              <a:tr h="0">
                <a:tc>
                  <a:txBody>
                    <a:bodyPr/>
                    <a:lstStyle/>
                    <a:p>
                      <a:pPr>
                        <a:lnSpc>
                          <a:spcPct val="115000"/>
                        </a:lnSpc>
                        <a:spcAft>
                          <a:spcPts val="1000"/>
                        </a:spcAft>
                        <a:buNone/>
                      </a:pPr>
                      <a:r>
                        <a:rPr lang="en-US" sz="1200">
                          <a:effectLst/>
                        </a:rPr>
                        <a:t>pct_change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 change in </a:t>
                      </a:r>
                      <a:r>
                        <a:rPr lang="en-US" sz="1200" dirty="0" err="1">
                          <a:effectLst/>
                        </a:rPr>
                        <a:t>Bytes_Sent</a:t>
                      </a:r>
                      <a:r>
                        <a:rPr lang="en-US" sz="1200" dirty="0">
                          <a:effectLst/>
                        </a:rPr>
                        <a:t> from previous minute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71213714"/>
                  </a:ext>
                </a:extLst>
              </a:tr>
              <a:tr h="0">
                <a:tc>
                  <a:txBody>
                    <a:bodyPr/>
                    <a:lstStyle/>
                    <a:p>
                      <a:pPr>
                        <a:lnSpc>
                          <a:spcPct val="115000"/>
                        </a:lnSpc>
                        <a:spcAft>
                          <a:spcPts val="1000"/>
                        </a:spcAft>
                        <a:buNone/>
                      </a:pPr>
                      <a:r>
                        <a:rPr lang="en-US" sz="1200">
                          <a:effectLst/>
                        </a:rPr>
                        <a:t>alert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bool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True if abs(</a:t>
                      </a:r>
                      <a:r>
                        <a:rPr lang="en-US" sz="1200" dirty="0" err="1">
                          <a:effectLst/>
                        </a:rPr>
                        <a:t>z_score</a:t>
                      </a:r>
                      <a:r>
                        <a:rPr lang="en-US" sz="1200" dirty="0">
                          <a:effectLst/>
                        </a:rPr>
                        <a:t>) &gt; 1.5</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72166135"/>
                  </a:ext>
                </a:extLst>
              </a:tr>
            </a:tbl>
          </a:graphicData>
        </a:graphic>
      </p:graphicFrame>
    </p:spTree>
    <p:extLst>
      <p:ext uri="{BB962C8B-B14F-4D97-AF65-F5344CB8AC3E}">
        <p14:creationId xmlns:p14="http://schemas.microsoft.com/office/powerpoint/2010/main" val="1873216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9BB2-7C48-A3F4-FA45-07F8BC99451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A7D9834-4960-0825-3202-C37FECF96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52DC9CDB-C31E-916C-2910-C9DC94D9D7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36E9509A-57D7-8F20-996E-F0967BCBF16F}"/>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C61EFA93-4D83-8887-6474-FFD86BC8C4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30572B18-E55F-8050-44C9-644149DA3B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0DB77A8-B05A-086B-3903-4BB6911E8BD4}"/>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A6B08789-1524-0AA6-E1C7-1529938DB9EC}"/>
              </a:ext>
            </a:extLst>
          </p:cNvPr>
          <p:cNvSpPr txBox="1"/>
          <p:nvPr/>
        </p:nvSpPr>
        <p:spPr>
          <a:xfrm>
            <a:off x="6350919" y="11606522"/>
            <a:ext cx="290943" cy="369332"/>
          </a:xfrm>
          <a:prstGeom prst="rect">
            <a:avLst/>
          </a:prstGeom>
          <a:noFill/>
        </p:spPr>
        <p:txBody>
          <a:bodyPr wrap="square" rtlCol="0">
            <a:spAutoFit/>
          </a:bodyPr>
          <a:lstStyle/>
          <a:p>
            <a:r>
              <a:rPr lang="en-US" dirty="0"/>
              <a:t>9</a:t>
            </a:r>
            <a:endParaRPr lang="en-IN" dirty="0"/>
          </a:p>
        </p:txBody>
      </p:sp>
      <p:sp>
        <p:nvSpPr>
          <p:cNvPr id="2" name="TextBox 1">
            <a:extLst>
              <a:ext uri="{FF2B5EF4-FFF2-40B4-BE49-F238E27FC236}">
                <a16:creationId xmlns:a16="http://schemas.microsoft.com/office/drawing/2014/main" id="{1F5C6F14-2E6C-AE1B-C9C0-3DB2B946977D}"/>
              </a:ext>
            </a:extLst>
          </p:cNvPr>
          <p:cNvSpPr txBox="1"/>
          <p:nvPr/>
        </p:nvSpPr>
        <p:spPr>
          <a:xfrm>
            <a:off x="415638" y="1002384"/>
            <a:ext cx="3946593"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7.1.2  Suspicious Window </a:t>
            </a:r>
            <a:r>
              <a:rPr lang="en-US" b="1" dirty="0" err="1">
                <a:latin typeface="Times New Roman" panose="02020603050405020304" pitchFamily="18" charset="0"/>
                <a:cs typeface="Times New Roman" panose="02020603050405020304" pitchFamily="18" charset="0"/>
              </a:rPr>
              <a:t>DataFrame</a:t>
            </a:r>
            <a:r>
              <a:rPr lang="en-US" b="1"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896B5E02-ED8C-2D91-B065-E78B7B1BC00A}"/>
              </a:ext>
            </a:extLst>
          </p:cNvPr>
          <p:cNvGraphicFramePr>
            <a:graphicFrameLocks noGrp="1"/>
          </p:cNvGraphicFramePr>
          <p:nvPr>
            <p:extLst>
              <p:ext uri="{D42A27DB-BD31-4B8C-83A1-F6EECF244321}">
                <p14:modId xmlns:p14="http://schemas.microsoft.com/office/powerpoint/2010/main" val="1756925028"/>
              </p:ext>
            </p:extLst>
          </p:nvPr>
        </p:nvGraphicFramePr>
        <p:xfrm>
          <a:off x="415638" y="1457032"/>
          <a:ext cx="6026724" cy="3059688"/>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1185193726"/>
                    </a:ext>
                  </a:extLst>
                </a:gridCol>
                <a:gridCol w="2008908">
                  <a:extLst>
                    <a:ext uri="{9D8B030D-6E8A-4147-A177-3AD203B41FA5}">
                      <a16:colId xmlns:a16="http://schemas.microsoft.com/office/drawing/2014/main" val="2596965407"/>
                    </a:ext>
                  </a:extLst>
                </a:gridCol>
                <a:gridCol w="2008908">
                  <a:extLst>
                    <a:ext uri="{9D8B030D-6E8A-4147-A177-3AD203B41FA5}">
                      <a16:colId xmlns:a16="http://schemas.microsoft.com/office/drawing/2014/main" val="1556944871"/>
                    </a:ext>
                  </a:extLst>
                </a:gridCol>
              </a:tblGrid>
              <a:tr h="0">
                <a:tc>
                  <a:txBody>
                    <a:bodyPr/>
                    <a:lstStyle/>
                    <a:p>
                      <a:pPr algn="ctr">
                        <a:lnSpc>
                          <a:spcPct val="115000"/>
                        </a:lnSpc>
                        <a:spcAft>
                          <a:spcPts val="1000"/>
                        </a:spcAft>
                        <a:buNone/>
                      </a:pPr>
                      <a:r>
                        <a:rPr lang="en-US" sz="1200">
                          <a:effectLst/>
                        </a:rPr>
                        <a:t>Column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Type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Description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62410673"/>
                  </a:ext>
                </a:extLst>
              </a:tr>
              <a:tr h="0">
                <a:tc>
                  <a:txBody>
                    <a:bodyPr/>
                    <a:lstStyle/>
                    <a:p>
                      <a:pPr>
                        <a:lnSpc>
                          <a:spcPct val="115000"/>
                        </a:lnSpc>
                        <a:spcAft>
                          <a:spcPts val="1000"/>
                        </a:spcAft>
                        <a:buNone/>
                      </a:pPr>
                      <a:r>
                        <a:rPr lang="en-US" sz="1200">
                          <a:effectLst/>
                        </a:rPr>
                        <a:t>Time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datetime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Start of the 30-minute 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677762827"/>
                  </a:ext>
                </a:extLst>
              </a:tr>
              <a:tr h="0">
                <a:tc>
                  <a:txBody>
                    <a:bodyPr/>
                    <a:lstStyle/>
                    <a:p>
                      <a:pPr>
                        <a:lnSpc>
                          <a:spcPct val="115000"/>
                        </a:lnSpc>
                        <a:spcAft>
                          <a:spcPts val="1000"/>
                        </a:spcAft>
                        <a:buNone/>
                      </a:pPr>
                      <a:r>
                        <a:rPr lang="en-US" sz="1200">
                          <a:effectLst/>
                        </a:rPr>
                        <a:t>Alert_Count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Number of alert=True 1-min intervals in 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7607737"/>
                  </a:ext>
                </a:extLst>
              </a:tr>
              <a:tr h="0">
                <a:tc>
                  <a:txBody>
                    <a:bodyPr/>
                    <a:lstStyle/>
                    <a:p>
                      <a:pPr>
                        <a:lnSpc>
                          <a:spcPct val="115000"/>
                        </a:lnSpc>
                        <a:spcAft>
                          <a:spcPts val="1000"/>
                        </a:spcAft>
                        <a:buNone/>
                      </a:pPr>
                      <a:r>
                        <a:rPr lang="en-US" sz="1200">
                          <a:effectLst/>
                        </a:rPr>
                        <a:t>Total_Intervals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Total 1-min intervals in window (typically 30)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84382237"/>
                  </a:ext>
                </a:extLst>
              </a:tr>
              <a:tr h="0">
                <a:tc>
                  <a:txBody>
                    <a:bodyPr/>
                    <a:lstStyle/>
                    <a:p>
                      <a:pPr>
                        <a:lnSpc>
                          <a:spcPct val="115000"/>
                        </a:lnSpc>
                        <a:spcAft>
                          <a:spcPts val="1000"/>
                        </a:spcAft>
                        <a:buNone/>
                      </a:pPr>
                      <a:r>
                        <a:rPr lang="en-US" sz="1200">
                          <a:effectLst/>
                        </a:rPr>
                        <a:t>Alert_Rate_%</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Alert_Count / Total_Intervals x 100</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79069416"/>
                  </a:ext>
                </a:extLst>
              </a:tr>
              <a:tr h="0">
                <a:tc>
                  <a:txBody>
                    <a:bodyPr/>
                    <a:lstStyle/>
                    <a:p>
                      <a:pPr>
                        <a:lnSpc>
                          <a:spcPct val="115000"/>
                        </a:lnSpc>
                        <a:spcAft>
                          <a:spcPts val="1000"/>
                        </a:spcAft>
                        <a:buNone/>
                      </a:pPr>
                      <a:r>
                        <a:rPr lang="en-US" sz="1200">
                          <a:effectLst/>
                        </a:rPr>
                        <a:t>Max_Abs_Z</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Maximum absolute Z-score in the window</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076192545"/>
                  </a:ext>
                </a:extLst>
              </a:tr>
              <a:tr h="0">
                <a:tc>
                  <a:txBody>
                    <a:bodyPr/>
                    <a:lstStyle/>
                    <a:p>
                      <a:pPr>
                        <a:lnSpc>
                          <a:spcPct val="115000"/>
                        </a:lnSpc>
                        <a:spcAft>
                          <a:spcPts val="1000"/>
                        </a:spcAft>
                        <a:buNone/>
                      </a:pPr>
                      <a:r>
                        <a:rPr lang="en-US" sz="1200">
                          <a:effectLst/>
                        </a:rPr>
                        <a:t>Peak_Bytes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Maximum </a:t>
                      </a:r>
                      <a:r>
                        <a:rPr lang="en-US" sz="1200" dirty="0" err="1">
                          <a:effectLst/>
                        </a:rPr>
                        <a:t>Bytes_Sent</a:t>
                      </a:r>
                      <a:r>
                        <a:rPr lang="en-US" sz="1200" dirty="0">
                          <a:effectLst/>
                        </a:rPr>
                        <a:t> value in the window</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04540544"/>
                  </a:ext>
                </a:extLst>
              </a:tr>
              <a:tr h="0">
                <a:tc>
                  <a:txBody>
                    <a:bodyPr/>
                    <a:lstStyle/>
                    <a:p>
                      <a:pPr>
                        <a:lnSpc>
                          <a:spcPct val="115000"/>
                        </a:lnSpc>
                        <a:spcAft>
                          <a:spcPts val="1000"/>
                        </a:spcAft>
                        <a:buNone/>
                      </a:pPr>
                      <a:r>
                        <a:rPr lang="en-US" sz="1200">
                          <a:effectLst/>
                        </a:rPr>
                        <a:t>Risk_Score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float64</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err="1">
                          <a:effectLst/>
                        </a:rPr>
                        <a:t>Alert_Count</a:t>
                      </a:r>
                      <a:r>
                        <a:rPr lang="en-US" sz="1200" dirty="0">
                          <a:effectLst/>
                        </a:rPr>
                        <a:t> x </a:t>
                      </a:r>
                      <a:r>
                        <a:rPr lang="en-US" sz="1200" dirty="0" err="1">
                          <a:effectLst/>
                        </a:rPr>
                        <a:t>Max_Abs_Z</a:t>
                      </a:r>
                      <a:r>
                        <a:rPr lang="en-US" sz="1200" dirty="0">
                          <a:effectLst/>
                        </a:rPr>
                        <a:t> x log10(Peak_Bytes+1)</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58299930"/>
                  </a:ext>
                </a:extLst>
              </a:tr>
            </a:tbl>
          </a:graphicData>
        </a:graphic>
      </p:graphicFrame>
      <p:sp>
        <p:nvSpPr>
          <p:cNvPr id="4" name="TextBox 3">
            <a:extLst>
              <a:ext uri="{FF2B5EF4-FFF2-40B4-BE49-F238E27FC236}">
                <a16:creationId xmlns:a16="http://schemas.microsoft.com/office/drawing/2014/main" id="{CEEA2B5D-1393-BC66-5C9E-8E776C3A247F}"/>
              </a:ext>
            </a:extLst>
          </p:cNvPr>
          <p:cNvSpPr txBox="1"/>
          <p:nvPr/>
        </p:nvSpPr>
        <p:spPr>
          <a:xfrm>
            <a:off x="415633" y="4470915"/>
            <a:ext cx="6026724" cy="2679580"/>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7.1.3  Exported File Schemas:</a:t>
            </a:r>
            <a:endParaRPr lang="en-IN"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dashboard_dataset_cleaned.xls</a:t>
            </a:r>
            <a:r>
              <a:rPr lang="en-US" sz="1600" dirty="0">
                <a:latin typeface="Times New Roman" panose="02020603050405020304" pitchFamily="18" charset="0"/>
                <a:cs typeface="Times New Roman" panose="02020603050405020304" pitchFamily="18" charset="0"/>
              </a:rPr>
              <a:t> — Rows: 6,686 (all 1-minute traffic intervals). Columns: All 8 from Feature-Engineered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Power BI Consumer: Pages 1 and 2.</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detected_threats_cleaned.xls</a:t>
            </a:r>
            <a:r>
              <a:rPr lang="en-US" sz="1600" dirty="0">
                <a:latin typeface="Times New Roman" panose="02020603050405020304" pitchFamily="18" charset="0"/>
                <a:cs typeface="Times New Roman" panose="02020603050405020304" pitchFamily="18" charset="0"/>
              </a:rPr>
              <a:t> — Rows: 870 (rows where alert == True only). Columns: Same 8 columns, filtered subset. Power BI Consumer: Pages 2 and 3.</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3DC3DD6-7124-9D05-CD56-8067167C8EF3}"/>
              </a:ext>
            </a:extLst>
          </p:cNvPr>
          <p:cNvSpPr txBox="1"/>
          <p:nvPr/>
        </p:nvSpPr>
        <p:spPr>
          <a:xfrm>
            <a:off x="381482" y="7206451"/>
            <a:ext cx="3038076"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7.2  Data Access Mechanism:</a:t>
            </a:r>
            <a:endParaRPr lang="en-IN"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135F8408-0F59-EA20-E85C-95554BD400A6}"/>
              </a:ext>
            </a:extLst>
          </p:cNvPr>
          <p:cNvGraphicFramePr>
            <a:graphicFrameLocks noGrp="1"/>
          </p:cNvGraphicFramePr>
          <p:nvPr>
            <p:extLst>
              <p:ext uri="{D42A27DB-BD31-4B8C-83A1-F6EECF244321}">
                <p14:modId xmlns:p14="http://schemas.microsoft.com/office/powerpoint/2010/main" val="3331280928"/>
              </p:ext>
            </p:extLst>
          </p:nvPr>
        </p:nvGraphicFramePr>
        <p:xfrm>
          <a:off x="415633" y="7635873"/>
          <a:ext cx="6026724" cy="2360820"/>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2295618973"/>
                    </a:ext>
                  </a:extLst>
                </a:gridCol>
                <a:gridCol w="2008908">
                  <a:extLst>
                    <a:ext uri="{9D8B030D-6E8A-4147-A177-3AD203B41FA5}">
                      <a16:colId xmlns:a16="http://schemas.microsoft.com/office/drawing/2014/main" val="2753414388"/>
                    </a:ext>
                  </a:extLst>
                </a:gridCol>
                <a:gridCol w="2008908">
                  <a:extLst>
                    <a:ext uri="{9D8B030D-6E8A-4147-A177-3AD203B41FA5}">
                      <a16:colId xmlns:a16="http://schemas.microsoft.com/office/drawing/2014/main" val="3423328492"/>
                    </a:ext>
                  </a:extLst>
                </a:gridCol>
              </a:tblGrid>
              <a:tr h="237140">
                <a:tc>
                  <a:txBody>
                    <a:bodyPr/>
                    <a:lstStyle/>
                    <a:p>
                      <a:pPr algn="ctr">
                        <a:lnSpc>
                          <a:spcPct val="115000"/>
                        </a:lnSpc>
                        <a:spcAft>
                          <a:spcPts val="1000"/>
                        </a:spcAft>
                        <a:buNone/>
                      </a:pPr>
                      <a:r>
                        <a:rPr lang="en-US" sz="1200">
                          <a:effectLst/>
                        </a:rPr>
                        <a:t>Data Store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Access Method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Access Pattern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815637278"/>
                  </a:ext>
                </a:extLst>
              </a:tr>
              <a:tr h="237140">
                <a:tc>
                  <a:txBody>
                    <a:bodyPr/>
                    <a:lstStyle/>
                    <a:p>
                      <a:pPr>
                        <a:lnSpc>
                          <a:spcPct val="115000"/>
                        </a:lnSpc>
                        <a:spcAft>
                          <a:spcPts val="1000"/>
                        </a:spcAft>
                        <a:buNone/>
                      </a:pPr>
                      <a:r>
                        <a:rPr lang="en-US" sz="1200">
                          <a:effectLst/>
                        </a:rPr>
                        <a:t>Clean DataFrame (from LLD)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Sequential, all-at-once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709303426"/>
                  </a:ext>
                </a:extLst>
              </a:tr>
              <a:tr h="488680">
                <a:tc>
                  <a:txBody>
                    <a:bodyPr/>
                    <a:lstStyle/>
                    <a:p>
                      <a:pPr>
                        <a:lnSpc>
                          <a:spcPct val="115000"/>
                        </a:lnSpc>
                        <a:spcAft>
                          <a:spcPts val="1000"/>
                        </a:spcAft>
                        <a:buNone/>
                      </a:pPr>
                      <a:r>
                        <a:rPr lang="en-US" sz="1200">
                          <a:effectLst/>
                        </a:rPr>
                        <a:t>Intermediate DataFrames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pandas in-memory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Created and consumed within session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45959712"/>
                  </a:ext>
                </a:extLst>
              </a:tr>
              <a:tr h="237140">
                <a:tc>
                  <a:txBody>
                    <a:bodyPr/>
                    <a:lstStyle/>
                    <a:p>
                      <a:pPr>
                        <a:lnSpc>
                          <a:spcPct val="115000"/>
                        </a:lnSpc>
                        <a:spcAft>
                          <a:spcPts val="1000"/>
                        </a:spcAft>
                        <a:buNone/>
                      </a:pPr>
                      <a:r>
                        <a:rPr lang="en-US" sz="1200">
                          <a:effectLst/>
                        </a:rPr>
                        <a:t>dashboard_dataset.xls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df.to_excel() + Power BI import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Write once, read once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67996347"/>
                  </a:ext>
                </a:extLst>
              </a:tr>
              <a:tr h="237140">
                <a:tc>
                  <a:txBody>
                    <a:bodyPr/>
                    <a:lstStyle/>
                    <a:p>
                      <a:pPr>
                        <a:lnSpc>
                          <a:spcPct val="115000"/>
                        </a:lnSpc>
                        <a:spcAft>
                          <a:spcPts val="1000"/>
                        </a:spcAft>
                        <a:buNone/>
                      </a:pPr>
                      <a:r>
                        <a:rPr lang="en-US" sz="1200">
                          <a:effectLst/>
                        </a:rPr>
                        <a:t>detected_threats.xls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df.to_excel() + Power BI import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Write once, read once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70963317"/>
                  </a:ext>
                </a:extLst>
              </a:tr>
              <a:tr h="237140">
                <a:tc>
                  <a:txBody>
                    <a:bodyPr/>
                    <a:lstStyle/>
                    <a:p>
                      <a:pPr>
                        <a:lnSpc>
                          <a:spcPct val="115000"/>
                        </a:lnSpc>
                        <a:spcAft>
                          <a:spcPts val="1000"/>
                        </a:spcAft>
                        <a:buNone/>
                      </a:pPr>
                      <a:r>
                        <a:rPr lang="en-US" sz="1200">
                          <a:effectLst/>
                        </a:rPr>
                        <a:t>Power BI data model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Internal Power BI relationships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Time-based join on Time column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67888598"/>
                  </a:ext>
                </a:extLst>
              </a:tr>
            </a:tbl>
          </a:graphicData>
        </a:graphic>
      </p:graphicFrame>
      <p:sp>
        <p:nvSpPr>
          <p:cNvPr id="11" name="TextBox 10">
            <a:extLst>
              <a:ext uri="{FF2B5EF4-FFF2-40B4-BE49-F238E27FC236}">
                <a16:creationId xmlns:a16="http://schemas.microsoft.com/office/drawing/2014/main" id="{828A8EAB-4E93-32AD-3551-95308C296197}"/>
              </a:ext>
            </a:extLst>
          </p:cNvPr>
          <p:cNvSpPr txBox="1"/>
          <p:nvPr/>
        </p:nvSpPr>
        <p:spPr>
          <a:xfrm>
            <a:off x="381482" y="10075085"/>
            <a:ext cx="6060875" cy="120225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7.4  Data Migration:</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current system processes a static historical dataset. For future production deployment:</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1361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88C7-5106-D859-EB3D-F52EB33BAB6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84B338-F9B6-CCB2-1330-31685567E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F881C3C7-0492-2987-16FE-CCFBC6BA9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0EAFD3AB-7439-444D-6D07-975D0AF5C34A}"/>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15F7368C-7ADB-56CF-649D-38301B63FD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6946758B-570D-E3F5-BAED-D38194B89F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6F4FD377-8E38-C8AF-8385-5FF40590C7B2}"/>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2" name="TextBox 1">
            <a:extLst>
              <a:ext uri="{FF2B5EF4-FFF2-40B4-BE49-F238E27FC236}">
                <a16:creationId xmlns:a16="http://schemas.microsoft.com/office/drawing/2014/main" id="{39178033-F14F-BF31-43B0-AF2CE3BA2E41}"/>
              </a:ext>
            </a:extLst>
          </p:cNvPr>
          <p:cNvSpPr txBox="1"/>
          <p:nvPr/>
        </p:nvSpPr>
        <p:spPr>
          <a:xfrm>
            <a:off x="6224149" y="11603289"/>
            <a:ext cx="453044" cy="369332"/>
          </a:xfrm>
          <a:prstGeom prst="rect">
            <a:avLst/>
          </a:prstGeom>
          <a:noFill/>
        </p:spPr>
        <p:txBody>
          <a:bodyPr wrap="square" rtlCol="0">
            <a:spAutoFit/>
          </a:bodyPr>
          <a:lstStyle/>
          <a:p>
            <a:r>
              <a:rPr lang="en-US" dirty="0"/>
              <a:t>10</a:t>
            </a:r>
            <a:endParaRPr lang="en-IN" dirty="0"/>
          </a:p>
        </p:txBody>
      </p:sp>
      <p:graphicFrame>
        <p:nvGraphicFramePr>
          <p:cNvPr id="3" name="Table 2">
            <a:extLst>
              <a:ext uri="{FF2B5EF4-FFF2-40B4-BE49-F238E27FC236}">
                <a16:creationId xmlns:a16="http://schemas.microsoft.com/office/drawing/2014/main" id="{35424677-64F2-D701-F13B-A65E72F5BBBA}"/>
              </a:ext>
            </a:extLst>
          </p:cNvPr>
          <p:cNvGraphicFramePr>
            <a:graphicFrameLocks noGrp="1"/>
          </p:cNvGraphicFramePr>
          <p:nvPr>
            <p:extLst>
              <p:ext uri="{D42A27DB-BD31-4B8C-83A1-F6EECF244321}">
                <p14:modId xmlns:p14="http://schemas.microsoft.com/office/powerpoint/2010/main" val="1810574127"/>
              </p:ext>
            </p:extLst>
          </p:nvPr>
        </p:nvGraphicFramePr>
        <p:xfrm>
          <a:off x="415638" y="1069316"/>
          <a:ext cx="6026724" cy="1788480"/>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3368298689"/>
                    </a:ext>
                  </a:extLst>
                </a:gridCol>
                <a:gridCol w="3013362">
                  <a:extLst>
                    <a:ext uri="{9D8B030D-6E8A-4147-A177-3AD203B41FA5}">
                      <a16:colId xmlns:a16="http://schemas.microsoft.com/office/drawing/2014/main" val="3067014496"/>
                    </a:ext>
                  </a:extLst>
                </a:gridCol>
              </a:tblGrid>
              <a:tr h="227651">
                <a:tc>
                  <a:txBody>
                    <a:bodyPr/>
                    <a:lstStyle/>
                    <a:p>
                      <a:pPr algn="ctr">
                        <a:lnSpc>
                          <a:spcPct val="115000"/>
                        </a:lnSpc>
                        <a:spcAft>
                          <a:spcPts val="1000"/>
                        </a:spcAft>
                        <a:buNone/>
                      </a:pPr>
                      <a:r>
                        <a:rPr lang="en-US" sz="1200">
                          <a:effectLst/>
                        </a:rPr>
                        <a:t>Current (Batch Mode)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rPr>
                        <a:t>Future (Streaming Mode)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002753904"/>
                  </a:ext>
                </a:extLst>
              </a:tr>
              <a:tr h="227651">
                <a:tc>
                  <a:txBody>
                    <a:bodyPr/>
                    <a:lstStyle/>
                    <a:p>
                      <a:pPr>
                        <a:lnSpc>
                          <a:spcPct val="115000"/>
                        </a:lnSpc>
                        <a:spcAft>
                          <a:spcPts val="1000"/>
                        </a:spcAft>
                        <a:buNone/>
                      </a:pPr>
                      <a:r>
                        <a:rPr lang="en-US" sz="1200">
                          <a:effectLst/>
                        </a:rPr>
                        <a:t>Load full log file at once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Consume from Kafka/syslog stream</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08307871"/>
                  </a:ext>
                </a:extLst>
              </a:tr>
              <a:tr h="469126">
                <a:tc>
                  <a:txBody>
                    <a:bodyPr/>
                    <a:lstStyle/>
                    <a:p>
                      <a:pPr>
                        <a:lnSpc>
                          <a:spcPct val="115000"/>
                        </a:lnSpc>
                        <a:spcAft>
                          <a:spcPts val="1000"/>
                        </a:spcAft>
                        <a:buNone/>
                      </a:pPr>
                      <a:r>
                        <a:rPr lang="en-US" sz="1200">
                          <a:effectLst/>
                        </a:rPr>
                        <a:t>pandas groupby(freq='1min')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Spark Structured Streaming 1-min tumbling windows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281474610"/>
                  </a:ext>
                </a:extLst>
              </a:tr>
              <a:tr h="227651">
                <a:tc>
                  <a:txBody>
                    <a:bodyPr/>
                    <a:lstStyle/>
                    <a:p>
                      <a:pPr>
                        <a:lnSpc>
                          <a:spcPct val="115000"/>
                        </a:lnSpc>
                        <a:spcAft>
                          <a:spcPts val="1000"/>
                        </a:spcAft>
                        <a:buNone/>
                      </a:pPr>
                      <a:r>
                        <a:rPr lang="en-US" sz="1200" dirty="0">
                          <a:effectLst/>
                        </a:rPr>
                        <a:t>Rolling window on </a:t>
                      </a:r>
                      <a:r>
                        <a:rPr lang="en-US" sz="1200" dirty="0" err="1">
                          <a:effectLst/>
                        </a:rPr>
                        <a:t>DataFrame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rPr>
                        <a:t>Stateful streaming aggregation functions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11009860"/>
                  </a:ext>
                </a:extLst>
              </a:tr>
              <a:tr h="227651">
                <a:tc>
                  <a:txBody>
                    <a:bodyPr/>
                    <a:lstStyle/>
                    <a:p>
                      <a:pPr>
                        <a:lnSpc>
                          <a:spcPct val="115000"/>
                        </a:lnSpc>
                        <a:spcAft>
                          <a:spcPts val="1000"/>
                        </a:spcAft>
                        <a:buNone/>
                      </a:pPr>
                      <a:r>
                        <a:rPr lang="en-US" sz="1200">
                          <a:effectLst/>
                        </a:rPr>
                        <a:t>df.to_excel() export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Write to database or cloud data lake</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25922071"/>
                  </a:ext>
                </a:extLst>
              </a:tr>
              <a:tr h="227651">
                <a:tc>
                  <a:txBody>
                    <a:bodyPr/>
                    <a:lstStyle/>
                    <a:p>
                      <a:pPr>
                        <a:lnSpc>
                          <a:spcPct val="115000"/>
                        </a:lnSpc>
                        <a:spcAft>
                          <a:spcPts val="1000"/>
                        </a:spcAft>
                        <a:buNone/>
                      </a:pPr>
                      <a:r>
                        <a:rPr lang="en-US" sz="1200">
                          <a:effectLst/>
                        </a:rPr>
                        <a:t>Power BI static XLS import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rPr>
                        <a:t>Power BI </a:t>
                      </a:r>
                      <a:r>
                        <a:rPr lang="en-US" sz="1200" dirty="0" err="1">
                          <a:effectLst/>
                        </a:rPr>
                        <a:t>DirectQuery</a:t>
                      </a:r>
                      <a:r>
                        <a:rPr lang="en-US" sz="1200" dirty="0">
                          <a:effectLst/>
                        </a:rPr>
                        <a:t> or live JDBC connection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757611367"/>
                  </a:ext>
                </a:extLst>
              </a:tr>
            </a:tbl>
          </a:graphicData>
        </a:graphic>
      </p:graphicFrame>
      <p:sp>
        <p:nvSpPr>
          <p:cNvPr id="4" name="TextBox 3">
            <a:extLst>
              <a:ext uri="{FF2B5EF4-FFF2-40B4-BE49-F238E27FC236}">
                <a16:creationId xmlns:a16="http://schemas.microsoft.com/office/drawing/2014/main" id="{EBDCF656-C625-24F4-C058-F53212818FCB}"/>
              </a:ext>
            </a:extLst>
          </p:cNvPr>
          <p:cNvSpPr txBox="1"/>
          <p:nvPr/>
        </p:nvSpPr>
        <p:spPr>
          <a:xfrm>
            <a:off x="339869" y="2902189"/>
            <a:ext cx="6102493" cy="1415772"/>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8. INTERFACES</a:t>
            </a:r>
            <a:endParaRPr lang="en-IN" sz="20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8.1  Page 1: Threat Overview:</a:t>
            </a:r>
            <a:endParaRPr lang="en-IN"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Provides a complete 4-day threat landscape summary for security leadership.</a:t>
            </a:r>
            <a:endParaRPr lang="en-IN" sz="16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C249557B-A327-1CED-2460-22BF28FB25F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9869" y="4427863"/>
            <a:ext cx="6102493" cy="3844012"/>
          </a:xfrm>
          <a:prstGeom prst="rect">
            <a:avLst/>
          </a:prstGeom>
        </p:spPr>
      </p:pic>
    </p:spTree>
    <p:extLst>
      <p:ext uri="{BB962C8B-B14F-4D97-AF65-F5344CB8AC3E}">
        <p14:creationId xmlns:p14="http://schemas.microsoft.com/office/powerpoint/2010/main" val="1827019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1DDA7-84E1-9F37-4B8A-510D086AB10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74F9700-F032-D052-0BDE-0BD91B81EF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281243C7-8A1E-FCC8-2039-AFF4736B49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D8D95BDA-404A-C0AC-4D19-04CDDCF5267A}"/>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E4509C9A-B9DE-AE45-C6D1-58E8F83B06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30BD4D05-F123-DEDA-A72A-508D735CC4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33014BE1-EF00-4874-8837-708A81F4C359}"/>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16" name="TextBox 15">
            <a:extLst>
              <a:ext uri="{FF2B5EF4-FFF2-40B4-BE49-F238E27FC236}">
                <a16:creationId xmlns:a16="http://schemas.microsoft.com/office/drawing/2014/main" id="{52EA3897-76BA-3C23-CB5D-BB5B32F8ECA4}"/>
              </a:ext>
            </a:extLst>
          </p:cNvPr>
          <p:cNvSpPr txBox="1"/>
          <p:nvPr/>
        </p:nvSpPr>
        <p:spPr>
          <a:xfrm>
            <a:off x="6182988" y="11621310"/>
            <a:ext cx="453044" cy="366629"/>
          </a:xfrm>
          <a:prstGeom prst="rect">
            <a:avLst/>
          </a:prstGeom>
          <a:noFill/>
        </p:spPr>
        <p:txBody>
          <a:bodyPr wrap="square" rtlCol="0">
            <a:spAutoFit/>
          </a:bodyPr>
          <a:lstStyle/>
          <a:p>
            <a:r>
              <a:rPr lang="en-US" dirty="0"/>
              <a:t>11</a:t>
            </a:r>
            <a:endParaRPr lang="en-IN" dirty="0"/>
          </a:p>
        </p:txBody>
      </p:sp>
      <p:sp>
        <p:nvSpPr>
          <p:cNvPr id="2" name="TextBox 1">
            <a:extLst>
              <a:ext uri="{FF2B5EF4-FFF2-40B4-BE49-F238E27FC236}">
                <a16:creationId xmlns:a16="http://schemas.microsoft.com/office/drawing/2014/main" id="{6F9672BC-6197-F91C-0866-4238ABE98AD4}"/>
              </a:ext>
            </a:extLst>
          </p:cNvPr>
          <p:cNvSpPr txBox="1"/>
          <p:nvPr/>
        </p:nvSpPr>
        <p:spPr>
          <a:xfrm>
            <a:off x="415637" y="1040377"/>
            <a:ext cx="6026725" cy="832920"/>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8.2  Page 2: Alert Analytics:</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Drills into the 870 detected alerts with breakdowns for SOC analysts.</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2250E45-9256-B296-D53A-1516784AED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5637" y="1985989"/>
            <a:ext cx="6026725" cy="3857995"/>
          </a:xfrm>
          <a:prstGeom prst="rect">
            <a:avLst/>
          </a:prstGeom>
        </p:spPr>
      </p:pic>
      <p:sp>
        <p:nvSpPr>
          <p:cNvPr id="6" name="TextBox 5">
            <a:extLst>
              <a:ext uri="{FF2B5EF4-FFF2-40B4-BE49-F238E27FC236}">
                <a16:creationId xmlns:a16="http://schemas.microsoft.com/office/drawing/2014/main" id="{A67966FB-860C-6349-15DB-0901348A32C2}"/>
              </a:ext>
            </a:extLst>
          </p:cNvPr>
          <p:cNvSpPr txBox="1"/>
          <p:nvPr/>
        </p:nvSpPr>
        <p:spPr>
          <a:xfrm>
            <a:off x="415637" y="5865057"/>
            <a:ext cx="6026725" cy="1202252"/>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8.3  Page 3: Suspicious Time Windows:</a:t>
            </a:r>
            <a:endParaRPr lang="en-IN"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Focuses on 30-minute aggregated threat windows and Risk Scores for incident prioritization.</a:t>
            </a:r>
            <a:endParaRPr lang="en-IN" sz="16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58415E6-230B-B15E-0795-78790C8AE6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637" y="7285208"/>
            <a:ext cx="6026725" cy="3832238"/>
          </a:xfrm>
          <a:prstGeom prst="rect">
            <a:avLst/>
          </a:prstGeom>
        </p:spPr>
      </p:pic>
    </p:spTree>
    <p:extLst>
      <p:ext uri="{BB962C8B-B14F-4D97-AF65-F5344CB8AC3E}">
        <p14:creationId xmlns:p14="http://schemas.microsoft.com/office/powerpoint/2010/main" val="40240793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93F86-7E8B-926F-A30D-AD343C60552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EF11BB5-C3B6-9017-C585-E329C3ADF4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A9981584-4FE7-33E8-A5B3-00FCCA123E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C749F471-7CE6-2DC4-9402-3D75F62F36D6}"/>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44D7C5F6-6A25-81FC-5A3E-F25EFFC1F0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9CDD4B18-DE38-D927-FC54-59291A6556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79A9329E-1910-0482-012B-6B1B78C3A5A1}"/>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6" name="TextBox 5">
            <a:extLst>
              <a:ext uri="{FF2B5EF4-FFF2-40B4-BE49-F238E27FC236}">
                <a16:creationId xmlns:a16="http://schemas.microsoft.com/office/drawing/2014/main" id="{20D1FC04-654D-4F57-2F7C-093CFF256EB4}"/>
              </a:ext>
            </a:extLst>
          </p:cNvPr>
          <p:cNvSpPr txBox="1"/>
          <p:nvPr/>
        </p:nvSpPr>
        <p:spPr>
          <a:xfrm>
            <a:off x="6205308" y="11597036"/>
            <a:ext cx="453044" cy="369332"/>
          </a:xfrm>
          <a:prstGeom prst="rect">
            <a:avLst/>
          </a:prstGeom>
          <a:noFill/>
        </p:spPr>
        <p:txBody>
          <a:bodyPr wrap="square" rtlCol="0">
            <a:spAutoFit/>
          </a:bodyPr>
          <a:lstStyle/>
          <a:p>
            <a:r>
              <a:rPr lang="en-US" dirty="0"/>
              <a:t>12</a:t>
            </a:r>
            <a:endParaRPr lang="en-IN" dirty="0"/>
          </a:p>
        </p:txBody>
      </p:sp>
      <p:sp>
        <p:nvSpPr>
          <p:cNvPr id="2" name="TextBox 1">
            <a:extLst>
              <a:ext uri="{FF2B5EF4-FFF2-40B4-BE49-F238E27FC236}">
                <a16:creationId xmlns:a16="http://schemas.microsoft.com/office/drawing/2014/main" id="{4997B6B9-1357-FDF7-5B59-D66DDFAEBE7C}"/>
              </a:ext>
            </a:extLst>
          </p:cNvPr>
          <p:cNvSpPr txBox="1"/>
          <p:nvPr/>
        </p:nvSpPr>
        <p:spPr>
          <a:xfrm>
            <a:off x="415638" y="970031"/>
            <a:ext cx="6026724" cy="1617751"/>
          </a:xfrm>
          <a:prstGeom prst="rect">
            <a:avLst/>
          </a:prstGeom>
          <a:noFill/>
        </p:spPr>
        <p:txBody>
          <a:bodyPr wrap="square" rtlCol="0">
            <a:spAutoFit/>
          </a:bodyPr>
          <a:lstStyle/>
          <a:p>
            <a:pPr>
              <a:lnSpc>
                <a:spcPct val="150000"/>
              </a:lnSpc>
            </a:pPr>
            <a:r>
              <a:rPr lang="en-IN" sz="2000" dirty="0"/>
              <a:t> </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9. STATE AND SESSION MANAGEMENT</a:t>
            </a:r>
            <a:endParaRPr lang="en-IN" sz="20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system is a </a:t>
            </a:r>
            <a:r>
              <a:rPr lang="en-US" sz="1600" b="1" dirty="0">
                <a:latin typeface="Times New Roman" panose="02020603050405020304" pitchFamily="18" charset="0"/>
                <a:cs typeface="Times New Roman" panose="02020603050405020304" pitchFamily="18" charset="0"/>
              </a:rPr>
              <a:t>stateless</a:t>
            </a:r>
            <a:r>
              <a:rPr lang="en-US" sz="1600" dirty="0">
                <a:latin typeface="Times New Roman" panose="02020603050405020304" pitchFamily="18" charset="0"/>
                <a:cs typeface="Times New Roman" panose="02020603050405020304" pitchFamily="18" charset="0"/>
              </a:rPr>
              <a:t>, single-session batch pipeline with no ongoing state between runs.</a:t>
            </a:r>
            <a:endParaRPr lang="en-IN" sz="16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6F5D1D9D-23F4-D6C9-8142-29DD393B7283}"/>
              </a:ext>
            </a:extLst>
          </p:cNvPr>
          <p:cNvGraphicFramePr>
            <a:graphicFrameLocks noGrp="1"/>
          </p:cNvGraphicFramePr>
          <p:nvPr>
            <p:extLst>
              <p:ext uri="{D42A27DB-BD31-4B8C-83A1-F6EECF244321}">
                <p14:modId xmlns:p14="http://schemas.microsoft.com/office/powerpoint/2010/main" val="1929183838"/>
              </p:ext>
            </p:extLst>
          </p:nvPr>
        </p:nvGraphicFramePr>
        <p:xfrm>
          <a:off x="415638" y="2651606"/>
          <a:ext cx="6026724" cy="2001774"/>
        </p:xfrm>
        <a:graphic>
          <a:graphicData uri="http://schemas.openxmlformats.org/drawingml/2006/table">
            <a:tbl>
              <a:tblPr firstRow="1" firstCol="1" bandRow="1">
                <a:tableStyleId>{3B4B98B0-60AC-42C2-AFA5-B58CD77FA1E5}</a:tableStyleId>
              </a:tblPr>
              <a:tblGrid>
                <a:gridCol w="3013362">
                  <a:extLst>
                    <a:ext uri="{9D8B030D-6E8A-4147-A177-3AD203B41FA5}">
                      <a16:colId xmlns:a16="http://schemas.microsoft.com/office/drawing/2014/main" val="509089872"/>
                    </a:ext>
                  </a:extLst>
                </a:gridCol>
                <a:gridCol w="3013362">
                  <a:extLst>
                    <a:ext uri="{9D8B030D-6E8A-4147-A177-3AD203B41FA5}">
                      <a16:colId xmlns:a16="http://schemas.microsoft.com/office/drawing/2014/main" val="3272755629"/>
                    </a:ext>
                  </a:extLst>
                </a:gridCol>
              </a:tblGrid>
              <a:tr h="0">
                <a:tc>
                  <a:txBody>
                    <a:bodyPr/>
                    <a:lstStyle/>
                    <a:p>
                      <a:pPr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Property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Value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909077098"/>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Session type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Single Jupyter Notebook kernel execution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25822269"/>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State persistence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None — all variables exist in RAM during session only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60365738"/>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User sessions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Not applicable — single analyst operates the notebook</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083213418"/>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Authentication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Not applicable — local file-based execution only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495611864"/>
                  </a:ext>
                </a:extLst>
              </a:tr>
              <a:tr h="0">
                <a:tc>
                  <a:txBody>
                    <a:bodyPr/>
                    <a:lstStyle/>
                    <a:p>
                      <a:pPr>
                        <a:lnSpc>
                          <a:spcPct val="115000"/>
                        </a:lnSpc>
                        <a:spcAft>
                          <a:spcPts val="1000"/>
                        </a:spcAft>
                        <a:buNone/>
                      </a:pPr>
                      <a:r>
                        <a:rPr lang="en-US" sz="1200">
                          <a:effectLst/>
                          <a:latin typeface="Times New Roman" panose="02020603050405020304" pitchFamily="18" charset="0"/>
                          <a:cs typeface="Times New Roman" panose="02020603050405020304" pitchFamily="18" charset="0"/>
                        </a:rPr>
                        <a:t>Re-run behavior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15000"/>
                        </a:lnSpc>
                        <a:spcAft>
                          <a:spcPts val="1000"/>
                        </a:spcAft>
                        <a:buNone/>
                      </a:pPr>
                      <a:r>
                        <a:rPr lang="en-US" sz="1200" dirty="0">
                          <a:effectLst/>
                          <a:latin typeface="Times New Roman" panose="02020603050405020304" pitchFamily="18" charset="0"/>
                          <a:cs typeface="Times New Roman" panose="02020603050405020304" pitchFamily="18" charset="0"/>
                        </a:rPr>
                        <a:t>Full pipeline re-executes from start; output files are overwritten</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496833609"/>
                  </a:ext>
                </a:extLst>
              </a:tr>
            </a:tbl>
          </a:graphicData>
        </a:graphic>
      </p:graphicFrame>
      <p:sp>
        <p:nvSpPr>
          <p:cNvPr id="4" name="TextBox 3">
            <a:extLst>
              <a:ext uri="{FF2B5EF4-FFF2-40B4-BE49-F238E27FC236}">
                <a16:creationId xmlns:a16="http://schemas.microsoft.com/office/drawing/2014/main" id="{A5CBB413-E169-347C-C77A-481457A12FDC}"/>
              </a:ext>
            </a:extLst>
          </p:cNvPr>
          <p:cNvSpPr txBox="1"/>
          <p:nvPr/>
        </p:nvSpPr>
        <p:spPr>
          <a:xfrm>
            <a:off x="415638" y="4720293"/>
            <a:ext cx="6026724" cy="1156086"/>
          </a:xfrm>
          <a:prstGeom prst="rect">
            <a:avLst/>
          </a:prstGeom>
          <a:noFill/>
        </p:spPr>
        <p:txBody>
          <a:bodyPr wrap="square"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The Power BI dashboard is a </a:t>
            </a:r>
            <a:r>
              <a:rPr lang="en-US" sz="1600" b="1" dirty="0">
                <a:latin typeface="Times New Roman" panose="02020603050405020304" pitchFamily="18" charset="0"/>
                <a:cs typeface="Times New Roman" panose="02020603050405020304" pitchFamily="18" charset="0"/>
              </a:rPr>
              <a:t>static, read-only</a:t>
            </a:r>
            <a:r>
              <a:rPr lang="en-US" sz="1600" dirty="0">
                <a:latin typeface="Times New Roman" panose="02020603050405020304" pitchFamily="18" charset="0"/>
                <a:cs typeface="Times New Roman" panose="02020603050405020304" pitchFamily="18" charset="0"/>
              </a:rPr>
              <a:t> interface. It imports data once from the exported XLS files and holds no live connection to the </a:t>
            </a:r>
            <a:r>
              <a:rPr lang="en-US" sz="1600" dirty="0" err="1">
                <a:latin typeface="Times New Roman" panose="02020603050405020304" pitchFamily="18" charset="0"/>
                <a:cs typeface="Times New Roman" panose="02020603050405020304" pitchFamily="18" charset="0"/>
              </a:rPr>
              <a:t>Jupyter</a:t>
            </a:r>
            <a:r>
              <a:rPr lang="en-US" sz="1600" dirty="0">
                <a:latin typeface="Times New Roman" panose="02020603050405020304" pitchFamily="18" charset="0"/>
                <a:cs typeface="Times New Roman" panose="02020603050405020304" pitchFamily="18" charset="0"/>
              </a:rPr>
              <a:t> Notebook or raw log file.</a:t>
            </a:r>
            <a:endParaRPr lang="en-IN" sz="16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F2D35B2-6F17-D29E-9387-404DF9F2FC34}"/>
              </a:ext>
            </a:extLst>
          </p:cNvPr>
          <p:cNvSpPr txBox="1"/>
          <p:nvPr/>
        </p:nvSpPr>
        <p:spPr>
          <a:xfrm>
            <a:off x="415638" y="6096000"/>
            <a:ext cx="6026724" cy="92333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11. NON-FUNCTIONAL REQUIREMENTS</a:t>
            </a:r>
            <a:endParaRPr lang="en-IN" sz="20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11.1  Security Aspects:</a:t>
            </a:r>
            <a:endParaRPr lang="en-IN" dirty="0">
              <a:latin typeface="Times New Roman" panose="02020603050405020304" pitchFamily="18" charset="0"/>
              <a:cs typeface="Times New Roman" panose="02020603050405020304" pitchFamily="18" charset="0"/>
            </a:endParaRPr>
          </a:p>
        </p:txBody>
      </p:sp>
      <p:graphicFrame>
        <p:nvGraphicFramePr>
          <p:cNvPr id="10" name="Table 9">
            <a:extLst>
              <a:ext uri="{FF2B5EF4-FFF2-40B4-BE49-F238E27FC236}">
                <a16:creationId xmlns:a16="http://schemas.microsoft.com/office/drawing/2014/main" id="{92E4C0F1-B46D-E64C-17D0-1874FD9F1770}"/>
              </a:ext>
            </a:extLst>
          </p:cNvPr>
          <p:cNvGraphicFramePr>
            <a:graphicFrameLocks noGrp="1"/>
          </p:cNvGraphicFramePr>
          <p:nvPr>
            <p:extLst>
              <p:ext uri="{D42A27DB-BD31-4B8C-83A1-F6EECF244321}">
                <p14:modId xmlns:p14="http://schemas.microsoft.com/office/powerpoint/2010/main" val="2188699140"/>
              </p:ext>
            </p:extLst>
          </p:nvPr>
        </p:nvGraphicFramePr>
        <p:xfrm>
          <a:off x="415638" y="7138758"/>
          <a:ext cx="6026724" cy="3371028"/>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246000810"/>
                    </a:ext>
                  </a:extLst>
                </a:gridCol>
                <a:gridCol w="2008908">
                  <a:extLst>
                    <a:ext uri="{9D8B030D-6E8A-4147-A177-3AD203B41FA5}">
                      <a16:colId xmlns:a16="http://schemas.microsoft.com/office/drawing/2014/main" val="1358429725"/>
                    </a:ext>
                  </a:extLst>
                </a:gridCol>
                <a:gridCol w="2008908">
                  <a:extLst>
                    <a:ext uri="{9D8B030D-6E8A-4147-A177-3AD203B41FA5}">
                      <a16:colId xmlns:a16="http://schemas.microsoft.com/office/drawing/2014/main" val="1980283960"/>
                    </a:ext>
                  </a:extLst>
                </a:gridCol>
              </a:tblGrid>
              <a:tr h="205081">
                <a:tc>
                  <a:txBody>
                    <a:bodyPr/>
                    <a:lstStyle/>
                    <a:p>
                      <a:pPr algn="ctr">
                        <a:lnSpc>
                          <a:spcPct val="150000"/>
                        </a:lnSpc>
                        <a:spcAft>
                          <a:spcPts val="1000"/>
                        </a:spcAft>
                        <a:buNone/>
                      </a:pPr>
                      <a:r>
                        <a:rPr lang="en-US" sz="1200">
                          <a:effectLst/>
                        </a:rPr>
                        <a:t>Aspect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Current State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200">
                          <a:effectLst/>
                        </a:rPr>
                        <a:t>Recommendation</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03084843"/>
                  </a:ext>
                </a:extLst>
              </a:tr>
              <a:tr h="422616">
                <a:tc>
                  <a:txBody>
                    <a:bodyPr/>
                    <a:lstStyle/>
                    <a:p>
                      <a:pPr>
                        <a:lnSpc>
                          <a:spcPct val="150000"/>
                        </a:lnSpc>
                        <a:spcAft>
                          <a:spcPts val="1000"/>
                        </a:spcAft>
                        <a:buNone/>
                      </a:pPr>
                      <a:r>
                        <a:rPr lang="en-US" sz="1200">
                          <a:effectLst/>
                        </a:rPr>
                        <a:t>Data Sensitivity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Logs contain real user IPs and browsing behavior</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Anonymize IPs (hash or mask last octet)</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49024091"/>
                  </a:ext>
                </a:extLst>
              </a:tr>
              <a:tr h="422616">
                <a:tc>
                  <a:txBody>
                    <a:bodyPr/>
                    <a:lstStyle/>
                    <a:p>
                      <a:pPr>
                        <a:lnSpc>
                          <a:spcPct val="150000"/>
                        </a:lnSpc>
                        <a:spcAft>
                          <a:spcPts val="1000"/>
                        </a:spcAft>
                        <a:buNone/>
                      </a:pPr>
                      <a:r>
                        <a:rPr lang="en-US" sz="1200">
                          <a:effectLst/>
                        </a:rPr>
                        <a:t>Access Control</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Log file accessible to all OS users on machine</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Restrict to authorized analysts only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351430681"/>
                  </a:ext>
                </a:extLst>
              </a:tr>
              <a:tr h="422616">
                <a:tc>
                  <a:txBody>
                    <a:bodyPr/>
                    <a:lstStyle/>
                    <a:p>
                      <a:pPr>
                        <a:lnSpc>
                          <a:spcPct val="150000"/>
                        </a:lnSpc>
                        <a:spcAft>
                          <a:spcPts val="1000"/>
                        </a:spcAft>
                        <a:buNone/>
                      </a:pPr>
                      <a:r>
                        <a:rPr lang="en-US" sz="1200">
                          <a:effectLst/>
                        </a:rPr>
                        <a:t>Dashboard Sharing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Power BI .</a:t>
                      </a:r>
                      <a:r>
                        <a:rPr lang="en-US" sz="1200" dirty="0" err="1">
                          <a:effectLst/>
                        </a:rPr>
                        <a:t>pbix</a:t>
                      </a:r>
                      <a:r>
                        <a:rPr lang="en-US" sz="1200" dirty="0">
                          <a:effectLst/>
                        </a:rPr>
                        <a:t> embeds data internally</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Use Power BI Service workspace with RBAC</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613615584"/>
                  </a:ext>
                </a:extLst>
              </a:tr>
              <a:tr h="422616">
                <a:tc>
                  <a:txBody>
                    <a:bodyPr/>
                    <a:lstStyle/>
                    <a:p>
                      <a:pPr>
                        <a:lnSpc>
                          <a:spcPct val="150000"/>
                        </a:lnSpc>
                        <a:spcAft>
                          <a:spcPts val="1000"/>
                        </a:spcAft>
                        <a:buNone/>
                      </a:pPr>
                      <a:r>
                        <a:rPr lang="en-US" sz="1200">
                          <a:effectLst/>
                        </a:rPr>
                        <a:t>Code Security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No credentials or secrets in notebook</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Maintain this — use env variables if auth added</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524479307"/>
                  </a:ext>
                </a:extLst>
              </a:tr>
              <a:tr h="422616">
                <a:tc>
                  <a:txBody>
                    <a:bodyPr/>
                    <a:lstStyle/>
                    <a:p>
                      <a:pPr>
                        <a:lnSpc>
                          <a:spcPct val="150000"/>
                        </a:lnSpc>
                        <a:spcAft>
                          <a:spcPts val="1000"/>
                        </a:spcAft>
                        <a:buNone/>
                      </a:pPr>
                      <a:r>
                        <a:rPr lang="en-US" sz="1200">
                          <a:effectLst/>
                        </a:rPr>
                        <a:t>Output Sensitivity</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XLS exports contain IP/traffic data</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Apply same policies as source data</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382501035"/>
                  </a:ext>
                </a:extLst>
              </a:tr>
              <a:tr h="422616">
                <a:tc>
                  <a:txBody>
                    <a:bodyPr/>
                    <a:lstStyle/>
                    <a:p>
                      <a:pPr>
                        <a:lnSpc>
                          <a:spcPct val="150000"/>
                        </a:lnSpc>
                        <a:spcAft>
                          <a:spcPts val="1000"/>
                        </a:spcAft>
                        <a:buNone/>
                      </a:pPr>
                      <a:r>
                        <a:rPr lang="en-US" sz="1200">
                          <a:effectLst/>
                        </a:rPr>
                        <a:t>Audit Logging</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a:effectLst/>
                        </a:rPr>
                        <a:t>No audit trail of analysis runs</a:t>
                      </a:r>
                      <a:endParaRPr lang="en-IN" sz="12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200" dirty="0">
                          <a:effectLst/>
                        </a:rPr>
                        <a:t>Add execution timestamp + analyst-ID logging</a:t>
                      </a:r>
                      <a:endParaRPr lang="en-IN" sz="12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783792876"/>
                  </a:ext>
                </a:extLst>
              </a:tr>
            </a:tbl>
          </a:graphicData>
        </a:graphic>
      </p:graphicFrame>
      <p:sp>
        <p:nvSpPr>
          <p:cNvPr id="11" name="Rectangle 1">
            <a:extLst>
              <a:ext uri="{FF2B5EF4-FFF2-40B4-BE49-F238E27FC236}">
                <a16:creationId xmlns:a16="http://schemas.microsoft.com/office/drawing/2014/main" id="{9421B5D6-4174-DC0A-094E-0A878B3EE717}"/>
              </a:ext>
            </a:extLst>
          </p:cNvPr>
          <p:cNvSpPr>
            <a:spLocks noChangeArrowheads="1"/>
          </p:cNvSpPr>
          <p:nvPr/>
        </p:nvSpPr>
        <p:spPr bwMode="auto">
          <a:xfrm>
            <a:off x="415002" y="7138727"/>
            <a:ext cx="7134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21469661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E4519-AA43-5AD8-0C6C-2288515BEF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4E1400-8DD1-302D-709A-1032DC03A8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683" y="3427213"/>
            <a:ext cx="4854633" cy="1259830"/>
          </a:xfrm>
          <a:prstGeom prst="rect">
            <a:avLst/>
          </a:prstGeom>
        </p:spPr>
      </p:pic>
      <p:pic>
        <p:nvPicPr>
          <p:cNvPr id="7" name="Picture 6">
            <a:extLst>
              <a:ext uri="{FF2B5EF4-FFF2-40B4-BE49-F238E27FC236}">
                <a16:creationId xmlns:a16="http://schemas.microsoft.com/office/drawing/2014/main" id="{8E2431F5-249B-8368-AC24-3F8C085194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4563" y="1142942"/>
            <a:ext cx="1885313" cy="652608"/>
          </a:xfrm>
          <a:prstGeom prst="rect">
            <a:avLst/>
          </a:prstGeom>
        </p:spPr>
      </p:pic>
      <p:sp>
        <p:nvSpPr>
          <p:cNvPr id="8" name="Rectangle 7">
            <a:extLst>
              <a:ext uri="{FF2B5EF4-FFF2-40B4-BE49-F238E27FC236}">
                <a16:creationId xmlns:a16="http://schemas.microsoft.com/office/drawing/2014/main" id="{BA59721A-55A7-3883-4585-073EE2A4EAEE}"/>
              </a:ext>
            </a:extLst>
          </p:cNvPr>
          <p:cNvSpPr/>
          <p:nvPr/>
        </p:nvSpPr>
        <p:spPr>
          <a:xfrm>
            <a:off x="199505" y="199505"/>
            <a:ext cx="6467302" cy="1182069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latin typeface="Times New Roman" panose="02020603050405020304" pitchFamily="18" charset="0"/>
                <a:cs typeface="Times New Roman" panose="02020603050405020304" pitchFamily="18" charset="0"/>
              </a:rPr>
              <a:t> </a:t>
            </a:r>
          </a:p>
        </p:txBody>
      </p:sp>
      <p:pic>
        <p:nvPicPr>
          <p:cNvPr id="12" name="Picture 11">
            <a:extLst>
              <a:ext uri="{FF2B5EF4-FFF2-40B4-BE49-F238E27FC236}">
                <a16:creationId xmlns:a16="http://schemas.microsoft.com/office/drawing/2014/main" id="{B1AD270F-1E48-F5DA-4D75-8FAEC50F4E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38" y="369601"/>
            <a:ext cx="1446410" cy="500680"/>
          </a:xfrm>
          <a:prstGeom prst="rect">
            <a:avLst/>
          </a:prstGeom>
        </p:spPr>
      </p:pic>
      <p:pic>
        <p:nvPicPr>
          <p:cNvPr id="14" name="Picture 13">
            <a:extLst>
              <a:ext uri="{FF2B5EF4-FFF2-40B4-BE49-F238E27FC236}">
                <a16:creationId xmlns:a16="http://schemas.microsoft.com/office/drawing/2014/main" id="{59C9D49E-DE84-210B-94A6-9B4CBC37B2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3040" y="369601"/>
            <a:ext cx="1929322" cy="500680"/>
          </a:xfrm>
          <a:prstGeom prst="rect">
            <a:avLst/>
          </a:prstGeom>
        </p:spPr>
      </p:pic>
      <p:sp>
        <p:nvSpPr>
          <p:cNvPr id="22" name="TextBox 21">
            <a:extLst>
              <a:ext uri="{FF2B5EF4-FFF2-40B4-BE49-F238E27FC236}">
                <a16:creationId xmlns:a16="http://schemas.microsoft.com/office/drawing/2014/main" id="{2FC7239A-19C4-BE99-D8BA-E8395580A874}"/>
              </a:ext>
            </a:extLst>
          </p:cNvPr>
          <p:cNvSpPr txBox="1"/>
          <p:nvPr/>
        </p:nvSpPr>
        <p:spPr>
          <a:xfrm>
            <a:off x="274175" y="11747327"/>
            <a:ext cx="1473480" cy="215444"/>
          </a:xfrm>
          <a:prstGeom prst="rect">
            <a:avLst/>
          </a:prstGeom>
          <a:noFill/>
        </p:spPr>
        <p:txBody>
          <a:bodyPr wrap="none" rtlCol="0">
            <a:spAutoFit/>
          </a:bodyPr>
          <a:lstStyle/>
          <a:p>
            <a:r>
              <a:rPr lang="en-IN" sz="800" dirty="0">
                <a:latin typeface="Times New Roman" panose="02020603050405020304" pitchFamily="18" charset="0"/>
                <a:cs typeface="Times New Roman" panose="02020603050405020304" pitchFamily="18" charset="0"/>
              </a:rPr>
              <a:t>YENEPOYA | PROJECT 2026</a:t>
            </a:r>
          </a:p>
        </p:txBody>
      </p:sp>
      <p:sp>
        <p:nvSpPr>
          <p:cNvPr id="13" name="TextBox 12">
            <a:extLst>
              <a:ext uri="{FF2B5EF4-FFF2-40B4-BE49-F238E27FC236}">
                <a16:creationId xmlns:a16="http://schemas.microsoft.com/office/drawing/2014/main" id="{89AB5B63-167B-C26B-851C-0008FE134720}"/>
              </a:ext>
            </a:extLst>
          </p:cNvPr>
          <p:cNvSpPr txBox="1"/>
          <p:nvPr/>
        </p:nvSpPr>
        <p:spPr>
          <a:xfrm>
            <a:off x="6205308" y="11630823"/>
            <a:ext cx="453044" cy="369332"/>
          </a:xfrm>
          <a:prstGeom prst="rect">
            <a:avLst/>
          </a:prstGeom>
          <a:noFill/>
        </p:spPr>
        <p:txBody>
          <a:bodyPr wrap="square" rtlCol="0">
            <a:spAutoFit/>
          </a:bodyPr>
          <a:lstStyle/>
          <a:p>
            <a:r>
              <a:rPr lang="en-US" dirty="0"/>
              <a:t>13</a:t>
            </a:r>
            <a:endParaRPr lang="en-IN" dirty="0"/>
          </a:p>
        </p:txBody>
      </p:sp>
      <p:sp>
        <p:nvSpPr>
          <p:cNvPr id="2" name="TextBox 1">
            <a:extLst>
              <a:ext uri="{FF2B5EF4-FFF2-40B4-BE49-F238E27FC236}">
                <a16:creationId xmlns:a16="http://schemas.microsoft.com/office/drawing/2014/main" id="{9A9D7851-1AE2-4E5A-A2DE-64E6B52A3D8A}"/>
              </a:ext>
            </a:extLst>
          </p:cNvPr>
          <p:cNvSpPr txBox="1"/>
          <p:nvPr/>
        </p:nvSpPr>
        <p:spPr>
          <a:xfrm>
            <a:off x="415638" y="984269"/>
            <a:ext cx="2852191" cy="369332"/>
          </a:xfrm>
          <a:prstGeom prst="rect">
            <a:avLst/>
          </a:prstGeom>
          <a:noFill/>
        </p:spPr>
        <p:txBody>
          <a:bodyPr wrap="none" rtlCol="0">
            <a:spAutoFit/>
          </a:bodyPr>
          <a:lstStyle/>
          <a:p>
            <a:r>
              <a:rPr lang="en-US" b="1" dirty="0">
                <a:latin typeface="Times New Roman" panose="02020603050405020304" pitchFamily="18" charset="0"/>
                <a:cs typeface="Times New Roman" panose="02020603050405020304" pitchFamily="18" charset="0"/>
              </a:rPr>
              <a:t>11.2  Performance Aspects:</a:t>
            </a:r>
            <a:endParaRPr lang="en-IN"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E67CADD8-8EED-0006-0F0F-7611890B669A}"/>
              </a:ext>
            </a:extLst>
          </p:cNvPr>
          <p:cNvGraphicFramePr>
            <a:graphicFrameLocks noGrp="1"/>
          </p:cNvGraphicFramePr>
          <p:nvPr>
            <p:extLst>
              <p:ext uri="{D42A27DB-BD31-4B8C-83A1-F6EECF244321}">
                <p14:modId xmlns:p14="http://schemas.microsoft.com/office/powerpoint/2010/main" val="107331340"/>
              </p:ext>
            </p:extLst>
          </p:nvPr>
        </p:nvGraphicFramePr>
        <p:xfrm>
          <a:off x="415638" y="1437848"/>
          <a:ext cx="6026724" cy="4113280"/>
        </p:xfrm>
        <a:graphic>
          <a:graphicData uri="http://schemas.openxmlformats.org/drawingml/2006/table">
            <a:tbl>
              <a:tblPr firstRow="1" firstCol="1" bandRow="1">
                <a:tableStyleId>{3B4B98B0-60AC-42C2-AFA5-B58CD77FA1E5}</a:tableStyleId>
              </a:tblPr>
              <a:tblGrid>
                <a:gridCol w="2008908">
                  <a:extLst>
                    <a:ext uri="{9D8B030D-6E8A-4147-A177-3AD203B41FA5}">
                      <a16:colId xmlns:a16="http://schemas.microsoft.com/office/drawing/2014/main" val="2464339229"/>
                    </a:ext>
                  </a:extLst>
                </a:gridCol>
                <a:gridCol w="2008908">
                  <a:extLst>
                    <a:ext uri="{9D8B030D-6E8A-4147-A177-3AD203B41FA5}">
                      <a16:colId xmlns:a16="http://schemas.microsoft.com/office/drawing/2014/main" val="963831651"/>
                    </a:ext>
                  </a:extLst>
                </a:gridCol>
                <a:gridCol w="2008908">
                  <a:extLst>
                    <a:ext uri="{9D8B030D-6E8A-4147-A177-3AD203B41FA5}">
                      <a16:colId xmlns:a16="http://schemas.microsoft.com/office/drawing/2014/main" val="2817176411"/>
                    </a:ext>
                  </a:extLst>
                </a:gridCol>
              </a:tblGrid>
              <a:tr h="210022">
                <a:tc>
                  <a:txBody>
                    <a:bodyPr/>
                    <a:lstStyle/>
                    <a:p>
                      <a:pPr algn="ctr">
                        <a:lnSpc>
                          <a:spcPct val="150000"/>
                        </a:lnSpc>
                        <a:spcAft>
                          <a:spcPts val="1000"/>
                        </a:spcAft>
                        <a:buNone/>
                      </a:pPr>
                      <a:r>
                        <a:rPr lang="en-US" sz="1000">
                          <a:effectLst/>
                        </a:rPr>
                        <a:t>Metric</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000">
                          <a:effectLst/>
                        </a:rPr>
                        <a:t>Current Value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US" sz="1000">
                          <a:effectLst/>
                        </a:rPr>
                        <a:t>Notes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42467702"/>
                  </a:ext>
                </a:extLst>
              </a:tr>
              <a:tr h="443739">
                <a:tc>
                  <a:txBody>
                    <a:bodyPr/>
                    <a:lstStyle/>
                    <a:p>
                      <a:pPr>
                        <a:lnSpc>
                          <a:spcPct val="150000"/>
                        </a:lnSpc>
                        <a:spcAft>
                          <a:spcPts val="1000"/>
                        </a:spcAft>
                        <a:buNone/>
                      </a:pPr>
                      <a:r>
                        <a:rPr lang="en-US" sz="1000">
                          <a:effectLst/>
                        </a:rPr>
                        <a:t>Input data (from LLD)</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10,363,637 rows (~474 MB)</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Received as clean pandas DataFrame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423597292"/>
                  </a:ext>
                </a:extLst>
              </a:tr>
              <a:tr h="443739">
                <a:tc>
                  <a:txBody>
                    <a:bodyPr/>
                    <a:lstStyle/>
                    <a:p>
                      <a:pPr>
                        <a:lnSpc>
                          <a:spcPct val="150000"/>
                        </a:lnSpc>
                        <a:spcAft>
                          <a:spcPts val="1000"/>
                        </a:spcAft>
                        <a:buNone/>
                      </a:pPr>
                      <a:r>
                        <a:rPr lang="en-US" sz="1000">
                          <a:effectLst/>
                        </a:rPr>
                        <a:t>Feature engineering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1 — 5 seconds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Fully vectorized pandas rolling operations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2515219852"/>
                  </a:ext>
                </a:extLst>
              </a:tr>
              <a:tr h="443739">
                <a:tc>
                  <a:txBody>
                    <a:bodyPr/>
                    <a:lstStyle/>
                    <a:p>
                      <a:pPr>
                        <a:lnSpc>
                          <a:spcPct val="150000"/>
                        </a:lnSpc>
                        <a:spcAft>
                          <a:spcPts val="1000"/>
                        </a:spcAft>
                        <a:buNone/>
                      </a:pPr>
                      <a:r>
                        <a:rPr lang="en-US" sz="1000">
                          <a:effectLst/>
                        </a:rPr>
                        <a:t>Anomaly detection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Less than 1 second</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Single column boolean comparison</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329001795"/>
                  </a:ext>
                </a:extLst>
              </a:tr>
              <a:tr h="443739">
                <a:tc>
                  <a:txBody>
                    <a:bodyPr/>
                    <a:lstStyle/>
                    <a:p>
                      <a:pPr>
                        <a:lnSpc>
                          <a:spcPct val="150000"/>
                        </a:lnSpc>
                        <a:spcAft>
                          <a:spcPts val="1000"/>
                        </a:spcAft>
                        <a:buNone/>
                      </a:pPr>
                      <a:r>
                        <a:rPr lang="en-US" sz="1000">
                          <a:effectLst/>
                        </a:rPr>
                        <a:t>Window aggregation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1 — 5 seconds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pandas groupby with 4 agg. functions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19741418"/>
                  </a:ext>
                </a:extLst>
              </a:tr>
              <a:tr h="443739">
                <a:tc>
                  <a:txBody>
                    <a:bodyPr/>
                    <a:lstStyle/>
                    <a:p>
                      <a:pPr>
                        <a:lnSpc>
                          <a:spcPct val="150000"/>
                        </a:lnSpc>
                        <a:spcAft>
                          <a:spcPts val="1000"/>
                        </a:spcAft>
                        <a:buNone/>
                      </a:pPr>
                      <a:r>
                        <a:rPr lang="en-US" sz="1000">
                          <a:effectLst/>
                        </a:rPr>
                        <a:t>Excel export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10 — 30 seconds per file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XLS slower than CSV; needed for Power BI</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641218015"/>
                  </a:ext>
                </a:extLst>
              </a:tr>
              <a:tr h="413608">
                <a:tc>
                  <a:txBody>
                    <a:bodyPr/>
                    <a:lstStyle/>
                    <a:p>
                      <a:pPr>
                        <a:lnSpc>
                          <a:spcPct val="150000"/>
                        </a:lnSpc>
                        <a:spcAft>
                          <a:spcPts val="1000"/>
                        </a:spcAft>
                        <a:buNone/>
                      </a:pPr>
                      <a:r>
                        <a:rPr lang="en-US" sz="1000">
                          <a:effectLst/>
                        </a:rPr>
                        <a:t>Total HLD pipeline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1 — 3 minutes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Dominated by Excel export stage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911541460"/>
                  </a:ext>
                </a:extLst>
              </a:tr>
              <a:tr h="413608">
                <a:tc>
                  <a:txBody>
                    <a:bodyPr/>
                    <a:lstStyle/>
                    <a:p>
                      <a:pPr>
                        <a:lnSpc>
                          <a:spcPct val="150000"/>
                        </a:lnSpc>
                        <a:spcAft>
                          <a:spcPts val="1000"/>
                        </a:spcAft>
                        <a:buNone/>
                      </a:pPr>
                      <a:r>
                        <a:rPr lang="en-US" sz="1000">
                          <a:effectLst/>
                        </a:rPr>
                        <a:t>Power BI import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5 — 15 seconds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Static file import, no live query</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3051981194"/>
                  </a:ext>
                </a:extLst>
              </a:tr>
              <a:tr h="413608">
                <a:tc>
                  <a:txBody>
                    <a:bodyPr/>
                    <a:lstStyle/>
                    <a:p>
                      <a:pPr>
                        <a:lnSpc>
                          <a:spcPct val="150000"/>
                        </a:lnSpc>
                        <a:spcAft>
                          <a:spcPts val="1000"/>
                        </a:spcAft>
                        <a:buNone/>
                      </a:pPr>
                      <a:r>
                        <a:rPr lang="en-US" sz="1000">
                          <a:effectLst/>
                        </a:rPr>
                        <a:t>Dashboard interaction time</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Less than 2 seconds</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00000"/>
                        </a:lnSpc>
                        <a:spcAft>
                          <a:spcPts val="1000"/>
                        </a:spcAft>
                        <a:buNone/>
                      </a:pPr>
                      <a:r>
                        <a:rPr lang="en-US" sz="1000" dirty="0">
                          <a:effectLst/>
                        </a:rPr>
                        <a:t>Pre-computed static data, fast filter response</a:t>
                      </a:r>
                      <a:endParaRPr lang="en-IN" sz="10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4192811582"/>
                  </a:ext>
                </a:extLst>
              </a:tr>
              <a:tr h="443739">
                <a:tc>
                  <a:txBody>
                    <a:bodyPr/>
                    <a:lstStyle/>
                    <a:p>
                      <a:pPr>
                        <a:lnSpc>
                          <a:spcPct val="150000"/>
                        </a:lnSpc>
                        <a:spcAft>
                          <a:spcPts val="1000"/>
                        </a:spcAft>
                        <a:buNone/>
                      </a:pPr>
                      <a:r>
                        <a:rPr lang="en-US" sz="1000">
                          <a:effectLst/>
                        </a:rPr>
                        <a:t>Scalability ceiling</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a:effectLst/>
                        </a:rPr>
                        <a:t>~50M rows on 32 GB RAM</a:t>
                      </a:r>
                      <a:endParaRPr lang="en-IN" sz="10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tc>
                  <a:txBody>
                    <a:bodyPr/>
                    <a:lstStyle/>
                    <a:p>
                      <a:pPr>
                        <a:lnSpc>
                          <a:spcPct val="150000"/>
                        </a:lnSpc>
                        <a:spcAft>
                          <a:spcPts val="1000"/>
                        </a:spcAft>
                        <a:buNone/>
                      </a:pPr>
                      <a:r>
                        <a:rPr lang="en-US" sz="1000" dirty="0">
                          <a:effectLst/>
                        </a:rPr>
                        <a:t>Beyond this: migrate to Apache Spark or </a:t>
                      </a:r>
                      <a:r>
                        <a:rPr lang="en-US" sz="1000" dirty="0" err="1">
                          <a:effectLst/>
                        </a:rPr>
                        <a:t>Dask</a:t>
                      </a:r>
                      <a:endParaRPr lang="en-IN" sz="10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tc>
                <a:extLst>
                  <a:ext uri="{0D108BD9-81ED-4DB2-BD59-A6C34878D82A}">
                    <a16:rowId xmlns:a16="http://schemas.microsoft.com/office/drawing/2014/main" val="1571971160"/>
                  </a:ext>
                </a:extLst>
              </a:tr>
            </a:tbl>
          </a:graphicData>
        </a:graphic>
      </p:graphicFrame>
      <p:sp>
        <p:nvSpPr>
          <p:cNvPr id="4" name="TextBox 3">
            <a:extLst>
              <a:ext uri="{FF2B5EF4-FFF2-40B4-BE49-F238E27FC236}">
                <a16:creationId xmlns:a16="http://schemas.microsoft.com/office/drawing/2014/main" id="{2D3D7D27-57CF-067C-2167-41EBF5D75E6D}"/>
              </a:ext>
            </a:extLst>
          </p:cNvPr>
          <p:cNvSpPr txBox="1"/>
          <p:nvPr/>
        </p:nvSpPr>
        <p:spPr>
          <a:xfrm>
            <a:off x="415638" y="5617629"/>
            <a:ext cx="6026724" cy="6063198"/>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12. REFERENCES</a:t>
            </a:r>
            <a:endParaRPr lang="en-IN" sz="2000" b="1"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1.  Dataset:  </a:t>
            </a:r>
            <a:r>
              <a:rPr lang="en-US" sz="1600" dirty="0" err="1">
                <a:latin typeface="Times New Roman" panose="02020603050405020304" pitchFamily="18" charset="0"/>
                <a:cs typeface="Times New Roman" panose="02020603050405020304" pitchFamily="18" charset="0"/>
              </a:rPr>
              <a:t>Zanbil</a:t>
            </a:r>
            <a:r>
              <a:rPr lang="en-US" sz="1600" dirty="0">
                <a:latin typeface="Times New Roman" panose="02020603050405020304" pitchFamily="18" charset="0"/>
                <a:cs typeface="Times New Roman" panose="02020603050405020304" pitchFamily="18" charset="0"/>
              </a:rPr>
              <a:t> E-commerce Apache Access Logs, Kaggle (January 2019)  —  https://www.kaggle.com/datasets/eliasdabbas/web-server-access-logs</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2.  Z-Score Anomaly Detection:  </a:t>
            </a:r>
            <a:r>
              <a:rPr lang="en-US" sz="1600" dirty="0">
                <a:latin typeface="Times New Roman" panose="02020603050405020304" pitchFamily="18" charset="0"/>
                <a:cs typeface="Times New Roman" panose="02020603050405020304" pitchFamily="18" charset="0"/>
              </a:rPr>
              <a:t>Shewhart, W.A. (1931). Economic Control of Quality of Manufactured Product.  —  Statistical process control: foundational work on Z-score thresholding.</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3.  Rolling Window Time Series:  </a:t>
            </a:r>
            <a:r>
              <a:rPr lang="en-US" sz="1600" dirty="0">
                <a:latin typeface="Times New Roman" panose="02020603050405020304" pitchFamily="18" charset="0"/>
                <a:cs typeface="Times New Roman" panose="02020603050405020304" pitchFamily="18" charset="0"/>
              </a:rPr>
              <a:t>Box, G.E.P. and Jenkins, G.M. (1976). Time Series Analysis: Forecasting and Control.  —  Holden-Day.</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4.  DDoS Detection Research:  </a:t>
            </a:r>
            <a:r>
              <a:rPr lang="en-US" sz="1600" dirty="0">
                <a:latin typeface="Times New Roman" panose="02020603050405020304" pitchFamily="18" charset="0"/>
                <a:cs typeface="Times New Roman" panose="02020603050405020304" pitchFamily="18" charset="0"/>
              </a:rPr>
              <a:t>Bhuyan, M.H., et al. (2014). Network Anomaly Detection: Methods, Systems and Tools.  —  IEEE Communications Surveys and Tutorials, 16(1), pp. 303-336.</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5.  pandas Rolling Window Documentation:  </a:t>
            </a:r>
            <a:r>
              <a:rPr lang="en-US" sz="1600" dirty="0">
                <a:latin typeface="Times New Roman" panose="02020603050405020304" pitchFamily="18" charset="0"/>
                <a:cs typeface="Times New Roman" panose="02020603050405020304" pitchFamily="18" charset="0"/>
              </a:rPr>
              <a:t>pandas Development Team  —  https://pandas.pydata.org/docs/reference/api/pandas.core.window.rolling.Rolling.mean.html</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6.  Power BI Documentation:  </a:t>
            </a:r>
            <a:r>
              <a:rPr lang="en-US" sz="1600" dirty="0">
                <a:latin typeface="Times New Roman" panose="02020603050405020304" pitchFamily="18" charset="0"/>
                <a:cs typeface="Times New Roman" panose="02020603050405020304" pitchFamily="18" charset="0"/>
              </a:rPr>
              <a:t>Microsoft Corporation  —  https://learn.microsoft.com/en-us/power-bi/</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7.  Apache Access Log Format:  </a:t>
            </a:r>
            <a:r>
              <a:rPr lang="en-US" sz="1600" dirty="0">
                <a:latin typeface="Times New Roman" panose="02020603050405020304" pitchFamily="18" charset="0"/>
                <a:cs typeface="Times New Roman" panose="02020603050405020304" pitchFamily="18" charset="0"/>
              </a:rPr>
              <a:t>Apache HTTP Server Project  —  https://httpd.apache.org/docs/current/logs.html</a:t>
            </a:r>
            <a:endParaRPr lang="en-IN" sz="1600" dirty="0">
              <a:latin typeface="Times New Roman" panose="02020603050405020304" pitchFamily="18" charset="0"/>
              <a:cs typeface="Times New Roman" panose="02020603050405020304" pitchFamily="18" charset="0"/>
            </a:endParaRPr>
          </a:p>
          <a:p>
            <a:r>
              <a:rPr lang="en-US" sz="1600" b="1" dirty="0">
                <a:latin typeface="Times New Roman" panose="02020603050405020304" pitchFamily="18" charset="0"/>
                <a:cs typeface="Times New Roman" panose="02020603050405020304" pitchFamily="18" charset="0"/>
              </a:rPr>
              <a:t>8.  IBM HLD Template Format:  </a:t>
            </a:r>
            <a:r>
              <a:rPr lang="en-US" sz="1600" dirty="0">
                <a:latin typeface="Times New Roman" panose="02020603050405020304" pitchFamily="18" charset="0"/>
                <a:cs typeface="Times New Roman" panose="02020603050405020304" pitchFamily="18" charset="0"/>
              </a:rPr>
              <a:t>Provided by Industry Partner / University</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9529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824</TotalTime>
  <Words>3083</Words>
  <Application>Microsoft Office PowerPoint</Application>
  <PresentationFormat>Widescreen</PresentationFormat>
  <Paragraphs>608</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Muhammed Dhanish</dc:creator>
  <cp:lastModifiedBy>Muhammed Dhanish</cp:lastModifiedBy>
  <cp:revision>6</cp:revision>
  <dcterms:created xsi:type="dcterms:W3CDTF">2026-04-14T16:32:38Z</dcterms:created>
  <dcterms:modified xsi:type="dcterms:W3CDTF">2026-04-15T17:19:35Z</dcterms:modified>
</cp:coreProperties>
</file>